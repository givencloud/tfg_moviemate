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706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64592"/>
            <a:ext cx="73152" cy="652881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5C518"/>
                </a:solidFill>
              </a:rPr>
              <a:t>MovieMate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889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1">
                <a:solidFill>
                  <a:srgbClr val="C8D0E0"/>
                </a:solidFill>
              </a:rPr>
              <a:t>App de gestión y valoración de películas y series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3749039"/>
            <a:ext cx="7616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3977639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Christian Matas Conesa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262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7A8AA8"/>
                </a:solidFill>
              </a:rPr>
              <a:t>Tutor: Francisco García Sánchez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35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7A8AA8"/>
                </a:solidFill>
              </a:rPr>
              <a:t>Grado en Ingeniería Informática  ·  Universidad de Murcia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Índice de contenidos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0789920" cy="6309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640080" cy="63093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207007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1521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Introducción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48132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Contexto y motivación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83080"/>
            <a:ext cx="10789920" cy="6309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640080" cy="63093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1892807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1837943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Estado del arte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16712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Plataformas existentes y tecnologías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468880"/>
            <a:ext cx="10789920" cy="6309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2468880"/>
            <a:ext cx="640080" cy="63093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2578608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25237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Objetivos y metodología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285292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Qué construimos y cómo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154680"/>
            <a:ext cx="10789920" cy="6309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3154680"/>
            <a:ext cx="640080" cy="63093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264408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32095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Diseño y arquitectura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53872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Back-end, front-end, modelo de datos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840480"/>
            <a:ext cx="10789920" cy="6309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7200" y="3840480"/>
            <a:ext cx="640080" cy="63093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3950208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3895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Implementación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422452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Funcionalidades clave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526280"/>
            <a:ext cx="10789920" cy="6309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57200" y="4526280"/>
            <a:ext cx="640080" cy="63093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4636008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45811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Pruebas y despliegue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491032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Calidad, CI/CD, Docker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212080"/>
            <a:ext cx="10789920" cy="6309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57200" y="5212080"/>
            <a:ext cx="640080" cy="63093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5321808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34440" y="52669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Conclusiones y futuro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34440" y="559612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Logros y líneas de evolución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52144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Introducción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5C518"/>
                </a:solidFill>
              </a:rPr>
              <a:t>El problema: fragmentación de plataformas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3200400" cy="292608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3200400" cy="4572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IMDb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23160"/>
            <a:ext cx="2834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8D0E0"/>
                </a:solidFill>
              </a:rPr>
              <a:t>Metadatos y ratings
Solo películas / series
Sin comunidad social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828800"/>
            <a:ext cx="3200400" cy="292608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14800" y="1828800"/>
            <a:ext cx="3200400" cy="4572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51960" y="1874519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Letterboxd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423160"/>
            <a:ext cx="2834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8D0E0"/>
                </a:solidFill>
              </a:rPr>
              <a:t>Foco social en cine
Solo películas
Sin seguimiento de episodios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80960" y="1828800"/>
            <a:ext cx="3200400" cy="292608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680960" y="1828800"/>
            <a:ext cx="3200400" cy="4572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18120" y="1874519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Serializd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2423160"/>
            <a:ext cx="2834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8D0E0"/>
                </a:solidFill>
              </a:rPr>
              <a:t>Seguimiento de series
Sin películas
Funciones sociales limitadas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377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C518"/>
                </a:solidFill>
              </a:rPr>
              <a:t>⟶  Los usuarios deben usar múltiples plataformas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4406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8D0E0"/>
                </a:solidFill>
              </a:rPr>
              <a:t>Fragmentación del historial · Experiencia de usuario desunificada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Introducción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5C518"/>
                </a:solidFill>
              </a:rPr>
              <a:t>La solución: MovieMate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C8D0E0"/>
                </a:solidFill>
              </a:rPr>
              <a:t>Plataforma web social unificada para gestión, valoración y descubrimiento de contenido audiovisual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60320"/>
            <a:ext cx="3474720" cy="150876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69747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🎬  Películas y series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00400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Catálogo unificado con datos de TMDB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2560320"/>
            <a:ext cx="3474720" cy="150876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269747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⭐  Valoraciones y reseñas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200400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Sistema de 5 estrellas + texto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560320"/>
            <a:ext cx="3474720" cy="150876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269747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📋  Listas personalizadas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Organización flexible de contenido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51960"/>
            <a:ext cx="3474720" cy="150876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3891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👥  Red social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92040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Seguir usuarios, feed de actividad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4251960"/>
            <a:ext cx="3474720" cy="150876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0" y="43891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🔔  Notificaciones en tiempo real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892040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WebSockets para interacción inmediata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4251960"/>
            <a:ext cx="3474720" cy="150876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12480" y="43891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🏆  Gamificación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892040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Insignias por hitos de actividad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Estado del arte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5C518"/>
                </a:solidFill>
              </a:rPr>
              <a:t>Análisis comparativo de plataformas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2697480" cy="47548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764792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21F"/>
                </a:solidFill>
              </a:rPr>
              <a:t>Característica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691640"/>
            <a:ext cx="1783080" cy="47548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37560" y="1764792"/>
            <a:ext cx="1600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IMDb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1691640"/>
            <a:ext cx="1783080" cy="47548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66359" y="1764792"/>
            <a:ext cx="1600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Letterboxd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03720" y="1691640"/>
            <a:ext cx="1783080" cy="47548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95159" y="1764792"/>
            <a:ext cx="1600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Serializd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32520" y="1691640"/>
            <a:ext cx="1783080" cy="475488"/>
          </a:xfrm>
          <a:prstGeom prst="rect">
            <a:avLst/>
          </a:prstGeom>
          <a:solidFill>
            <a:srgbClr val="1E3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23960" y="1764792"/>
            <a:ext cx="1600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6EE76E"/>
                </a:solidFill>
              </a:rPr>
              <a:t>MovieMate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167128"/>
            <a:ext cx="2697480" cy="45720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224028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Películas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46120" y="2167128"/>
            <a:ext cx="1783080" cy="45720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337560" y="224028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2167128"/>
            <a:ext cx="1783080" cy="45720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66359" y="224028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03720" y="2167128"/>
            <a:ext cx="1783080" cy="45720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95159" y="224028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32520" y="2167128"/>
            <a:ext cx="1783080" cy="457200"/>
          </a:xfrm>
          <a:prstGeom prst="rect">
            <a:avLst/>
          </a:prstGeom>
          <a:solidFill>
            <a:srgbClr val="0F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23960" y="224028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EE76E"/>
                </a:solidFill>
              </a:rP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642616"/>
            <a:ext cx="2697480" cy="45720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4360" y="2715768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Series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46120" y="2642616"/>
            <a:ext cx="1783080" cy="45720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37560" y="271576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74920" y="2642616"/>
            <a:ext cx="1783080" cy="45720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166359" y="271576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03720" y="2642616"/>
            <a:ext cx="1783080" cy="45720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995159" y="271576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32520" y="2642616"/>
            <a:ext cx="1783080" cy="457200"/>
          </a:xfrm>
          <a:prstGeom prst="rect">
            <a:avLst/>
          </a:prstGeom>
          <a:solidFill>
            <a:srgbClr val="0F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823960" y="271576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EE76E"/>
                </a:solidFill>
              </a:rPr>
              <a:t>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118104"/>
            <a:ext cx="2697480" cy="45720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94360" y="3191256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Valoraciones / reseñas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46120" y="3118104"/>
            <a:ext cx="1783080" cy="45720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337560" y="3191256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74920" y="3118104"/>
            <a:ext cx="1783080" cy="45720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166359" y="3191256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03720" y="3118104"/>
            <a:ext cx="1783080" cy="45720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95159" y="3191256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732520" y="3118104"/>
            <a:ext cx="1783080" cy="457200"/>
          </a:xfrm>
          <a:prstGeom prst="rect">
            <a:avLst/>
          </a:prstGeom>
          <a:solidFill>
            <a:srgbClr val="0F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823960" y="3191256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EE76E"/>
                </a:solidFill>
              </a:rPr>
              <a:t>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3593592"/>
            <a:ext cx="2697480" cy="45720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94360" y="3666744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Listas personalizadas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46120" y="3593592"/>
            <a:ext cx="1783080" cy="45720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337560" y="3666744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74920" y="3593592"/>
            <a:ext cx="1783080" cy="45720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166359" y="3666744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03720" y="3593592"/>
            <a:ext cx="1783080" cy="45720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995159" y="3666744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32520" y="3593592"/>
            <a:ext cx="1783080" cy="457200"/>
          </a:xfrm>
          <a:prstGeom prst="rect">
            <a:avLst/>
          </a:prstGeom>
          <a:solidFill>
            <a:srgbClr val="0F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823960" y="3666744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EE76E"/>
                </a:solidFill>
              </a:rPr>
              <a:t>✓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4069080"/>
            <a:ext cx="2697480" cy="45720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94360" y="4142232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Red social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46120" y="4069080"/>
            <a:ext cx="1783080" cy="45720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337560" y="4142232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74920" y="4069080"/>
            <a:ext cx="1783080" cy="45720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166359" y="4142232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903720" y="4069080"/>
            <a:ext cx="1783080" cy="45720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995159" y="4142232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D0E0"/>
                </a:solidFill>
              </a:rPr>
              <a:t>Limitado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732520" y="4069080"/>
            <a:ext cx="1783080" cy="457200"/>
          </a:xfrm>
          <a:prstGeom prst="rect">
            <a:avLst/>
          </a:prstGeom>
          <a:solidFill>
            <a:srgbClr val="0F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8823960" y="4142232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EE76E"/>
                </a:solidFill>
              </a:rPr>
              <a:t>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4544568"/>
            <a:ext cx="2697480" cy="45720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594360" y="461772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Notificaciones 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46120" y="4544568"/>
            <a:ext cx="1783080" cy="45720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3337560" y="461772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74920" y="4544568"/>
            <a:ext cx="1783080" cy="45720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166359" y="461772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903720" y="4544568"/>
            <a:ext cx="1783080" cy="45720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995159" y="461772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732520" y="4544568"/>
            <a:ext cx="1783080" cy="457200"/>
          </a:xfrm>
          <a:prstGeom prst="rect">
            <a:avLst/>
          </a:prstGeom>
          <a:solidFill>
            <a:srgbClr val="0F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823960" y="461772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EE76E"/>
                </a:solidFill>
              </a:rPr>
              <a:t>✓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02920" y="5020056"/>
            <a:ext cx="2697480" cy="45720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594360" y="5093208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Gamificación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46120" y="5020056"/>
            <a:ext cx="1783080" cy="45720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3337560" y="509320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74920" y="5020056"/>
            <a:ext cx="1783080" cy="45720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5166359" y="509320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903720" y="5020056"/>
            <a:ext cx="1783080" cy="45720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995159" y="509320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732520" y="5020056"/>
            <a:ext cx="1783080" cy="457200"/>
          </a:xfrm>
          <a:prstGeom prst="rect">
            <a:avLst/>
          </a:prstGeom>
          <a:solidFill>
            <a:srgbClr val="0F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823960" y="509320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EE76E"/>
                </a:solidFill>
              </a:rPr>
              <a:t>✓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2920" y="5495544"/>
            <a:ext cx="2697480" cy="45720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594360" y="5568696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Seguimiento episodios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246120" y="5495544"/>
            <a:ext cx="1783080" cy="45720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3337560" y="5568696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074920" y="5495544"/>
            <a:ext cx="1783080" cy="45720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5166359" y="5568696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903720" y="5495544"/>
            <a:ext cx="1783080" cy="45720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6995159" y="5568696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732520" y="5495544"/>
            <a:ext cx="1783080" cy="457200"/>
          </a:xfrm>
          <a:prstGeom prst="rect">
            <a:avLst/>
          </a:prstGeom>
          <a:solidFill>
            <a:srgbClr val="0F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8823960" y="5568696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EE76E"/>
                </a:solidFill>
              </a:rPr>
              <a:t>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Estado del arte · Stack tecnológico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3474720" cy="5303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474720" cy="5029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21F"/>
                </a:solidFill>
              </a:rPr>
              <a:t>Back-end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3108960" cy="54864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2834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8D0E0"/>
                </a:solidFill>
              </a:rPr>
              <a:t>Java 21 + Spring Boot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432304"/>
            <a:ext cx="3108960" cy="54864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523744"/>
            <a:ext cx="2834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8D0E0"/>
                </a:solidFill>
              </a:rPr>
              <a:t>Spring Security + JWT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27248"/>
            <a:ext cx="3108960" cy="54864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218688"/>
            <a:ext cx="2834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8D0E0"/>
                </a:solidFill>
              </a:rPr>
              <a:t>Spring Data JPA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822191"/>
            <a:ext cx="3108960" cy="54864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3913631"/>
            <a:ext cx="2834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8D0E0"/>
                </a:solidFill>
              </a:rPr>
              <a:t>PostgreSQL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517136"/>
            <a:ext cx="3108960" cy="54864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4608575"/>
            <a:ext cx="2834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8D0E0"/>
                </a:solidFill>
              </a:rPr>
              <a:t>WebSockets (STOMP)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212079"/>
            <a:ext cx="3108960" cy="54864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5303519"/>
            <a:ext cx="2834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8D0E0"/>
                </a:solidFill>
              </a:rPr>
              <a:t>OpenAPI / Swagger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51959" y="1097280"/>
            <a:ext cx="3474720" cy="5303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251959" y="1097280"/>
            <a:ext cx="3474720" cy="502920"/>
          </a:xfrm>
          <a:prstGeom prst="rect">
            <a:avLst/>
          </a:prstGeom>
          <a:solidFill>
            <a:srgbClr val="61D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89120" y="11430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21F"/>
                </a:solidFill>
              </a:rPr>
              <a:t>Front-end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1737360"/>
            <a:ext cx="3108960" cy="54864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1999" y="1828800"/>
            <a:ext cx="2834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8D0E0"/>
                </a:solidFill>
              </a:rPr>
              <a:t>React 19 + TypeScript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2432304"/>
            <a:ext cx="3108960" cy="54864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1999" y="2523744"/>
            <a:ext cx="2834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8D0E0"/>
                </a:solidFill>
              </a:rPr>
              <a:t>TanStack Query v5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34840" y="3127248"/>
            <a:ext cx="3108960" cy="54864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1999" y="3218688"/>
            <a:ext cx="2834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8D0E0"/>
                </a:solidFill>
              </a:rPr>
              <a:t>Zustand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34840" y="3822191"/>
            <a:ext cx="3108960" cy="54864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1999" y="3913631"/>
            <a:ext cx="2834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8D0E0"/>
                </a:solidFill>
              </a:rPr>
              <a:t>Tailwind CSS 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34840" y="4517136"/>
            <a:ext cx="3108960" cy="54864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71999" y="4608575"/>
            <a:ext cx="2834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8D0E0"/>
                </a:solidFill>
              </a:rPr>
              <a:t>Radix UI / shadcn/ui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34840" y="5212079"/>
            <a:ext cx="3108960" cy="54864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571999" y="5303519"/>
            <a:ext cx="2834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8D0E0"/>
                </a:solidFill>
              </a:rPr>
              <a:t>React Router v6 + Axios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46719" y="1097280"/>
            <a:ext cx="3474720" cy="5303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046719" y="1097280"/>
            <a:ext cx="3474720" cy="502920"/>
          </a:xfrm>
          <a:prstGeom prst="rect">
            <a:avLst/>
          </a:prstGeom>
          <a:solidFill>
            <a:srgbClr val="6EE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183879" y="11430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21F"/>
                </a:solidFill>
              </a:rPr>
              <a:t>Datos e infraestructura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599" y="1737360"/>
            <a:ext cx="3108960" cy="54864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66759" y="1828800"/>
            <a:ext cx="2834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8D0E0"/>
                </a:solidFill>
              </a:rPr>
              <a:t>TMDB API (metadatos)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599" y="2432304"/>
            <a:ext cx="3108960" cy="54864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66759" y="2523744"/>
            <a:ext cx="2834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8D0E0"/>
                </a:solidFill>
              </a:rPr>
              <a:t>Docker + Docker Compose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599" y="3127248"/>
            <a:ext cx="3108960" cy="54864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366759" y="3218688"/>
            <a:ext cx="2834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8D0E0"/>
                </a:solidFill>
              </a:rPr>
              <a:t>GitHub Actions CI/CD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599" y="3822191"/>
            <a:ext cx="3108960" cy="54864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66759" y="3913631"/>
            <a:ext cx="2834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8D0E0"/>
                </a:solidFill>
              </a:rPr>
              <a:t>Kubernetes / Minikube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599" y="4517136"/>
            <a:ext cx="3108960" cy="54864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366759" y="4608575"/>
            <a:ext cx="2834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8D0E0"/>
                </a:solidFill>
              </a:rPr>
              <a:t>JUnit 5 + Mockito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599" y="5212079"/>
            <a:ext cx="3108960" cy="548640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366759" y="5303519"/>
            <a:ext cx="28346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8D0E0"/>
                </a:solidFill>
              </a:rPr>
              <a:t>JaCoCo (cobertura)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Objetivos y metodología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</a:rPr>
              <a:t>Objetivos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530352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73152" cy="5669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Diseñar y desarrollar una app web full-stack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59152"/>
            <a:ext cx="530352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359152"/>
            <a:ext cx="73152" cy="5669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450592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Analizar plataformas existentes y sus limitaciones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26664"/>
            <a:ext cx="530352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3026664"/>
            <a:ext cx="73152" cy="5669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118104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Seleccionar e integrar tecnologías modernas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694176"/>
            <a:ext cx="530352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694176"/>
            <a:ext cx="73152" cy="5669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3785615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Implementar arquitectura escalable y modular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361688"/>
            <a:ext cx="530352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48640" y="4361688"/>
            <a:ext cx="73152" cy="5669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4453127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Desplegar en entorno contenerizado con CI/CD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029200"/>
            <a:ext cx="530352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5029200"/>
            <a:ext cx="73152" cy="5669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12064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Validar mediante pruebas automatizadas (340 tests)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0972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</a:rPr>
              <a:t>Metodología iterativa e incremental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1691640"/>
            <a:ext cx="5303520" cy="786384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0" y="1691640"/>
            <a:ext cx="502920" cy="78638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1874520"/>
            <a:ext cx="502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1746504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Análisis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2112264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Requisitos y evaluación de tecnologías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578608"/>
            <a:ext cx="5303520" cy="786384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400800" y="2578608"/>
            <a:ext cx="502920" cy="78638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00800" y="2761488"/>
            <a:ext cx="502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2633472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Diseño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299923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BD, API, mockups de interfaz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3465576"/>
            <a:ext cx="5303520" cy="786384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400800" y="3465576"/>
            <a:ext cx="502920" cy="78638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00800" y="3648456"/>
            <a:ext cx="502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95160" y="3520440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Implementación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60" y="38862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Back-end + Front-end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4352544"/>
            <a:ext cx="5303520" cy="786384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400800" y="4352544"/>
            <a:ext cx="502920" cy="78638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00800" y="4535424"/>
            <a:ext cx="502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95160" y="4407407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Pruebas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95160" y="477316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Unit tests, integración, CI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5239512"/>
            <a:ext cx="5303520" cy="786384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400800" y="5239512"/>
            <a:ext cx="502920" cy="78638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00800" y="5422392"/>
            <a:ext cx="502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0" y="5294376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Documentación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95160" y="5660136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Memoria y despliegue final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Diseño · Arquitectura del sistema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</a:rPr>
              <a:t>Arquitectura cliente-servidor con monolito modular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0" y="2286000"/>
            <a:ext cx="2103120" cy="914400"/>
          </a:xfrm>
          <a:prstGeom prst="rect">
            <a:avLst/>
          </a:prstGeom>
          <a:solidFill>
            <a:srgbClr val="2A1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601200" y="2286000"/>
            <a:ext cx="2103120" cy="320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0" y="230428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21F"/>
                </a:solidFill>
              </a:rPr>
              <a:t>TMDB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267919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Metadatos externos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91640"/>
            <a:ext cx="2560320" cy="4206240"/>
          </a:xfrm>
          <a:prstGeom prst="rect">
            <a:avLst/>
          </a:prstGeom>
          <a:solidFill>
            <a:srgbClr val="0A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2560320" cy="411480"/>
          </a:xfrm>
          <a:prstGeom prst="rect">
            <a:avLst/>
          </a:prstGeom>
          <a:solidFill>
            <a:srgbClr val="61D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7099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21F"/>
                </a:solidFill>
              </a:rPr>
              <a:t>Cliente (Browser)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240280"/>
            <a:ext cx="2286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· React 19 + TypeScript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770632"/>
            <a:ext cx="2286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· TanStack Query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300984"/>
            <a:ext cx="2286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· Zustand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831335"/>
            <a:ext cx="2286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· Tailwind CSS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361688"/>
            <a:ext cx="2286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· React Router v6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92040"/>
            <a:ext cx="2286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· Axios + JWT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17520" y="2743200"/>
            <a:ext cx="731520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017520" y="3200400"/>
            <a:ext cx="731520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834640" y="24688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C518"/>
                </a:solidFill>
              </a:rPr>
              <a:t>REST / WS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0" y="1691640"/>
            <a:ext cx="5029200" cy="4206240"/>
          </a:xfrm>
          <a:prstGeom prst="rect">
            <a:avLst/>
          </a:prstGeom>
          <a:solidFill>
            <a:srgbClr val="0A2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840480" y="1691640"/>
            <a:ext cx="5029200" cy="411480"/>
          </a:xfrm>
          <a:prstGeom prst="rect">
            <a:avLst/>
          </a:prstGeom>
          <a:solidFill>
            <a:srgbClr val="6EE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840480" y="170992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21F"/>
                </a:solidFill>
              </a:rPr>
              <a:t>Servidor (Spring Boot)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77639" y="2240280"/>
            <a:ext cx="4709160" cy="74980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0" y="2295144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Capa presentación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26243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Controllers REST + WebSocket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7639" y="3108960"/>
            <a:ext cx="4709160" cy="74980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0" y="3163824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Capa negocio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349300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Services (lógica de dominio)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77639" y="3977639"/>
            <a:ext cx="4709160" cy="74980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114800" y="4032503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Capa persistencia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43616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Repositories (Spring Data JPA)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77639" y="4846320"/>
            <a:ext cx="4709160" cy="74980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114800" y="4901183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Capa seguridad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0" y="523036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JWT · Spring Security · Roles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61120" y="2926080"/>
            <a:ext cx="731520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784080" y="1691640"/>
            <a:ext cx="1920240" cy="1371600"/>
          </a:xfrm>
          <a:prstGeom prst="rect">
            <a:avLst/>
          </a:prstGeom>
          <a:solidFill>
            <a:srgbClr val="101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9784080" y="1691640"/>
            <a:ext cx="1920240" cy="411480"/>
          </a:xfrm>
          <a:prstGeom prst="rect">
            <a:avLst/>
          </a:prstGeom>
          <a:solidFill>
            <a:srgbClr val="616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784080" y="170992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29800" y="217627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Base de datos
relacional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1264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7A8AA8"/>
                </a:solidFill>
              </a:rPr>
              <a:t>Monolito modular · API RESTful · JWT stateless · Caché bajo demanda TMDB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Diseño · Modelo de datos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</a:rPr>
              <a:t>Entidades principales del modelo relacional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2743200" cy="42062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21F"/>
                </a:solidFill>
              </a:rPr>
              <a:t>User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57984"/>
            <a:ext cx="2743200" cy="16459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249424"/>
            <a:ext cx="2468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id, username, email,
password (hash), role,
profile_private, avatar, bio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01568" y="1737360"/>
            <a:ext cx="2743200" cy="42062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93008" y="178308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21F"/>
                </a:solidFill>
              </a:rPr>
              <a:t>Content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01568" y="2157984"/>
            <a:ext cx="2743200" cy="16459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38728" y="2249424"/>
            <a:ext cx="2468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id, tmdb_id, type,
title, poster, overview,
release_date, ttl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45936" y="1737360"/>
            <a:ext cx="2743200" cy="42062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7376" y="178308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21F"/>
                </a:solidFill>
              </a:rPr>
              <a:t>Rating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45936" y="2157984"/>
            <a:ext cx="2743200" cy="16459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83096" y="2249424"/>
            <a:ext cx="2468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id, user, content,
score (1-5), text,
likes, created_at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90304" y="1737360"/>
            <a:ext cx="2743200" cy="42062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81744" y="178308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21F"/>
                </a:solidFill>
              </a:rPr>
              <a:t>CustomList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90304" y="2157984"/>
            <a:ext cx="2743200" cy="16459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427464" y="2249424"/>
            <a:ext cx="2468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id, user, name,
description, visibility,
type, items[]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069079"/>
            <a:ext cx="2743200" cy="42062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4114799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21F"/>
                </a:solidFill>
              </a:rPr>
              <a:t>Follower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489703"/>
            <a:ext cx="2743200" cy="16459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4581144"/>
            <a:ext cx="2468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follower, followed,
status (ACCEPTED /
PENDING)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01568" y="4069079"/>
            <a:ext cx="2743200" cy="42062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493008" y="4114799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21F"/>
                </a:solidFill>
              </a:rPr>
              <a:t>Notification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01568" y="4489703"/>
            <a:ext cx="2743200" cy="16459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538728" y="4581144"/>
            <a:ext cx="2468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id, recipient, type,
source_user, content,
read, created_at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45936" y="4069079"/>
            <a:ext cx="2743200" cy="42062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37376" y="4114799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21F"/>
                </a:solidFill>
              </a:rPr>
              <a:t>UserBadge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45936" y="4489703"/>
            <a:ext cx="2743200" cy="16459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83096" y="4581144"/>
            <a:ext cx="2468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user, badge_type,
awarded_at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90304" y="4069079"/>
            <a:ext cx="2743200" cy="42062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81744" y="4114799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21F"/>
                </a:solidFill>
              </a:rPr>
              <a:t>ContentReport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90304" y="4489703"/>
            <a:ext cx="2743200" cy="16459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427464" y="4581144"/>
            <a:ext cx="2468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id, reporter, type,
reason, status
(PENDING/RESOLVED)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Implementación · Back-end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</a:rPr>
              <a:t>Arquitectura en capas y flujo de petición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554480" cy="1005840"/>
          </a:xfrm>
          <a:prstGeom prst="rect">
            <a:avLst/>
          </a:prstGeom>
          <a:solidFill>
            <a:srgbClr val="30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92024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HTTP
Request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03120" y="2267712"/>
            <a:ext cx="201168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331720" y="1828800"/>
            <a:ext cx="1554480" cy="100584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23160" y="192024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21F"/>
                </a:solidFill>
              </a:rPr>
              <a:t>JWT
Filter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0" y="2267712"/>
            <a:ext cx="201168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60520" y="1828800"/>
            <a:ext cx="1554480" cy="1005840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51959" y="192024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Controller
REST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0" y="2267712"/>
            <a:ext cx="201168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89320" y="1828800"/>
            <a:ext cx="1554480" cy="100584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080759" y="192024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Service
(Negocio)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2267712"/>
            <a:ext cx="201168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818120" y="1828800"/>
            <a:ext cx="1554480" cy="1005840"/>
          </a:xfrm>
          <a:prstGeom prst="rect">
            <a:avLst/>
          </a:prstGeom>
          <a:solidFill>
            <a:srgbClr val="2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09560" y="192024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Repository
(JPA)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0" y="2267712"/>
            <a:ext cx="201168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646920" y="1828800"/>
            <a:ext cx="1554480" cy="1005840"/>
          </a:xfrm>
          <a:prstGeom prst="rect">
            <a:avLst/>
          </a:prstGeom>
          <a:solidFill>
            <a:srgbClr val="1E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38360" y="192024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PostgreSQL
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1089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C518"/>
                </a:solidFill>
              </a:rPr>
              <a:t>Decisiones clave de diseño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611880"/>
            <a:ext cx="10607040" cy="512064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3611880"/>
            <a:ext cx="54864" cy="5120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3232" y="368503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Controladores ligeros: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80" y="3685032"/>
            <a:ext cx="7863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Sin lógica de negocio; solo validación y delegación al servicio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197096"/>
            <a:ext cx="10607040" cy="512064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48640" y="4197096"/>
            <a:ext cx="54864" cy="5120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13232" y="427024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DTOs en todas las capas: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54680" y="4270248"/>
            <a:ext cx="7863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Nunca se exponen entidades JPA directamente al cliente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782312"/>
            <a:ext cx="10607040" cy="512064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48640" y="4782312"/>
            <a:ext cx="54864" cy="5120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13232" y="485546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Lazy loading: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54680" y="4855464"/>
            <a:ext cx="7863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Carga diferida en relaciones JPA para optimizar rendimiento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367528"/>
            <a:ext cx="10607040" cy="512064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48640" y="5367528"/>
            <a:ext cx="54864" cy="5120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13232" y="544068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Caché bajo demanda TMDB: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54680" y="5440680"/>
            <a:ext cx="7863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El contenido se sincroniza solo cuando hay interacción real del usuario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952744"/>
            <a:ext cx="10607040" cy="512064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48640" y="5952744"/>
            <a:ext cx="54864" cy="5120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13232" y="602589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Seguridad stateless: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54680" y="6025896"/>
            <a:ext cx="7863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JWT firmado; sin sesiones en servidor; control por roles (USER / ADMIN)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Implementación · Front-end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</a:rPr>
              <a:t>SPA modular (React 19 + TypeScript)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Estructura de carpetas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94560"/>
            <a:ext cx="5303520" cy="603504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267712"/>
            <a:ext cx="1371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pages/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2286000"/>
            <a:ext cx="3520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Vistas navegables (Home, Profile, Discover…)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89504"/>
            <a:ext cx="5303520" cy="603504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2962656"/>
            <a:ext cx="1371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components/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980944"/>
            <a:ext cx="3520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Componentes reutilizables desacoplados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84448"/>
            <a:ext cx="5303520" cy="603504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657600"/>
            <a:ext cx="1371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hooks/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675887"/>
            <a:ext cx="3520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Hooks personalizados reutilizables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79392"/>
            <a:ext cx="5303520" cy="603504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4352544"/>
            <a:ext cx="1371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api/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370831"/>
            <a:ext cx="3520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Módulos HTTP por recurso (Axios)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974336"/>
            <a:ext cx="5303520" cy="603504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047488"/>
            <a:ext cx="1371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stores/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5065775"/>
            <a:ext cx="3520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Estado global Zustand (auth, JWT)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669279"/>
            <a:ext cx="5303520" cy="603504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5742431"/>
            <a:ext cx="1371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types/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5760719"/>
            <a:ext cx="3520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Tipos TypeScript compartidos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169164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Gestión de estado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2194560"/>
            <a:ext cx="5029200" cy="14630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492240" y="2194560"/>
            <a:ext cx="5029200" cy="365760"/>
          </a:xfrm>
          <a:prstGeom prst="rect">
            <a:avLst/>
          </a:prstGeom>
          <a:solidFill>
            <a:srgbClr val="5A2E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83680" y="221284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Zustand  —  Estado sincrónico global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2651760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· Datos del usuario autenticado
· Token JWT en memoria y localStorage
· Reactivo y ligero (sin boilerplate)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3794760"/>
            <a:ext cx="5029200" cy="1874519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492240" y="3794760"/>
            <a:ext cx="5029200" cy="365760"/>
          </a:xfrm>
          <a:prstGeom prst="rect">
            <a:avLst/>
          </a:prstGeom>
          <a:solidFill>
            <a:srgbClr val="0E6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83680" y="381304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TanStack Query v5  —  Estado asíncrono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425196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· Caché de respuestas por claves estructuradas
· Revalidación automática (stale/refetch)
· Mutaciones con invalidación selectiva
· Reduce peticiones redundantes al servidor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Implementación · Funcionalidades clave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</a:rPr>
              <a:t>Ficha de detalle de contenido (página más compleja)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5349240" cy="132588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737360"/>
            <a:ext cx="5349240" cy="384048"/>
          </a:xfrm>
          <a:prstGeom prst="rect">
            <a:avLst/>
          </a:prstGeom>
          <a:solidFill>
            <a:srgbClr val="2A1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783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Poster + Backdrop + Metadatos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40280"/>
            <a:ext cx="5074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Título, año, géneros, sinopsis, reparto (galería de actores)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737360"/>
            <a:ext cx="5349240" cy="132588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349240" cy="384048"/>
          </a:xfrm>
          <a:prstGeom prst="rect">
            <a:avLst/>
          </a:prstGeom>
          <a:solidFill>
            <a:srgbClr val="2A1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1783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Widget de valoración ⭐ x5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240280"/>
            <a:ext cx="5074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Crear y editar valoración en la misma vista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200400"/>
            <a:ext cx="5349240" cy="132588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3200400"/>
            <a:ext cx="5349240" cy="384048"/>
          </a:xfrm>
          <a:prstGeom prst="rect">
            <a:avLst/>
          </a:prstGeom>
          <a:solidFill>
            <a:srgbClr val="2A1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246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Añadir a lista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703320"/>
            <a:ext cx="5074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Diálogo para agregar el título a cualquier lista personal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200400"/>
            <a:ext cx="5349240" cy="132588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17920" y="3200400"/>
            <a:ext cx="5349240" cy="384048"/>
          </a:xfrm>
          <a:prstGeom prst="rect">
            <a:avLst/>
          </a:prstGeom>
          <a:solidFill>
            <a:srgbClr val="2A1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55080" y="3246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Seguimiento de episodios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703320"/>
            <a:ext cx="5074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Acordeón por temporada/episodio (solo para series)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663440"/>
            <a:ext cx="5349240" cy="132588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8640" y="4663440"/>
            <a:ext cx="5349240" cy="384048"/>
          </a:xfrm>
          <a:prstGeom prst="rect">
            <a:avLst/>
          </a:prstGeom>
          <a:solidFill>
            <a:srgbClr val="2A1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470915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Valoraciones de la comunidad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166359"/>
            <a:ext cx="5074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Listado con score, reseñas, likes y comentarios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4663440"/>
            <a:ext cx="5349240" cy="132588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17920" y="4663440"/>
            <a:ext cx="5349240" cy="384048"/>
          </a:xfrm>
          <a:prstGeom prst="rect">
            <a:avLst/>
          </a:prstGeom>
          <a:solidFill>
            <a:srgbClr val="2A1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55080" y="470915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Recomendaciones personalizadas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5166359"/>
            <a:ext cx="5074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Basadas en el género más valorado del usuario (TMDB)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1722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7A8AA8"/>
                </a:solidFill>
              </a:rPr>
              <a:t>→  Sincronización con TMDB bajo demanda (getOrFetch) con TTL configurable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Implementación · Funcionalidades clave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</a:rPr>
              <a:t>Red social y notificaciones en tiempo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C518"/>
                </a:solidFill>
              </a:rPr>
              <a:t>Funcionalidades sociales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94560"/>
            <a:ext cx="5303520" cy="5486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194560"/>
            <a:ext cx="64008" cy="54864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Seguir usuarios (con solicitud si perfil privado)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34639"/>
            <a:ext cx="5303520" cy="5486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2834639"/>
            <a:ext cx="64008" cy="54864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2926079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Feed de actividad de usuarios seguidos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74720"/>
            <a:ext cx="5303520" cy="5486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3474720"/>
            <a:ext cx="64008" cy="54864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3566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Likes y comentarios en valoraciones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14800"/>
            <a:ext cx="5303520" cy="5486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8640" y="4114800"/>
            <a:ext cx="64008" cy="54864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42062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Comentarios en listas públicas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54879"/>
            <a:ext cx="5303520" cy="5486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4754879"/>
            <a:ext cx="64008" cy="54864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4846319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Reporte de contenido inapropiado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394960"/>
            <a:ext cx="5303520" cy="5486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8640" y="5394960"/>
            <a:ext cx="64008" cy="54864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1520" y="5486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Panel de moderación (rol ADMIN)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6916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C518"/>
                </a:solidFill>
              </a:rPr>
              <a:t>Notificaciones WebSocket (STOMP)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194560"/>
            <a:ext cx="5303520" cy="109728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37960" y="2286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Eventos que disparan notificación: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6517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·  Nuevo seguidor / solicitud aceptada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296265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·  Like en valoración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2735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·  Comentario en lista / reseña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429000"/>
            <a:ext cx="5303520" cy="132588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400800" y="3429000"/>
            <a:ext cx="5303520" cy="347472"/>
          </a:xfrm>
          <a:prstGeom prst="rect">
            <a:avLst/>
          </a:prstGeom>
          <a:solidFill>
            <a:srgbClr val="1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37960" y="344728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EE7E7"/>
                </a:solidFill>
              </a:rPr>
              <a:t>Implementación técnica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38404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·  Back-end: Spring WebSocket + STOMP broker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41879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·  Front-end: SockJS + @stomp/stompjs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45354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·  Badge en navbar actualizado sin polling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488289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·  Conexión establecida en el layout raíz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937760"/>
            <a:ext cx="5303520" cy="91440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400800" y="4937760"/>
            <a:ext cx="5303520" cy="347472"/>
          </a:xfrm>
          <a:prstGeom prst="rect">
            <a:avLst/>
          </a:prstGeom>
          <a:solidFill>
            <a:srgbClr val="2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537960" y="49560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A8FFF"/>
                </a:solidFill>
              </a:rPr>
              <a:t>Gamificación · Insignias automáticas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537667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Premios por hitos: nº valoraciones, seguidores,
listas creadas, reseñas escritas…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Implementación · Interfaz de usuario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</a:rPr>
              <a:t>Sistema de diseño y responsividad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Identidad visual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94560"/>
            <a:ext cx="411480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194560"/>
            <a:ext cx="502920" cy="566928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2240279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Fondo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496312"/>
            <a:ext cx="3337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A8AA8"/>
                </a:solidFill>
              </a:rPr>
              <a:t>#0D121F – #1A223A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852928"/>
            <a:ext cx="411480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2852928"/>
            <a:ext cx="502920" cy="5669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2898648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Acento dorado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154680"/>
            <a:ext cx="3337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A8AA8"/>
                </a:solidFill>
              </a:rPr>
              <a:t>#F5C518 (interactivos)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11296"/>
            <a:ext cx="411480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511296"/>
            <a:ext cx="50292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43000" y="3557015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Tipografía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813048"/>
            <a:ext cx="3337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A8AA8"/>
                </a:solidFill>
              </a:rPr>
              <a:t>Playfair Display + DM Sans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913632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Páginas principales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434840"/>
            <a:ext cx="4114800" cy="347472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44805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·  Inicio (carruseles, recomendaciones, sugerencias)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837176"/>
            <a:ext cx="4114800" cy="347472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488289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·  Descubrimiento (búsqueda debounced: pelis + series)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239512"/>
            <a:ext cx="4114800" cy="347472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528523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·  Ficha de detalle (la más compleja)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641848"/>
            <a:ext cx="4114800" cy="347472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568756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·  Perfil (estadísticas, insignias, listas, actividad)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6044183"/>
            <a:ext cx="4114800" cy="347472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5800" y="6089904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·  Listas personalizadas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6446520"/>
            <a:ext cx="4114800" cy="347472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85800" y="64922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·  Panel de administración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1691640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Responsive design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0" y="2194560"/>
            <a:ext cx="3474720" cy="23774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029200" y="2194560"/>
            <a:ext cx="3474720" cy="347472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120640" y="2212848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EE76E"/>
                </a:solidFill>
              </a:rPr>
              <a:t>Desktop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20640" y="2651760"/>
            <a:ext cx="640080" cy="1737360"/>
          </a:xfrm>
          <a:prstGeom prst="rect">
            <a:avLst/>
          </a:prstGeom>
          <a:solidFill>
            <a:srgbClr val="102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138928" y="3017520"/>
            <a:ext cx="594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C518"/>
                </a:solidFill>
              </a:rPr>
              <a:t>Side
bar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52160" y="2651760"/>
            <a:ext cx="2514600" cy="1737360"/>
          </a:xfrm>
          <a:prstGeom prst="rect">
            <a:avLst/>
          </a:prstGeom>
          <a:solidFill>
            <a:srgbClr val="0A1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943600" y="2971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A8AA8"/>
                </a:solidFill>
              </a:rPr>
              <a:t>Contenido
principal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645152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A8AA8"/>
                </a:solidFill>
              </a:rPr>
              <a:t>Sidebar fija · Grid fluido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961120" y="2194560"/>
            <a:ext cx="2560320" cy="23774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961120" y="2194560"/>
            <a:ext cx="2560320" cy="347472"/>
          </a:xfrm>
          <a:prstGeom prst="rect">
            <a:avLst/>
          </a:prstGeom>
          <a:solidFill>
            <a:srgbClr val="1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052560" y="221284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1DBFB"/>
                </a:solidFill>
              </a:rPr>
              <a:t>Mobile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52560" y="2651760"/>
            <a:ext cx="2377440" cy="1234440"/>
          </a:xfrm>
          <a:prstGeom prst="rect">
            <a:avLst/>
          </a:prstGeom>
          <a:solidFill>
            <a:srgbClr val="0A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098280" y="30175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A8AA8"/>
                </a:solidFill>
              </a:rPr>
              <a:t>Contenido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52560" y="3950208"/>
            <a:ext cx="2377440" cy="411480"/>
          </a:xfrm>
          <a:prstGeom prst="rect">
            <a:avLst/>
          </a:prstGeom>
          <a:solidFill>
            <a:srgbClr val="202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052560" y="3977639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C518"/>
                </a:solidFill>
              </a:rPr>
              <a:t>⌂  🔍  📋  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4645152"/>
            <a:ext cx="2423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A8AA8"/>
                </a:solidFill>
              </a:rPr>
              <a:t>Bottom nav · Ergonomía táctil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7A8AA8"/>
                </a:solidFill>
              </a:rPr>
              <a:t>Componentes Radix UI + shadcn/ui garantizan accesibilidad (ARIA)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Pruebas y calidad del software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</a:rPr>
              <a:t>340 tests unitarios automatizados (JUnit 5 + Mockito)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3200400" cy="201168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3200400" cy="38404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19456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</a:rPr>
              <a:t>340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546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C518"/>
                </a:solidFill>
              </a:rPr>
              <a:t>tests automatizados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1691640"/>
            <a:ext cx="804672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931920" y="1691640"/>
            <a:ext cx="1828800" cy="566928"/>
          </a:xfrm>
          <a:prstGeom prst="rect">
            <a:avLst/>
          </a:prstGeom>
          <a:solidFill>
            <a:srgbClr val="18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023359" y="1783080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Controllers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79" y="180136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Validación HTTP y DTOs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2350008"/>
            <a:ext cx="804672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931920" y="2350008"/>
            <a:ext cx="1828800" cy="566928"/>
          </a:xfrm>
          <a:prstGeom prst="rect">
            <a:avLst/>
          </a:prstGeom>
          <a:solidFill>
            <a:srgbClr val="18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023359" y="244144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2459736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Lógica de negocio completa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008376"/>
            <a:ext cx="804672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931920" y="3008376"/>
            <a:ext cx="1828800" cy="566928"/>
          </a:xfrm>
          <a:prstGeom prst="rect">
            <a:avLst/>
          </a:prstGeom>
          <a:solidFill>
            <a:srgbClr val="18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023359" y="3099816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Repositories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79" y="3118104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Consultas JPA personalizadas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3666744"/>
            <a:ext cx="804672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931920" y="3666744"/>
            <a:ext cx="1828800" cy="566928"/>
          </a:xfrm>
          <a:prstGeom prst="rect">
            <a:avLst/>
          </a:prstGeom>
          <a:solidFill>
            <a:srgbClr val="18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023359" y="3758183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Security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79" y="3776472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JWT, filtros y permisos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31920" y="4325112"/>
            <a:ext cx="804672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931920" y="4325112"/>
            <a:ext cx="1828800" cy="566928"/>
          </a:xfrm>
          <a:prstGeom prst="rect">
            <a:avLst/>
          </a:prstGeom>
          <a:solidFill>
            <a:srgbClr val="18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023359" y="4416552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Integration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97879" y="4434840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Flujos end-to-end en back-end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31920" y="4983479"/>
            <a:ext cx="804672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931920" y="4983479"/>
            <a:ext cx="1828800" cy="566928"/>
          </a:xfrm>
          <a:prstGeom prst="rect">
            <a:avLst/>
          </a:prstGeom>
          <a:solidFill>
            <a:srgbClr val="18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023359" y="5074919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Seeder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97879" y="5093207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Datos de prueba realistas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886200"/>
            <a:ext cx="3200400" cy="219456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48640" y="3950208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Patrón AAA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70832"/>
            <a:ext cx="10058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Arrange: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0200" y="4370832"/>
            <a:ext cx="1920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Preparar mocks y datos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919472"/>
            <a:ext cx="10058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Act: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0200" y="4919472"/>
            <a:ext cx="1920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Ejecutar la operación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468112"/>
            <a:ext cx="10058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Assert: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5468112"/>
            <a:ext cx="1920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Verificar el resultado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7A8AA8"/>
                </a:solidFill>
              </a:rPr>
              <a:t>Informe de cobertura JaCoCo generado automáticamente en cada ejecución del pipeline CI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Despliegue · Docker + CI/CD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</a:rPr>
              <a:t>Pipeline de integración y entrega continua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CI  —  Push a develop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94560"/>
            <a:ext cx="2468880" cy="14630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194560"/>
            <a:ext cx="2468880" cy="365760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2128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EE76E"/>
                </a:solidFill>
              </a:rPr>
              <a:t>Tests 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51760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JUnit 5 (340 tests)
+ JaCoCo coverage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2834640"/>
            <a:ext cx="228600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7560" y="2194560"/>
            <a:ext cx="2468880" cy="14630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37560" y="2194560"/>
            <a:ext cx="2468880" cy="365760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29000" y="22128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EE76E"/>
                </a:solidFill>
              </a:rPr>
              <a:t>Build JAR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651760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mvn clean package
si tests OK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0" y="2834640"/>
            <a:ext cx="228600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26479" y="2194560"/>
            <a:ext cx="2468880" cy="14630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26479" y="2194560"/>
            <a:ext cx="2468880" cy="365760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19" y="22128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EE76E"/>
                </a:solidFill>
              </a:rPr>
              <a:t>Build FE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19" y="2651760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npm + Vite build
TypeScript check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41080" y="2834640"/>
            <a:ext cx="228600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915399" y="2194560"/>
            <a:ext cx="2468880" cy="14630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915399" y="2194560"/>
            <a:ext cx="2468880" cy="365760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06839" y="22128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EE76E"/>
                </a:solidFill>
              </a:rPr>
              <a:t>Docker imgs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39" y="2651760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Back + Front
(sin publicar)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8404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CD  —  Push a main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343400"/>
            <a:ext cx="3429000" cy="14173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48640" y="4343400"/>
            <a:ext cx="3429000" cy="365760"/>
          </a:xfrm>
          <a:prstGeom prst="rect">
            <a:avLst/>
          </a:prstGeom>
          <a:solidFill>
            <a:srgbClr val="2A1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" y="436168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9E0B"/>
                </a:solidFill>
              </a:rPr>
              <a:t>Tests BE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800600"/>
            <a:ext cx="32004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Validación previa
al despliegue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359" y="4937760"/>
            <a:ext cx="2743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343400" y="4343400"/>
            <a:ext cx="3429000" cy="14173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343400" y="4343400"/>
            <a:ext cx="3429000" cy="365760"/>
          </a:xfrm>
          <a:prstGeom prst="rect">
            <a:avLst/>
          </a:prstGeom>
          <a:solidFill>
            <a:srgbClr val="2A1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434840" y="436168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9E0B"/>
                </a:solidFill>
              </a:rPr>
              <a:t>Docker imgs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34840" y="4800600"/>
            <a:ext cx="32004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Build + tag (commit
+ latest) → GHCR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18120" y="4937760"/>
            <a:ext cx="2743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138160" y="4343400"/>
            <a:ext cx="3429000" cy="14173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138160" y="4343400"/>
            <a:ext cx="3429000" cy="365760"/>
          </a:xfrm>
          <a:prstGeom prst="rect">
            <a:avLst/>
          </a:prstGeom>
          <a:solidFill>
            <a:srgbClr val="2A1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229600" y="436168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9E0B"/>
                </a:solidFill>
              </a:rPr>
              <a:t>Deploy K8s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4800600"/>
            <a:ext cx="32004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Runner self-hosted
Minikube rollout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12480" y="3840480"/>
            <a:ext cx="3520440" cy="28346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412480" y="3840480"/>
            <a:ext cx="3520440" cy="38404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503920" y="385876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Branching strategy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03920" y="4315968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develop  →  desarrollo activo + CI
main  →  releases estables + CD
Pull requests con validación previa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412480" y="5230368"/>
            <a:ext cx="3520440" cy="128016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503920" y="5285232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Docker Compose (local)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03920" y="562356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0E0"/>
                </a:solidFill>
              </a:rPr>
              <a:t>·  PostgreSQL (Alpine, healthcheck)
·  Back-end (multi-stage Dockerfile)
·  Config por variables de entorno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5C518"/>
                </a:solidFill>
              </a:rPr>
              <a:t>DEMO EN VIVO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143000"/>
            <a:ext cx="94457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371600" y="1325880"/>
            <a:ext cx="9445752" cy="4572000"/>
          </a:xfrm>
          <a:prstGeom prst="rect">
            <a:avLst/>
          </a:prstGeom>
          <a:solidFill>
            <a:srgbClr val="08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0" y="2286000"/>
            <a:ext cx="21305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F5C518"/>
                </a:solidFill>
              </a:rPr>
              <a:t>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91840"/>
            <a:ext cx="94457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C8D0E0"/>
                </a:solidFill>
              </a:rPr>
              <a:t>Vídeo / Demostración en directo de MovieMate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35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7A8AA8"/>
                </a:solidFill>
              </a:rPr>
              <a:t>Registro e inicio de sesión  ·  Búsqueda y ficha de película/serie  ·  Valoración + reseña + like  ·  Listas personalizadas  ·  Feed social + notificación en tiempo real  ·  Panel de administración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Conclusiones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</a:rPr>
              <a:t>Objetivos cumplidos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1060704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73152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837943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✓  Plataforma funcional y completa: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837943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App full-stack con todas las funcionalidades planificadas implementadas y desplegadas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42032"/>
            <a:ext cx="1060704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2542032"/>
            <a:ext cx="73152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2596896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✓  Arquitectura modular y escalable: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596896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Monolito modular con separación clara de capas; preparado para evolución futura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300984"/>
            <a:ext cx="1060704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3300984"/>
            <a:ext cx="73152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355848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✓  Integración eficiente con TMDB: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355848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Caché bajo demanda con TTL reduce dependencia y latencia de servicios externos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59935"/>
            <a:ext cx="1060704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48640" y="4059935"/>
            <a:ext cx="73152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4114799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✓  Tiempo real con WebSockets: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114799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Notificaciones push sin polling; experiencia fluida comparable a plataformas de referencia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818888"/>
            <a:ext cx="1060704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8640" y="4818888"/>
            <a:ext cx="73152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1520" y="4873751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✓  Calidad demostrada: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873751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340 tests unitarios automatizados · cobertura JaCoCo · pipeline CI/CD robusto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577840"/>
            <a:ext cx="1060704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8640" y="5577840"/>
            <a:ext cx="73152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31520" y="5632703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✓  Responsive y accesible: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632703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Interfaz adaptada a escritorio, tablet y móvil con componentes Radix UI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Vías futuras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</a:rPr>
              <a:t>Líneas de evolución del sistema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3611880" cy="196596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3611880" cy="457200"/>
          </a:xfrm>
          <a:prstGeom prst="rect">
            <a:avLst/>
          </a:prstGeom>
          <a:solidFill>
            <a:srgbClr val="1A1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792224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📱  Aplicaciones móviles nativas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04288"/>
            <a:ext cx="33375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iOS + Android con React Native
Reutilización de lógica del cliente web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737360"/>
            <a:ext cx="3611880" cy="196596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43400" y="1737360"/>
            <a:ext cx="3611880" cy="457200"/>
          </a:xfrm>
          <a:prstGeom prst="rect">
            <a:avLst/>
          </a:prstGeom>
          <a:solidFill>
            <a:srgbClr val="1A1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0" y="1792224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🤖  Recomendaciones avanzadas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304288"/>
            <a:ext cx="33375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Filtrado colaborativo o Machine Learning
Sugerencias más precisas y personalizadas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737360"/>
            <a:ext cx="3611880" cy="196596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0" y="1737360"/>
            <a:ext cx="3611880" cy="457200"/>
          </a:xfrm>
          <a:prstGeom prst="rect">
            <a:avLst/>
          </a:prstGeom>
          <a:solidFill>
            <a:srgbClr val="1A1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66760" y="1792224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🎥  Disponibilidad en streaming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04288"/>
            <a:ext cx="33375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Integración con APIs de plataformas
Indicar dónde ver el contenido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86200"/>
            <a:ext cx="3611880" cy="196596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3886200"/>
            <a:ext cx="3611880" cy="457200"/>
          </a:xfrm>
          <a:prstGeom prst="rect">
            <a:avLst/>
          </a:prstGeom>
          <a:solidFill>
            <a:srgbClr val="1A1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3941063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🔀  Microservicios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453128"/>
            <a:ext cx="33375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Transición para mayor escala
Desacoplamiento de componentes críticos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886200"/>
            <a:ext cx="3611880" cy="196596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43400" y="3886200"/>
            <a:ext cx="3611880" cy="457200"/>
          </a:xfrm>
          <a:prstGeom prst="rect">
            <a:avLst/>
          </a:prstGeom>
          <a:solidFill>
            <a:srgbClr val="1A1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80560" y="3941063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🎮  Gamificación ampliada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453128"/>
            <a:ext cx="33375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Más tipos de insignias y logros
Ranking de usuarios por actividad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3886200"/>
            <a:ext cx="3611880" cy="196596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29600" y="3886200"/>
            <a:ext cx="3611880" cy="457200"/>
          </a:xfrm>
          <a:prstGeom prst="rect">
            <a:avLst/>
          </a:prstGeom>
          <a:solidFill>
            <a:srgbClr val="1A1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66760" y="3941063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👥  Visualización en grupo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4453128"/>
            <a:ext cx="33375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Planificación de sesiones grupales
Exportación del historial de actividad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64592"/>
            <a:ext cx="73152" cy="652881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5C518"/>
                </a:solidFill>
              </a:rPr>
              <a:t>MovieMate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1">
                <a:solidFill>
                  <a:srgbClr val="C8D0E0"/>
                </a:solidFill>
              </a:rPr>
              <a:t>App de gestión y valoración de películas y series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3566160"/>
            <a:ext cx="7616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3749039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¿Preguntas?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663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Christian Matas Conesa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66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7A8AA8"/>
                </a:solidFill>
              </a:rPr>
              <a:t>Tutor: Francisco García Sánchez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7A8AA8"/>
                </a:solidFill>
              </a:rPr>
              <a:t>Grado en Ingeniería Informática  ·  Universidad de Murcia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1779</Words>
  <Application>Microsoft Office PowerPoint</Application>
  <PresentationFormat>Personalizado</PresentationFormat>
  <Paragraphs>390</Paragraphs>
  <Slides>20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Christian Matas</cp:lastModifiedBy>
  <cp:revision>1</cp:revision>
  <dcterms:created xsi:type="dcterms:W3CDTF">2013-01-27T09:14:16Z</dcterms:created>
  <dcterms:modified xsi:type="dcterms:W3CDTF">2026-06-03T14:25:52Z</dcterms:modified>
  <cp:category/>
</cp:coreProperties>
</file>