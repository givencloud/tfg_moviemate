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73" r:id="rId14"/>
    <p:sldId id="269" r:id="rId15"/>
    <p:sldId id="270" r:id="rId16"/>
    <p:sldId id="271" r:id="rId17"/>
    <p:sldId id="272" r:id="rId18"/>
    <p:sldId id="274" r:id="rId19"/>
    <p:sldId id="276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4636" autoAdjust="0"/>
  </p:normalViewPr>
  <p:slideViewPr>
    <p:cSldViewPr snapToGrid="0" snapToObjects="1">
      <p:cViewPr varScale="1">
        <p:scale>
          <a:sx n="117" d="100"/>
          <a:sy n="117" d="100"/>
        </p:scale>
        <p:origin x="31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93"/>
    </p:cViewPr>
  </p:sorterViewPr>
  <p:notesViewPr>
    <p:cSldViewPr snapToGrid="0" snapToObjects="1">
      <p:cViewPr varScale="1">
        <p:scale>
          <a:sx n="92" d="100"/>
          <a:sy n="92" d="100"/>
        </p:scale>
        <p:origin x="411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347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Buenos días. Mi nombre es Christian Matas Conesa y voy a presentar mi Trabajo de Fin de Grado, este se titula 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MovieMate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ha sido tutorizado por el profesor Francisco García Sánchez.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proyecto consiste en una plataforma web orientada a ser lo más completa posible incluyendo funcionalidades como la gestión, valoración y descubrimiento de series y películas, integrando además funcionalidades sociales.</a:t>
            </a:r>
            <a:endParaRPr lang="es-ES" b="0" dirty="0">
              <a:effectLst/>
            </a:endParaRPr>
          </a:p>
          <a:p>
            <a:br>
              <a:rPr lang="es-E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presentación sigue la estructura de la memoria. Empezaré con la introducción, donde explico el contexto y la motivación del proyecto.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Después veremos el estado del arte, analizando qué soluciones existen y qué tecnologías elegí.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continuación presentaré los objetivos y la metodología, y luego entraré en el núcleo del trabajo: el diseño e implementación de la aplicación, donde también cubriré las pruebas y el despliegue.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Terminaré con las conclusiones y las líneas de trabajo futuras.</a:t>
            </a:r>
            <a:endParaRPr lang="es-ES" b="0" dirty="0">
              <a:effectLst/>
            </a:endParaRPr>
          </a:p>
          <a:p>
            <a:br>
              <a:rPr lang="es-E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punto de partida del proyecto es un problema real. Hoy en día, si alguien consume tanto películas como series y quiere llevar un registro de lo que ha visto, valorarlo y compartirlo con otros, se encuentra con que no existe una única plataforma que lo haga todo bien.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Tenemos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Letterboxd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que es muy buena para el cine pero no contempla series. Tenemos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Serializd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que es el equivalente para series pero ignora el cine. Y tenemos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IMDb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que cubre los dos tipos de contenido pero carece de una red social real.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resultado es una fragmentación: el historial de visionado disperso en tres apps, las valoraciones separadas, ninguna comunidad unificada. Ese es exactamente el hueco que MovieMate viene a cubrir.</a:t>
            </a:r>
            <a:endParaRPr lang="es-ES" b="0" dirty="0">
              <a:effectLst/>
            </a:endParaRPr>
          </a:p>
          <a:p>
            <a:br>
              <a:rPr lang="es-E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MovieMate es una plataforma web unificada que integra en un único sistema todo lo que un usuario de contenido audiovisual necesita:</a:t>
            </a:r>
            <a:endParaRPr lang="es-ES" b="0" dirty="0">
              <a:effectLst/>
            </a:endParaRPr>
          </a:p>
          <a:p>
            <a:pPr rtl="0" fontAlgn="base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Gestión de películas y series en el mismo sitio.</a:t>
            </a:r>
          </a:p>
          <a:p>
            <a:pPr rtl="0" fontAlgn="base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sistema completo de valoraciones y reseñas.</a:t>
            </a:r>
          </a:p>
          <a:p>
            <a:pPr rtl="0" fontAlgn="base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Listas personalizadas para organizar el contenido.</a:t>
            </a:r>
          </a:p>
          <a:p>
            <a:pPr rtl="0" fontAlgn="base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 red social con seguimiento de usuarios y feed de actividad.</a:t>
            </a:r>
          </a:p>
          <a:p>
            <a:pPr rtl="0" fontAlgn="base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Notificaciones en tiempo real cuando alguien interactúa con tu contenido.</a:t>
            </a:r>
          </a:p>
          <a:p>
            <a:pPr rtl="0" fontAlgn="base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sistema de gamificación con insignias que premia la actividad del usuario.</a:t>
            </a: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idea no es reinventar la rueda: es coger lo mejor de cada plataforma existente y fusionarlo en una sola experiencia coherente.</a:t>
            </a:r>
            <a:endParaRPr lang="es-ES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 tabla resume el análisis comparativo que hice al comienzo del proyecto.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se puede ver, ninguna de las tres plataformas existentes cubre el conjunto completo.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Letterboxd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tiene series ni notificaciones ni gamificación.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IMDb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tiene listas personalizadas ni red social real.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Serializd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tiene un componente social básico pero solo para series, y tampoco tiene notificaciones ni gamificación.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columna de MovieMate tiene un ✓ en todas las filas. Esto no es casualidad: el diseño de las funcionalidades partió precisamente de este análisis de carencias. No se añadió nada porque sí; cada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tiene una justificación en las limitaciones de las soluciones actuales.</a:t>
            </a:r>
            <a:endParaRPr lang="es-ES" b="0" dirty="0">
              <a:effectLst/>
            </a:endParaRPr>
          </a:p>
          <a:p>
            <a:br>
              <a:rPr lang="es-E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construir MovieMate elegí un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stack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moderno que cubre las tres dimensiones del sistema.</a:t>
            </a:r>
            <a:endParaRPr lang="es-ES" b="0" dirty="0">
              <a:effectLst/>
            </a:endParaRPr>
          </a:p>
          <a:p>
            <a:pPr rtl="0"/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el back-end: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Java 21 con Spring Boot 3, que aporta madurez y un ecosistema robusto. Spring Security con JWT para autenticación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stateless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Spring Data JPA con PostgreSQL para la persistencia. Y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el protocolo STOMP para las notificaciones en tiempo real.</a:t>
            </a:r>
            <a:endParaRPr lang="es-ES" b="0" dirty="0">
              <a:effectLst/>
            </a:endParaRPr>
          </a:p>
          <a:p>
            <a:pPr rtl="0"/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el </a:t>
            </a:r>
            <a:r>
              <a:rPr lang="es-E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</a:t>
            </a:r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-end: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19 con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TypeScript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TanStack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Query para la gestión del estado asíncrono,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Zustand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el estado global, Tailwind CSS 4 y componentes accesibles de Radix UI y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shadcn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s-ES" b="0" dirty="0">
              <a:effectLst/>
            </a:endParaRPr>
          </a:p>
          <a:p>
            <a:pPr rtl="0"/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infraestructura: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API de TMDB para los metadatos de películas y series, Docker y Docker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Compose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la contenerización, GitHub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el CI/CD, y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Minikube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el despliegue.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elección de cada tecnología está justificada en la memoria, pero en todos los casos el criterio fue el mismo: madurez, ecosistema y adecuación al problema.</a:t>
            </a:r>
            <a:endParaRPr lang="es-ES" b="0" dirty="0">
              <a:effectLst/>
            </a:endParaRPr>
          </a:p>
          <a:p>
            <a:br>
              <a:rPr lang="es-E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objetivo principal del TFG es el diseño y desarrollo de una aplicación web responsive para la gestión y valoración de contenido audiovisual.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Ese objetivo se descompone en cinco subobjetivos:</a:t>
            </a:r>
            <a:endParaRPr lang="es-ES" b="0" dirty="0">
              <a:effectLst/>
            </a:endParaRPr>
          </a:p>
          <a:p>
            <a:pPr rtl="0" fontAlgn="base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Analizar las soluciones existentes.</a:t>
            </a:r>
          </a:p>
          <a:p>
            <a:pPr rtl="0" fontAlgn="base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Seleccionar las tecnologías adecuadas.</a:t>
            </a:r>
          </a:p>
          <a:p>
            <a:pPr rtl="0" fontAlgn="base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Implementar un prototipo funcional completo.</a:t>
            </a:r>
          </a:p>
          <a:p>
            <a:pPr rtl="0" fontAlgn="base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Desplegarlo en un entorno contenerizado.</a:t>
            </a:r>
          </a:p>
          <a:p>
            <a:pPr rtl="0" fontAlgn="base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Documentar todo el trabajo.</a:t>
            </a: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conseguirlos, seguí una metodología iterativa e incremental organizada en cinco tareas: análisis preliminar, diseño, implementación, pruebas y validación, y documentación.</a:t>
            </a:r>
            <a:endParaRPr lang="es-ES" b="0" dirty="0">
              <a:effectLst/>
            </a:endParaRPr>
          </a:p>
          <a:p>
            <a:br>
              <a:rPr lang="es-E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Pasamos a la parte más técnica de la presentación.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MovieMate se diseñó como un monolito modular con arquitectura MVC y API RESTful. El diagrama que veis muestra la separación entre cliente, servidor, base de datos y servicio externo.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Elegí el monolito modular de forma deliberada: para un proyecto de este alcance, una arquitectura de microservicios habría añadido complejidad operativa sin un beneficio real.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monolito modular da lo mejor de los dos mundos: simplicidad de despliegue del monolito y separación lógica interna que prepara el sistema para una futura evolución hacia microservicios si la carga lo requiriese.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back-end se estructura en cuatro capas: presentación, negocio, persistencia y seguridad. El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-end es una SPA independiente que se comunica con el servidor únicamente a través de la API.</a:t>
            </a:r>
            <a:endParaRPr lang="es-ES" b="0" dirty="0">
              <a:effectLst/>
            </a:endParaRPr>
          </a:p>
          <a:p>
            <a:br>
              <a:rPr lang="es-E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el back-end, el flujo de cada petición sigue la secuencia que veis en el diagrama: la petición HTTP entra, pasa por el filtro JWT, llega al controlador, que delega en el servicio, que accede al repositorio, que habla con PostgreSQL.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Quiero destacar cinco decisiones de implementación que consideré clave:</a:t>
            </a:r>
            <a:endParaRPr lang="es-ES" b="0" dirty="0">
              <a:effectLst/>
            </a:endParaRPr>
          </a:p>
          <a:p>
            <a:pPr rtl="0" fontAlgn="base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Primero, los controladores ligeros: sin lógica de negocio, solo validación y delegación.</a:t>
            </a:r>
          </a:p>
          <a:p>
            <a:pPr rtl="0" fontAlgn="base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Segundo,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DTOs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todas las capas: las entidades JPA nunca se exponen directamente al cliente.</a:t>
            </a:r>
          </a:p>
          <a:p>
            <a:pPr rtl="0" fontAlgn="base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Tercero, autenticación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stateless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JWT: sin sesiones en servidor, control por roles USER y ADMIN.</a:t>
            </a:r>
          </a:p>
          <a:p>
            <a:pPr rtl="0" fontAlgn="base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Cuarto,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lazy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loading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JPA: carga diferida en relaciones para evitar consultas innecesarias.</a:t>
            </a:r>
          </a:p>
          <a:p>
            <a:pPr rtl="0" fontAlgn="base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quinto, caché bajo demanda con TMDB: el contenido solo se persiste en base de datos cuando hay interacción real de un usuario, minimizando la dependencia externa.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-end es una SPA construida con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19 y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TypeScript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página de inicio es representativa del patrón general: lanza múltiples consultas en paralelo con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TanStack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Query, que gestiona el ciclo de vida de las peticiones, la caché y la revalidación automática.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estado de autenticación se gestiona con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Zustand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 la comunicación HTTP se centraliza en una instancia Axios que añade el token JWT automáticamente en cada petición.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resultado es la página que veis: contenido en tendencia, recomendaciones personalizadas para el usuario autenticado y sugerencias de otros usuarios a seguir.</a:t>
            </a:r>
            <a:endParaRPr lang="es-ES" b="0" dirty="0">
              <a:effectLst/>
            </a:endParaRPr>
          </a:p>
          <a:p>
            <a:br>
              <a:rPr lang="es-E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ficha de detalle es probablemente la pantalla más compleja de la aplicación.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 poster,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backdrop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información completa del título obtenida de TMDB. Permite al usuario crear o editar su valoración con una puntuación de una a cinco estrellas, añadir el contenido a cualquiera de sus listas personalizadas y, en el caso de series, hacer seguimiento episodio a episodio.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También permite consultar las valoraciones de la comunidad y las recomendaciones personalizadas del sistema.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 esta lógica de sincronización con la base de datos y gestión de mutaciones está encapsulada en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hooks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personalizados, lo que permite que la página quede limpia y reutilizable.</a:t>
            </a:r>
            <a:endParaRPr lang="es-ES" b="0" dirty="0">
              <a:effectLst/>
            </a:endParaRPr>
          </a:p>
          <a:p>
            <a:br>
              <a:rPr lang="es-E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componente social de MovieMate se articula en torno al perfil de usuario.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Cada perfil muestra la actividad reciente, las listas creadas, estadísticas de visionado y las insignias de gamificación obtenidas.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red social permite seguir a otros usuarios, con un flujo de solicitud de seguimiento cuando el perfil es privado.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feed de actividad muestra en tiempo real lo que hacen los usuarios que sigues: valoraciones nuevas, listas creadas y contenido añadido.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pueden dar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comentar valoraciones y comentar listas públicas. Además, hay un sistema de moderación: los usuarios pueden reportar contenido inapropiado y el administrador gestiona esos reportes desde un panel dedicado.</a:t>
            </a:r>
            <a:endParaRPr lang="es-ES" b="0" dirty="0">
              <a:effectLst/>
            </a:endParaRPr>
          </a:p>
          <a:p>
            <a:br>
              <a:rPr lang="es-E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 de las funcionalidades técnicamente más interesantes es el sistema de notificaciones en tiempo real implementado con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el protocolo STOMP.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flujo es el siguiente: cuando el usuario se autentica, el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root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layout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la aplicación establece una conexión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persistente con el servidor.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Cuando ocurre un evento —alguien te sigue, alguien da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tu reseña, alguien comenta tu lista— el servidor detecta ese evento, genera la notificación y envía un mensaje STOMP directamente al canal del usuario destinatario.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cliente recibe el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actualiza instantáneamente el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badge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notificaciones en la barra de navegación.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polling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sin recargas: la respuesta es inmediata. Esta arquitectura es lo que diferencia una experiencia de red social real de simplemente consultar una tabla de base de datos cada diez segundos.</a:t>
            </a:r>
            <a:endParaRPr lang="es-ES" b="0" dirty="0">
              <a:effectLst/>
            </a:endParaRPr>
          </a:p>
          <a:p>
            <a:br>
              <a:rPr lang="es-E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MovieMate tiene una identidad visual coherente basada en el dominio del cine: fondo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navy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oscuro #0D121F, acento dorado #F5C518 para todos los elementos interactivos, tipografía Playfair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Display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los títulos y DM Sans para el cuerpo.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interfaz es completamente responsive. En la pantalla podéis ver el mismo contenido adaptado a escritorio,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iPad Air e iPhone.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escritorio, una barra lateral fija maximiza el espacio para los listados. En móvil, una barra inferior fija es más ergonómica para el uso con una mano.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 componentes se construyen sobre Radix UI, que garantiza accesibilidad ARIA-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compliant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forma nativa.</a:t>
            </a:r>
            <a:endParaRPr lang="es-ES" b="0" dirty="0">
              <a:effectLst/>
            </a:endParaRPr>
          </a:p>
          <a:p>
            <a:br>
              <a:rPr lang="es-E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calidad del back-end se valida con 340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unitarios automatizados implementados con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JUnit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y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Mockito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siguiendo el patrón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Arrange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-Assert.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suite cubre las seis capas del sistema:</a:t>
            </a:r>
            <a:endParaRPr lang="es-ES" b="0" dirty="0">
              <a:effectLst/>
            </a:endParaRPr>
          </a:p>
          <a:p>
            <a:pPr rtl="0" fontAlgn="base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Controladores, para validación HTTP y mapeo de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DTOs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 fontAlgn="base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Servicios, que son la capa más crítica, donde reside la lógica de negocio.</a:t>
            </a:r>
          </a:p>
          <a:p>
            <a:pPr rtl="0" fontAlgn="base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Repositorios, para consultas JPA personalizadas.</a:t>
            </a:r>
          </a:p>
          <a:p>
            <a:pPr rtl="0" fontAlgn="base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Seguridad, incluyendo filtros JWT y control de roles.</a:t>
            </a:r>
          </a:p>
          <a:p>
            <a:pPr rtl="0" fontAlgn="base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integración que validan flujos end-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-end del back-end.</a:t>
            </a: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análisis de cobertura se genera automáticamente con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JaCoCo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cada ejecución del pipeline de CI.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son un añadido al final: se ejecutan en cada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un fallo de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bloquea la integración del código en la rama principal.</a:t>
            </a:r>
            <a:endParaRPr lang="es-ES" b="0" dirty="0">
              <a:effectLst/>
            </a:endParaRPr>
          </a:p>
          <a:p>
            <a:br>
              <a:rPr lang="es-E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despliegue está completamente automatizado mediante dos pipelines de GitHub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pipeline de integración continua se ejecuta en cada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lanza los 340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construye el JAR del back-end, construye el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-end y valida que los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Dockerfiles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son correctos. Cualquier fallo bloquea la integración.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pipeline de entrega continua se activa cuando hay cambios en la rama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construye las imágenes Docker del back-end y del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-end, las publica en GitHub Container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Registry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las despliega en un clúster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local con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Minikube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Dockerfile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back-end usa un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multi-stage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una imagen Maven para compilar, y una imagen JRE ligera de solo ejecución para producción, con un usuario no privilegiado por seguridad.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resultado es una imagen mínima, segura y reproducible.</a:t>
            </a:r>
            <a:endParaRPr lang="es-ES" b="0" dirty="0">
              <a:effectLst/>
            </a:endParaRPr>
          </a:p>
          <a:p>
            <a:br>
              <a:rPr lang="es-ES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DEMO EN VIVO: </a:t>
            </a:r>
            <a:r>
              <a:rPr dirty="0" err="1"/>
              <a:t>registro</a:t>
            </a:r>
            <a:r>
              <a:rPr dirty="0"/>
              <a:t> → </a:t>
            </a:r>
            <a:r>
              <a:rPr dirty="0" err="1"/>
              <a:t>inicio</a:t>
            </a:r>
            <a:r>
              <a:rPr dirty="0"/>
              <a:t> → </a:t>
            </a:r>
            <a:r>
              <a:rPr dirty="0" err="1"/>
              <a:t>buscar</a:t>
            </a:r>
            <a:r>
              <a:rPr dirty="0"/>
              <a:t> </a:t>
            </a:r>
            <a:r>
              <a:rPr dirty="0" err="1"/>
              <a:t>película</a:t>
            </a:r>
            <a:r>
              <a:rPr dirty="0"/>
              <a:t> → </a:t>
            </a:r>
            <a:r>
              <a:rPr dirty="0" err="1"/>
              <a:t>valorar</a:t>
            </a:r>
            <a:r>
              <a:rPr dirty="0"/>
              <a:t> → </a:t>
            </a:r>
            <a:r>
              <a:rPr dirty="0" err="1"/>
              <a:t>añadir</a:t>
            </a:r>
            <a:r>
              <a:rPr dirty="0"/>
              <a:t> a </a:t>
            </a:r>
            <a:r>
              <a:rPr dirty="0" err="1"/>
              <a:t>lista</a:t>
            </a:r>
            <a:r>
              <a:rPr dirty="0"/>
              <a:t> → </a:t>
            </a:r>
            <a:r>
              <a:rPr dirty="0" err="1"/>
              <a:t>perfil</a:t>
            </a:r>
            <a:r>
              <a:rPr dirty="0"/>
              <a:t> → </a:t>
            </a:r>
            <a:r>
              <a:rPr dirty="0" err="1"/>
              <a:t>notificación</a:t>
            </a:r>
            <a:r>
              <a:rPr dirty="0"/>
              <a:t> RT → admin. Si </a:t>
            </a:r>
            <a:r>
              <a:rPr dirty="0" err="1"/>
              <a:t>falla</a:t>
            </a:r>
            <a:r>
              <a:rPr dirty="0"/>
              <a:t>, </a:t>
            </a:r>
            <a:r>
              <a:rPr dirty="0" err="1"/>
              <a:t>usa</a:t>
            </a:r>
            <a:r>
              <a:rPr dirty="0"/>
              <a:t> </a:t>
            </a:r>
            <a:r>
              <a:rPr dirty="0" err="1"/>
              <a:t>estas</a:t>
            </a:r>
            <a:r>
              <a:rPr dirty="0"/>
              <a:t> </a:t>
            </a:r>
            <a:r>
              <a:rPr dirty="0" err="1"/>
              <a:t>capturas</a:t>
            </a:r>
            <a:r>
              <a:rPr dirty="0"/>
              <a:t> y </a:t>
            </a:r>
            <a:r>
              <a:rPr dirty="0" err="1"/>
              <a:t>explica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flujo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ellas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MovieMate cumple todos los objetivos que se plantearon al inicio del proyecto.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ha construido una plataforma full-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stack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funcional con todas las funcionalidades planificadas y desplegable en producción.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arquitectura modular en capas ha demostrado ser la elección correcta para este alcance: favorece la separación de responsabilidades, la mantenibilidad y la capacidad de prueba.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integración con TMDB bajo demanda minimiza la dependencia externa y optimiza el rendimiento. Los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ofrecen notificaciones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sin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polling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Los 340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automatizados con cobertura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JaCoCo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garantizan la calidad del código. Y la interfaz responsive con componentes accesibles funciona bien en cualquier dispositivo.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conjunto, MovieMate demuestra que es viable integrar un conjunto amplio y heterogéneo de tecnologías modernas en un proyecto académico de esta escala.</a:t>
            </a:r>
            <a:endParaRPr lang="es-ES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pesar de que el sistema es funcional y completo, el análisis realizado durante el desarrollo ha permitido identificar cuatro líneas claras de evolución.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primera es el desarrollo de una app móvil nativa para iOS y Android. Con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Native se podría reutilizar gran parte de la lógica del cliente actual, lo que haría viable la expansión multiplataforma con un esfuerzo relativamente contenido.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segunda es un motor de recomendaciones basado en machine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El sistema actual usa reglas simples derivadas del historial de valoraciones; un enfoque de filtrado colaborativo ofrecería sugerencias mucho más precisas.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tercera es la integración con plataformas de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streaming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mostrar en qué servicios está disponible cada título, e incorporar funcionalidades como la planificación de visualizaciones en grupo.</a:t>
            </a:r>
            <a:endParaRPr lang="es-ES" b="0" dirty="0">
              <a:effectLst/>
            </a:endParaRPr>
          </a:p>
          <a:p>
            <a:pPr rtl="0"/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 la cuarta, desde el punto de vista arquitectónico, es la migración a microservicios para escalar de forma independiente los componentes críticos del sistema si la carga de usuarios lo requiriese.</a:t>
            </a:r>
            <a:endParaRPr lang="es-ES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jp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10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73152" cy="652881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5C518"/>
                </a:solidFill>
              </a:rPr>
              <a:t>MovieMate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C8D0E0"/>
                </a:solidFill>
              </a:rPr>
              <a:t>App de gestión y valoración de películas y series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657600"/>
            <a:ext cx="7616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Christian Matas Conesa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34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A8AA8"/>
                </a:solidFill>
              </a:rPr>
              <a:t>Tutor: Francisco García Sánchez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89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7A8AA8"/>
                </a:solidFill>
              </a:rPr>
              <a:t>Grado </a:t>
            </a:r>
            <a:r>
              <a:rPr sz="1600" b="0" i="0" dirty="0" err="1">
                <a:solidFill>
                  <a:srgbClr val="7A8AA8"/>
                </a:solidFill>
              </a:rPr>
              <a:t>en</a:t>
            </a:r>
            <a:r>
              <a:rPr sz="1600" b="0" i="0" dirty="0">
                <a:solidFill>
                  <a:srgbClr val="7A8AA8"/>
                </a:solidFill>
              </a:rPr>
              <a:t> Ingeniería </a:t>
            </a:r>
            <a:r>
              <a:rPr sz="1600" b="0" i="0" dirty="0" err="1">
                <a:solidFill>
                  <a:srgbClr val="7A8AA8"/>
                </a:solidFill>
              </a:rPr>
              <a:t>Informática</a:t>
            </a:r>
            <a:r>
              <a:rPr sz="1600" b="0" i="0" dirty="0">
                <a:solidFill>
                  <a:srgbClr val="7A8AA8"/>
                </a:solidFill>
              </a:rPr>
              <a:t>  ·  Universidad de Murcia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64" y="8164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Índice de contenidos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162348"/>
            <a:ext cx="1097280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162348"/>
            <a:ext cx="64008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26939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2635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Introducción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58297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Contexto, problema y solución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67019"/>
            <a:ext cx="1097280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1967019"/>
            <a:ext cx="64008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131612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031027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Estado del arte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387644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Plataformas existentes y stack tecnológico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71692"/>
            <a:ext cx="1097280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2771692"/>
            <a:ext cx="64008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2936284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8357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FFFFFF"/>
                </a:solidFill>
              </a:rPr>
              <a:t>Objetivos</a:t>
            </a:r>
            <a:r>
              <a:rPr sz="2000" b="1" i="0" dirty="0">
                <a:solidFill>
                  <a:srgbClr val="FFFFFF"/>
                </a:solidFill>
              </a:rPr>
              <a:t> y </a:t>
            </a:r>
            <a:r>
              <a:rPr sz="2000" b="1" i="0" dirty="0" err="1">
                <a:solidFill>
                  <a:srgbClr val="FFFFFF"/>
                </a:solidFill>
              </a:rPr>
              <a:t>metodología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3192316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Qué construimos y cómo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76364"/>
            <a:ext cx="1097280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3576364"/>
            <a:ext cx="64008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740956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640372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FFFFFF"/>
                </a:solidFill>
              </a:rPr>
              <a:t>Diseño</a:t>
            </a:r>
            <a:r>
              <a:rPr sz="2000" b="1" i="0" dirty="0">
                <a:solidFill>
                  <a:srgbClr val="FFFFFF"/>
                </a:solidFill>
              </a:rPr>
              <a:t> </a:t>
            </a:r>
            <a:r>
              <a:rPr lang="es-ES" sz="2000" b="1" i="0" dirty="0">
                <a:solidFill>
                  <a:srgbClr val="FFFFFF"/>
                </a:solidFill>
              </a:rPr>
              <a:t>e implementación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25880" y="3996988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7A8AA8"/>
                </a:solidFill>
              </a:rPr>
              <a:t>Arquitectura</a:t>
            </a:r>
            <a:r>
              <a:rPr sz="1400" b="0" i="0" dirty="0">
                <a:solidFill>
                  <a:srgbClr val="7A8AA8"/>
                </a:solidFill>
              </a:rPr>
              <a:t> · Back-end · Front-end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381036"/>
            <a:ext cx="1097280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4381036"/>
            <a:ext cx="64008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545628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44504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FFFFFF"/>
                </a:solidFill>
              </a:rPr>
              <a:t>Pruebas</a:t>
            </a:r>
            <a:r>
              <a:rPr sz="2000" b="1" i="0" dirty="0">
                <a:solidFill>
                  <a:srgbClr val="FFFFFF"/>
                </a:solidFill>
              </a:rPr>
              <a:t> y </a:t>
            </a:r>
            <a:r>
              <a:rPr sz="2000" b="1" i="0" dirty="0" err="1">
                <a:solidFill>
                  <a:srgbClr val="FFFFFF"/>
                </a:solidFill>
              </a:rPr>
              <a:t>despliegue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325880" y="4801660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400" b="0" i="0" dirty="0">
                <a:solidFill>
                  <a:srgbClr val="7A8AA8"/>
                </a:solidFill>
              </a:rPr>
              <a:t>Calidad</a:t>
            </a:r>
            <a:r>
              <a:rPr sz="1400" b="0" i="0" dirty="0">
                <a:solidFill>
                  <a:srgbClr val="7A8AA8"/>
                </a:solidFill>
              </a:rPr>
              <a:t>· Docker · CI/CD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185708"/>
            <a:ext cx="1097280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5185708"/>
            <a:ext cx="64008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5350300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24971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Conclusiones y futuro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60633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Logros y líneas de evolución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 err="1">
                <a:solidFill>
                  <a:srgbClr val="FFFFFF"/>
                </a:solidFill>
              </a:rPr>
              <a:t>Introducción</a:t>
            </a:r>
            <a:r>
              <a:rPr sz="3000" b="1" i="0" dirty="0">
                <a:solidFill>
                  <a:srgbClr val="FFFFFF"/>
                </a:solidFill>
              </a:rPr>
              <a:t> — El </a:t>
            </a:r>
            <a:r>
              <a:rPr sz="3000" b="1" i="0" dirty="0" err="1">
                <a:solidFill>
                  <a:srgbClr val="FFFFFF"/>
                </a:solidFill>
              </a:rPr>
              <a:t>problema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Introducción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1051560"/>
            <a:ext cx="109728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5C518"/>
                </a:solidFill>
              </a:rPr>
              <a:t>Los </a:t>
            </a:r>
            <a:r>
              <a:rPr sz="2200" b="1" i="0" dirty="0" err="1">
                <a:solidFill>
                  <a:srgbClr val="F5C518"/>
                </a:solidFill>
              </a:rPr>
              <a:t>usuarios</a:t>
            </a:r>
            <a:r>
              <a:rPr sz="2200" b="1" i="0" dirty="0">
                <a:solidFill>
                  <a:srgbClr val="F5C518"/>
                </a:solidFill>
              </a:rPr>
              <a:t> </a:t>
            </a:r>
            <a:r>
              <a:rPr sz="2200" b="1" i="0" dirty="0" err="1">
                <a:solidFill>
                  <a:srgbClr val="F5C518"/>
                </a:solidFill>
              </a:rPr>
              <a:t>necesitan</a:t>
            </a:r>
            <a:r>
              <a:rPr sz="2200" b="1" i="0" dirty="0">
                <a:solidFill>
                  <a:srgbClr val="F5C518"/>
                </a:solidFill>
              </a:rPr>
              <a:t> usar </a:t>
            </a:r>
            <a:r>
              <a:rPr sz="2200" b="1" i="0" dirty="0" err="1">
                <a:solidFill>
                  <a:srgbClr val="F5C518"/>
                </a:solidFill>
              </a:rPr>
              <a:t>múltiples</a:t>
            </a:r>
            <a:r>
              <a:rPr sz="2200" b="1" i="0" dirty="0">
                <a:solidFill>
                  <a:srgbClr val="F5C518"/>
                </a:solidFill>
              </a:rPr>
              <a:t> </a:t>
            </a:r>
            <a:r>
              <a:rPr sz="2200" b="1" i="0" dirty="0" err="1">
                <a:solidFill>
                  <a:srgbClr val="F5C518"/>
                </a:solidFill>
              </a:rPr>
              <a:t>plataformas</a:t>
            </a:r>
            <a:r>
              <a:rPr sz="2200" b="1" i="0" dirty="0">
                <a:solidFill>
                  <a:srgbClr val="F5C518"/>
                </a:solidFill>
              </a:rPr>
              <a:t>…</a:t>
            </a:r>
          </a:p>
        </p:txBody>
      </p:sp>
      <p:pic>
        <p:nvPicPr>
          <p:cNvPr id="9" name="Picture 8" descr="letterbox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3474720" cy="305809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0" name="Picture 9" descr="imdb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755331"/>
            <a:ext cx="3520440" cy="274782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65465" y="1755331"/>
            <a:ext cx="3355975" cy="274783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548638" y="4956048"/>
            <a:ext cx="3474721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4992624"/>
            <a:ext cx="3383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7A8AA8"/>
                </a:solidFill>
              </a:rPr>
              <a:t>Letterboxd — solo cine, sin series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4956048"/>
            <a:ext cx="352044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4992624"/>
            <a:ext cx="3337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7A8AA8"/>
                </a:solidFill>
              </a:rPr>
              <a:t>IMDb — </a:t>
            </a:r>
            <a:r>
              <a:rPr sz="1300" b="0" i="1" dirty="0" err="1">
                <a:solidFill>
                  <a:srgbClr val="7A8AA8"/>
                </a:solidFill>
              </a:rPr>
              <a:t>metadatos</a:t>
            </a:r>
            <a:r>
              <a:rPr sz="1300" b="0" i="1" dirty="0">
                <a:solidFill>
                  <a:srgbClr val="7A8AA8"/>
                </a:solidFill>
              </a:rPr>
              <a:t>, sin red social real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4956048"/>
            <a:ext cx="3337561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19" y="4992624"/>
            <a:ext cx="324612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 err="1">
                <a:solidFill>
                  <a:srgbClr val="7A8AA8"/>
                </a:solidFill>
              </a:rPr>
              <a:t>Serializd</a:t>
            </a:r>
            <a:r>
              <a:rPr sz="1300" b="0" i="1" dirty="0">
                <a:solidFill>
                  <a:srgbClr val="7A8AA8"/>
                </a:solidFill>
              </a:rPr>
              <a:t> — solo series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39" y="5394960"/>
            <a:ext cx="10972801" cy="73152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468112"/>
            <a:ext cx="109270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5C518"/>
                </a:solidFill>
              </a:rPr>
              <a:t>⟶  </a:t>
            </a:r>
            <a:r>
              <a:rPr sz="2000" b="1" i="0" dirty="0" err="1">
                <a:solidFill>
                  <a:srgbClr val="F5C518"/>
                </a:solidFill>
              </a:rPr>
              <a:t>Fragmentación</a:t>
            </a:r>
            <a:r>
              <a:rPr sz="2000" b="1" i="0" dirty="0">
                <a:solidFill>
                  <a:srgbClr val="F5C518"/>
                </a:solidFill>
              </a:rPr>
              <a:t>: </a:t>
            </a:r>
            <a:r>
              <a:rPr sz="2000" b="1" i="0" dirty="0" err="1">
                <a:solidFill>
                  <a:srgbClr val="F5C518"/>
                </a:solidFill>
              </a:rPr>
              <a:t>historial</a:t>
            </a:r>
            <a:r>
              <a:rPr sz="2000" b="1" i="0" dirty="0">
                <a:solidFill>
                  <a:srgbClr val="F5C518"/>
                </a:solidFill>
              </a:rPr>
              <a:t> </a:t>
            </a:r>
            <a:r>
              <a:rPr sz="2000" b="1" i="0" dirty="0" err="1">
                <a:solidFill>
                  <a:srgbClr val="F5C518"/>
                </a:solidFill>
              </a:rPr>
              <a:t>disperso</a:t>
            </a:r>
            <a:r>
              <a:rPr sz="2000" b="1" i="0" dirty="0">
                <a:solidFill>
                  <a:srgbClr val="F5C518"/>
                </a:solidFill>
              </a:rPr>
              <a:t> · </a:t>
            </a:r>
            <a:r>
              <a:rPr sz="2000" b="1" i="0" dirty="0" err="1">
                <a:solidFill>
                  <a:srgbClr val="F5C518"/>
                </a:solidFill>
              </a:rPr>
              <a:t>valoraciones</a:t>
            </a:r>
            <a:r>
              <a:rPr sz="2000" b="1" i="0" dirty="0">
                <a:solidFill>
                  <a:srgbClr val="F5C518"/>
                </a:solidFill>
              </a:rPr>
              <a:t> </a:t>
            </a:r>
            <a:r>
              <a:rPr sz="2000" b="1" i="0" dirty="0" err="1">
                <a:solidFill>
                  <a:srgbClr val="F5C518"/>
                </a:solidFill>
              </a:rPr>
              <a:t>separadas</a:t>
            </a:r>
            <a:r>
              <a:rPr sz="2000" b="1" i="0" dirty="0">
                <a:solidFill>
                  <a:srgbClr val="F5C518"/>
                </a:solidFill>
              </a:rPr>
              <a:t> · sin red social </a:t>
            </a:r>
            <a:r>
              <a:rPr sz="2000" b="1" i="0" dirty="0" err="1">
                <a:solidFill>
                  <a:srgbClr val="F5C518"/>
                </a:solidFill>
              </a:rPr>
              <a:t>unificada</a:t>
            </a:r>
            <a:endParaRPr sz="2000" b="1" i="0" dirty="0">
              <a:solidFill>
                <a:srgbClr val="F5C51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Introducción — MovieMate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Introducción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54245"/>
            <a:ext cx="762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C8D0E0"/>
                </a:solidFill>
              </a:rPr>
              <a:t>Una </a:t>
            </a:r>
            <a:r>
              <a:rPr b="0" i="1" dirty="0" err="1">
                <a:solidFill>
                  <a:srgbClr val="C8D0E0"/>
                </a:solidFill>
              </a:rPr>
              <a:t>plataforma</a:t>
            </a:r>
            <a:r>
              <a:rPr b="0" i="1" dirty="0">
                <a:solidFill>
                  <a:srgbClr val="C8D0E0"/>
                </a:solidFill>
              </a:rPr>
              <a:t> </a:t>
            </a:r>
            <a:r>
              <a:rPr b="0" i="1" dirty="0" err="1">
                <a:solidFill>
                  <a:srgbClr val="C8D0E0"/>
                </a:solidFill>
              </a:rPr>
              <a:t>unificada</a:t>
            </a:r>
            <a:r>
              <a:rPr b="0" i="1" dirty="0">
                <a:solidFill>
                  <a:srgbClr val="C8D0E0"/>
                </a:solidFill>
              </a:rPr>
              <a:t> para </a:t>
            </a:r>
            <a:r>
              <a:rPr b="0" i="1" dirty="0" err="1">
                <a:solidFill>
                  <a:srgbClr val="C8D0E0"/>
                </a:solidFill>
              </a:rPr>
              <a:t>gestión</a:t>
            </a:r>
            <a:r>
              <a:rPr b="0" i="1" dirty="0">
                <a:solidFill>
                  <a:srgbClr val="C8D0E0"/>
                </a:solidFill>
              </a:rPr>
              <a:t>, </a:t>
            </a:r>
            <a:r>
              <a:rPr b="0" i="1" dirty="0" err="1">
                <a:solidFill>
                  <a:srgbClr val="C8D0E0"/>
                </a:solidFill>
              </a:rPr>
              <a:t>valoración</a:t>
            </a:r>
            <a:r>
              <a:rPr b="0" i="1" dirty="0">
                <a:solidFill>
                  <a:srgbClr val="C8D0E0"/>
                </a:solidFill>
              </a:rPr>
              <a:t> y </a:t>
            </a:r>
            <a:r>
              <a:rPr b="0" i="1" dirty="0" err="1">
                <a:solidFill>
                  <a:srgbClr val="C8D0E0"/>
                </a:solidFill>
              </a:rPr>
              <a:t>descubrimiento</a:t>
            </a:r>
            <a:r>
              <a:rPr b="0" i="1" dirty="0">
                <a:solidFill>
                  <a:srgbClr val="C8D0E0"/>
                </a:solidFill>
              </a:rPr>
              <a:t> audiovisual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1354903"/>
            <a:ext cx="3154680" cy="685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66760" y="1354903"/>
            <a:ext cx="64008" cy="685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30768" y="1524180"/>
            <a:ext cx="30906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🎬 </a:t>
            </a:r>
            <a:r>
              <a:rPr sz="1600" b="1" i="0" dirty="0" err="1">
                <a:solidFill>
                  <a:srgbClr val="FFFFFF"/>
                </a:solidFill>
              </a:rPr>
              <a:t>Películas</a:t>
            </a:r>
            <a:r>
              <a:rPr sz="1600" b="1" i="0" dirty="0">
                <a:solidFill>
                  <a:srgbClr val="FFFFFF"/>
                </a:solidFill>
              </a:rPr>
              <a:t> + series</a:t>
            </a:r>
            <a:r>
              <a:rPr lang="es-ES" sz="1600" b="1" i="0" dirty="0">
                <a:solidFill>
                  <a:srgbClr val="FFFFFF"/>
                </a:solidFill>
              </a:rPr>
              <a:t> 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66760" y="2132143"/>
            <a:ext cx="3154680" cy="685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66760" y="2132143"/>
            <a:ext cx="64008" cy="685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0768" y="2308946"/>
            <a:ext cx="30906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⭐ </a:t>
            </a:r>
            <a:r>
              <a:rPr sz="1600" b="1" i="0" dirty="0" err="1">
                <a:solidFill>
                  <a:srgbClr val="FFFFFF"/>
                </a:solidFill>
              </a:rPr>
              <a:t>Valoraciones</a:t>
            </a:r>
            <a:r>
              <a:rPr sz="1600" b="1" i="0" dirty="0">
                <a:solidFill>
                  <a:srgbClr val="FFFFFF"/>
                </a:solidFill>
              </a:rPr>
              <a:t> / </a:t>
            </a:r>
            <a:r>
              <a:rPr sz="1600" b="1" i="0" dirty="0" err="1">
                <a:solidFill>
                  <a:srgbClr val="FFFFFF"/>
                </a:solidFill>
              </a:rPr>
              <a:t>reseñas</a:t>
            </a:r>
            <a:r>
              <a:rPr lang="es-ES" sz="1600" b="1" i="0" dirty="0">
                <a:solidFill>
                  <a:srgbClr val="FFFFFF"/>
                </a:solidFill>
              </a:rPr>
              <a:t> 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66760" y="2909383"/>
            <a:ext cx="3154680" cy="685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66760" y="2909383"/>
            <a:ext cx="64008" cy="685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0768" y="3083006"/>
            <a:ext cx="30906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📋 </a:t>
            </a:r>
            <a:r>
              <a:rPr sz="1600" b="1" i="0" dirty="0" err="1">
                <a:solidFill>
                  <a:srgbClr val="FFFFFF"/>
                </a:solidFill>
              </a:rPr>
              <a:t>Listas</a:t>
            </a:r>
            <a:r>
              <a:rPr sz="1600" b="1" i="0" dirty="0">
                <a:solidFill>
                  <a:srgbClr val="FFFFFF"/>
                </a:solidFill>
              </a:rPr>
              <a:t> </a:t>
            </a:r>
            <a:r>
              <a:rPr sz="1600" b="1" i="0" dirty="0" err="1">
                <a:solidFill>
                  <a:srgbClr val="FFFFFF"/>
                </a:solidFill>
              </a:rPr>
              <a:t>personalizadas</a:t>
            </a:r>
            <a:r>
              <a:rPr lang="es-ES" sz="1600" b="1" i="0" dirty="0">
                <a:solidFill>
                  <a:srgbClr val="FFFFFF"/>
                </a:solidFill>
              </a:rPr>
              <a:t> 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366760" y="3686623"/>
            <a:ext cx="3154680" cy="685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66760" y="3686623"/>
            <a:ext cx="64008" cy="685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30768" y="3860246"/>
            <a:ext cx="30906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👥 Red social + feed</a:t>
            </a:r>
            <a:r>
              <a:rPr lang="es-ES" sz="1600" b="1" i="0" dirty="0">
                <a:solidFill>
                  <a:srgbClr val="FFFFFF"/>
                </a:solidFill>
              </a:rPr>
              <a:t> 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366760" y="4463863"/>
            <a:ext cx="3154680" cy="685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66760" y="4463863"/>
            <a:ext cx="64008" cy="685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30768" y="4637486"/>
            <a:ext cx="30906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🔔 </a:t>
            </a:r>
            <a:r>
              <a:rPr lang="es-ES" sz="1600" b="1" i="0" dirty="0">
                <a:solidFill>
                  <a:srgbClr val="FFFFFF"/>
                </a:solidFill>
              </a:rPr>
              <a:t>Notificaciones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366760" y="5241103"/>
            <a:ext cx="3154680" cy="685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66760" y="5241103"/>
            <a:ext cx="64008" cy="685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0768" y="5410373"/>
            <a:ext cx="30906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🏆 </a:t>
            </a:r>
            <a:r>
              <a:rPr sz="1600" b="1" i="0" dirty="0" err="1">
                <a:solidFill>
                  <a:srgbClr val="FFFFFF"/>
                </a:solidFill>
              </a:rPr>
              <a:t>Gamificación</a:t>
            </a:r>
            <a:endParaRPr sz="1600" b="1" i="0" dirty="0">
              <a:solidFill>
                <a:srgbClr val="FFFFFF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136384"/>
            <a:ext cx="7623810" cy="3370954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Estado del arte — Comparativa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Estado del arte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6526" y="1998164"/>
            <a:ext cx="2798064" cy="42062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19678" y="2062171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21F"/>
                </a:solidFill>
              </a:rPr>
              <a:t>Característica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1166" y="1998164"/>
            <a:ext cx="1563624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54318" y="2062171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IMDb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81366" y="1998164"/>
            <a:ext cx="1563624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54518" y="2062171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Letterboxd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81566" y="1998164"/>
            <a:ext cx="1563624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54718" y="2062171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Serializd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1766" y="1998164"/>
            <a:ext cx="1655064" cy="420624"/>
          </a:xfrm>
          <a:prstGeom prst="rect">
            <a:avLst/>
          </a:prstGeom>
          <a:solidFill>
            <a:srgbClr val="0E2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54918" y="2062171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6EE76E"/>
                </a:solidFill>
              </a:rPr>
              <a:t>MovieMate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46526" y="2418788"/>
            <a:ext cx="279806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19678" y="249194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Películas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81166" y="2418788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54318" y="24919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1366" y="2418788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54518" y="24919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81566" y="2418788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54718" y="24919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81766" y="2418788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54918" y="2491940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46526" y="2839412"/>
            <a:ext cx="279806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19678" y="291256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Series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81166" y="2839412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54318" y="291256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81366" y="2839412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54518" y="291256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81566" y="2839412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54718" y="291256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81766" y="2839412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54918" y="2912564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6526" y="3260035"/>
            <a:ext cx="279806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519678" y="333318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FFFFFF"/>
                </a:solidFill>
              </a:rPr>
              <a:t>Valoraciones</a:t>
            </a:r>
            <a:r>
              <a:rPr sz="1300" b="0" i="0" dirty="0">
                <a:solidFill>
                  <a:srgbClr val="FFFFFF"/>
                </a:solidFill>
              </a:rPr>
              <a:t>/</a:t>
            </a:r>
            <a:r>
              <a:rPr sz="1300" b="0" i="0" dirty="0" err="1">
                <a:solidFill>
                  <a:srgbClr val="FFFFFF"/>
                </a:solidFill>
              </a:rPr>
              <a:t>reseñas</a:t>
            </a:r>
            <a:endParaRPr sz="1300" b="0" i="0" dirty="0">
              <a:solidFill>
                <a:srgbClr val="FFFFFF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281166" y="3260035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54318" y="333318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81366" y="3260035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954518" y="333318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81566" y="3260035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554718" y="333318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81766" y="3260035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54918" y="3333188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46526" y="3680660"/>
            <a:ext cx="279806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519678" y="375381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Listas personalizadas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81166" y="3680660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354318" y="375381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81366" y="3680660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54518" y="375381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81566" y="3680660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554718" y="375381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81766" y="3680660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54918" y="3753812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46526" y="4101284"/>
            <a:ext cx="279806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519678" y="417443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Red social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81166" y="4101284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354318" y="417443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81366" y="4101284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954518" y="417443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81566" y="4101284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554718" y="417443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Básica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81766" y="4101284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154918" y="4174436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46526" y="4521908"/>
            <a:ext cx="279806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519678" y="459506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300" b="0" i="0" dirty="0">
                <a:solidFill>
                  <a:srgbClr val="FFFFFF"/>
                </a:solidFill>
              </a:rPr>
              <a:t>Notificaciones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81166" y="4521908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354318" y="459506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81366" y="4521908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954518" y="459506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81566" y="4521908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554718" y="459506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081766" y="4521908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154918" y="4595060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446526" y="4942532"/>
            <a:ext cx="279806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519678" y="501568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Gamificación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81166" y="4942532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354318" y="501568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881366" y="4942532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954518" y="501568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481566" y="4942532"/>
            <a:ext cx="1563624" cy="402336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554718" y="501568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081766" y="4942532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154918" y="5015684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446526" y="5363156"/>
            <a:ext cx="279806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519678" y="543630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Seg. de episodios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81166" y="5363156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354318" y="543630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881366" y="5363156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954518" y="543630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✗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481566" y="5363156"/>
            <a:ext cx="1563624" cy="402336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554718" y="543630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</a:rPr>
              <a:t>✓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81766" y="5363156"/>
            <a:ext cx="1655064" cy="402336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154918" y="5436308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EE76E"/>
                </a:solidFill>
              </a:rPr>
              <a:t>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</a:rPr>
              <a:t>Estado del </a:t>
            </a:r>
            <a:r>
              <a:rPr sz="3000" b="1" i="0" dirty="0" err="1">
                <a:solidFill>
                  <a:srgbClr val="FFFFFF"/>
                </a:solidFill>
              </a:rPr>
              <a:t>arte</a:t>
            </a:r>
            <a:r>
              <a:rPr sz="3000" b="1" i="0" dirty="0">
                <a:solidFill>
                  <a:srgbClr val="FFFFFF"/>
                </a:solidFill>
              </a:rPr>
              <a:t> — Stack </a:t>
            </a:r>
            <a:r>
              <a:rPr sz="3000" b="1" i="0" dirty="0" err="1">
                <a:solidFill>
                  <a:srgbClr val="FFFFFF"/>
                </a:solidFill>
              </a:rPr>
              <a:t>tecnológico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Estado del arte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398890" y="1097280"/>
            <a:ext cx="3611880" cy="53949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98890" y="1097280"/>
            <a:ext cx="3611880" cy="4754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0330" y="113385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Back-end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3482" y="169164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3482" y="1691640"/>
            <a:ext cx="54864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8930" y="180136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8D0E0"/>
                </a:solidFill>
              </a:rPr>
              <a:t>Java 21 + Spring Boot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3482" y="242316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3482" y="2423160"/>
            <a:ext cx="54864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8930" y="253288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8D0E0"/>
                </a:solidFill>
              </a:rPr>
              <a:t>Spring Security + JWT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3482" y="315468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3482" y="3154680"/>
            <a:ext cx="54864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8930" y="326440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Spring Data JPA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3482" y="388620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3482" y="3886200"/>
            <a:ext cx="54864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8930" y="399592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PostgreSQL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3482" y="461772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3482" y="4617720"/>
            <a:ext cx="54864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8930" y="472744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WebSockets (STOMP)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482" y="534924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3482" y="5349240"/>
            <a:ext cx="54864" cy="6217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8930" y="545896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OpenAPI / Swagger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85090" y="1097280"/>
            <a:ext cx="3611880" cy="53949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85090" y="1097280"/>
            <a:ext cx="3611880" cy="475488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76530" y="113385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Front-end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49682" y="169164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49682" y="1691640"/>
            <a:ext cx="54864" cy="62179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05130" y="180136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8D0E0"/>
                </a:solidFill>
              </a:rPr>
              <a:t>React 19 + TypeScript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49682" y="242316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449682" y="2423160"/>
            <a:ext cx="54864" cy="62179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05130" y="253288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TanStack Query v5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49682" y="315468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449682" y="3154680"/>
            <a:ext cx="54864" cy="62179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05130" y="326440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Zustand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49682" y="388620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449682" y="3886200"/>
            <a:ext cx="54864" cy="62179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05130" y="399592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Tailwind CSS 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49682" y="461772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49682" y="4617720"/>
            <a:ext cx="54864" cy="62179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05130" y="472744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8D0E0"/>
                </a:solidFill>
              </a:rPr>
              <a:t>Radix UI / </a:t>
            </a:r>
            <a:r>
              <a:rPr sz="1600" b="0" i="0" dirty="0" err="1">
                <a:solidFill>
                  <a:srgbClr val="C8D0E0"/>
                </a:solidFill>
              </a:rPr>
              <a:t>shadcn</a:t>
            </a:r>
            <a:r>
              <a:rPr sz="1600" b="0" i="0" dirty="0">
                <a:solidFill>
                  <a:srgbClr val="C8D0E0"/>
                </a:solidFill>
              </a:rPr>
              <a:t>/</a:t>
            </a:r>
            <a:r>
              <a:rPr sz="1600" b="0" i="0" dirty="0" err="1">
                <a:solidFill>
                  <a:srgbClr val="C8D0E0"/>
                </a:solidFill>
              </a:rPr>
              <a:t>ui</a:t>
            </a:r>
            <a:endParaRPr sz="1600" b="0" i="0" dirty="0">
              <a:solidFill>
                <a:srgbClr val="C8D0E0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449682" y="534924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449682" y="5349240"/>
            <a:ext cx="54864" cy="621792"/>
          </a:xfrm>
          <a:prstGeom prst="rect">
            <a:avLst/>
          </a:prstGeom>
          <a:solidFill>
            <a:srgbClr val="61D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605130" y="545896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React Router v6 + Axios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71290" y="1097280"/>
            <a:ext cx="3611880" cy="53949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171290" y="1097280"/>
            <a:ext cx="3611880" cy="475488"/>
          </a:xfrm>
          <a:prstGeom prst="rect">
            <a:avLst/>
          </a:prstGeom>
          <a:solidFill>
            <a:srgbClr val="6EE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62730" y="113385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Infraestructura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35882" y="169164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335882" y="1691640"/>
            <a:ext cx="54864" cy="621792"/>
          </a:xfrm>
          <a:prstGeom prst="rect">
            <a:avLst/>
          </a:prstGeom>
          <a:solidFill>
            <a:srgbClr val="6EE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491330" y="180136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TMDB API (metadatos)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35882" y="242316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335882" y="2423160"/>
            <a:ext cx="54864" cy="621792"/>
          </a:xfrm>
          <a:prstGeom prst="rect">
            <a:avLst/>
          </a:prstGeom>
          <a:solidFill>
            <a:srgbClr val="6EE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91330" y="253288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Docker + Docker Compose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35882" y="315468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335882" y="3154680"/>
            <a:ext cx="54864" cy="621792"/>
          </a:xfrm>
          <a:prstGeom prst="rect">
            <a:avLst/>
          </a:prstGeom>
          <a:solidFill>
            <a:srgbClr val="6EE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491330" y="326440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GitHub Actions CI/CD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35882" y="388620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335882" y="3886200"/>
            <a:ext cx="54864" cy="621792"/>
          </a:xfrm>
          <a:prstGeom prst="rect">
            <a:avLst/>
          </a:prstGeom>
          <a:solidFill>
            <a:srgbClr val="6EE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91330" y="399592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Kubernetes / Minikube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35882" y="461772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335882" y="4617720"/>
            <a:ext cx="54864" cy="621792"/>
          </a:xfrm>
          <a:prstGeom prst="rect">
            <a:avLst/>
          </a:prstGeom>
          <a:solidFill>
            <a:srgbClr val="6EE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491330" y="472744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JUnit 5 + Mockito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35882" y="5349240"/>
            <a:ext cx="3273552" cy="621792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335882" y="5349240"/>
            <a:ext cx="54864" cy="621792"/>
          </a:xfrm>
          <a:prstGeom prst="rect">
            <a:avLst/>
          </a:prstGeom>
          <a:solidFill>
            <a:srgbClr val="6EE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491330" y="545896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JaCoCo (cobertura)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Objetivos y 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Objetivos y metodología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 dirty="0" err="1">
                <a:solidFill>
                  <a:srgbClr val="C8D0E0"/>
                </a:solidFill>
              </a:rPr>
              <a:t>Objetivo</a:t>
            </a:r>
            <a:r>
              <a:rPr sz="1800" b="0" i="1" dirty="0">
                <a:solidFill>
                  <a:srgbClr val="C8D0E0"/>
                </a:solidFill>
              </a:rPr>
              <a:t> principal: </a:t>
            </a:r>
            <a:r>
              <a:rPr sz="1800" b="0" i="1" dirty="0" err="1">
                <a:solidFill>
                  <a:srgbClr val="C8D0E0"/>
                </a:solidFill>
              </a:rPr>
              <a:t>diseño</a:t>
            </a:r>
            <a:r>
              <a:rPr sz="1800" b="0" i="1" dirty="0">
                <a:solidFill>
                  <a:srgbClr val="C8D0E0"/>
                </a:solidFill>
              </a:rPr>
              <a:t> y </a:t>
            </a:r>
            <a:r>
              <a:rPr sz="1800" b="0" i="1" dirty="0" err="1">
                <a:solidFill>
                  <a:srgbClr val="C8D0E0"/>
                </a:solidFill>
              </a:rPr>
              <a:t>desarrollo</a:t>
            </a:r>
            <a:r>
              <a:rPr sz="1800" b="0" i="1" dirty="0">
                <a:solidFill>
                  <a:srgbClr val="C8D0E0"/>
                </a:solidFill>
              </a:rPr>
              <a:t> de </a:t>
            </a:r>
            <a:r>
              <a:rPr sz="1800" b="0" i="1" dirty="0" err="1">
                <a:solidFill>
                  <a:srgbClr val="C8D0E0"/>
                </a:solidFill>
              </a:rPr>
              <a:t>una</a:t>
            </a:r>
            <a:r>
              <a:rPr sz="1800" b="0" i="1" dirty="0">
                <a:solidFill>
                  <a:srgbClr val="C8D0E0"/>
                </a:solidFill>
              </a:rPr>
              <a:t> app web </a:t>
            </a:r>
            <a:r>
              <a:rPr lang="es-ES" sz="1800" b="0" i="1" dirty="0">
                <a:solidFill>
                  <a:srgbClr val="C8D0E0"/>
                </a:solidFill>
              </a:rPr>
              <a:t>la </a:t>
            </a:r>
            <a:r>
              <a:rPr sz="1800" b="0" i="1" dirty="0">
                <a:solidFill>
                  <a:srgbClr val="C8D0E0"/>
                </a:solidFill>
              </a:rPr>
              <a:t>para </a:t>
            </a:r>
            <a:r>
              <a:rPr sz="1800" b="0" i="1" dirty="0" err="1">
                <a:solidFill>
                  <a:srgbClr val="C8D0E0"/>
                </a:solidFill>
              </a:rPr>
              <a:t>gestión</a:t>
            </a:r>
            <a:r>
              <a:rPr sz="1800" b="0" i="1" dirty="0">
                <a:solidFill>
                  <a:srgbClr val="C8D0E0"/>
                </a:solidFill>
              </a:rPr>
              <a:t> y </a:t>
            </a:r>
            <a:r>
              <a:rPr sz="1800" b="0" i="1" dirty="0" err="1">
                <a:solidFill>
                  <a:srgbClr val="C8D0E0"/>
                </a:solidFill>
              </a:rPr>
              <a:t>valoración</a:t>
            </a:r>
            <a:r>
              <a:rPr sz="1800" b="0" i="1" dirty="0">
                <a:solidFill>
                  <a:srgbClr val="C8D0E0"/>
                </a:solidFill>
              </a:rPr>
              <a:t> de </a:t>
            </a:r>
            <a:r>
              <a:rPr sz="1800" b="0" i="1" dirty="0" err="1">
                <a:solidFill>
                  <a:srgbClr val="C8D0E0"/>
                </a:solidFill>
              </a:rPr>
              <a:t>contenido</a:t>
            </a:r>
            <a:r>
              <a:rPr sz="1800" b="0" i="1" dirty="0">
                <a:solidFill>
                  <a:srgbClr val="C8D0E0"/>
                </a:solidFill>
              </a:rPr>
              <a:t> audiovisual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C518"/>
                </a:solidFill>
              </a:rPr>
              <a:t>Subobjetivos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04288"/>
            <a:ext cx="51206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304288"/>
            <a:ext cx="64008" cy="5669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39572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 err="1">
                <a:solidFill>
                  <a:srgbClr val="C8D0E0"/>
                </a:solidFill>
              </a:rPr>
              <a:t>Analizar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plataformas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existentes</a:t>
            </a:r>
            <a:r>
              <a:rPr sz="1500" b="0" i="0" dirty="0">
                <a:solidFill>
                  <a:srgbClr val="C8D0E0"/>
                </a:solidFill>
              </a:rPr>
              <a:t> y </a:t>
            </a:r>
            <a:r>
              <a:rPr sz="1500" b="0" i="0" dirty="0" err="1">
                <a:solidFill>
                  <a:srgbClr val="C8D0E0"/>
                </a:solidFill>
              </a:rPr>
              <a:t>limitaciones</a:t>
            </a:r>
            <a:endParaRPr sz="1500" b="0" i="0" dirty="0">
              <a:solidFill>
                <a:srgbClr val="C8D0E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953512"/>
            <a:ext cx="51206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953512"/>
            <a:ext cx="64008" cy="5669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04495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 err="1">
                <a:solidFill>
                  <a:srgbClr val="C8D0E0"/>
                </a:solidFill>
              </a:rPr>
              <a:t>Seleccionar</a:t>
            </a:r>
            <a:r>
              <a:rPr sz="1500" b="0" i="0" dirty="0">
                <a:solidFill>
                  <a:srgbClr val="C8D0E0"/>
                </a:solidFill>
              </a:rPr>
              <a:t> e </a:t>
            </a:r>
            <a:r>
              <a:rPr sz="1500" b="0" i="0" dirty="0" err="1">
                <a:solidFill>
                  <a:srgbClr val="C8D0E0"/>
                </a:solidFill>
              </a:rPr>
              <a:t>integrar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tecnologías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modernas</a:t>
            </a:r>
            <a:endParaRPr sz="1500" b="0" i="0" dirty="0">
              <a:solidFill>
                <a:srgbClr val="C8D0E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3602736"/>
            <a:ext cx="51206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602736"/>
            <a:ext cx="64008" cy="5669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69417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 err="1">
                <a:solidFill>
                  <a:srgbClr val="C8D0E0"/>
                </a:solidFill>
              </a:rPr>
              <a:t>Diseñar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arquitectura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escalable</a:t>
            </a:r>
            <a:r>
              <a:rPr sz="1500" b="0" i="0" dirty="0">
                <a:solidFill>
                  <a:srgbClr val="C8D0E0"/>
                </a:solidFill>
              </a:rPr>
              <a:t> y modular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51960"/>
            <a:ext cx="51206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4251960"/>
            <a:ext cx="64008" cy="5669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34340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 err="1">
                <a:solidFill>
                  <a:srgbClr val="C8D0E0"/>
                </a:solidFill>
              </a:rPr>
              <a:t>Implementar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prototipo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funcional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completo</a:t>
            </a:r>
            <a:endParaRPr sz="1500" b="0" i="0" dirty="0">
              <a:solidFill>
                <a:srgbClr val="C8D0E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4901183"/>
            <a:ext cx="51206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4901183"/>
            <a:ext cx="64008" cy="5669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992623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 err="1">
                <a:solidFill>
                  <a:srgbClr val="C8D0E0"/>
                </a:solidFill>
              </a:rPr>
              <a:t>Desplegar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en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entorno</a:t>
            </a:r>
            <a:r>
              <a:rPr sz="1500" b="0" i="0" dirty="0">
                <a:solidFill>
                  <a:srgbClr val="C8D0E0"/>
                </a:solidFill>
              </a:rPr>
              <a:t> </a:t>
            </a:r>
            <a:r>
              <a:rPr sz="1500" b="0" i="0" dirty="0" err="1">
                <a:solidFill>
                  <a:srgbClr val="C8D0E0"/>
                </a:solidFill>
              </a:rPr>
              <a:t>contenerizado</a:t>
            </a:r>
            <a:r>
              <a:rPr sz="1500" b="0" i="0" dirty="0">
                <a:solidFill>
                  <a:srgbClr val="C8D0E0"/>
                </a:solidFill>
              </a:rPr>
              <a:t> con CI/CD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50408"/>
            <a:ext cx="51206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550408"/>
            <a:ext cx="64008" cy="5669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641848"/>
            <a:ext cx="47548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C8D0E0"/>
                </a:solidFill>
              </a:rPr>
              <a:t>Validar </a:t>
            </a:r>
            <a:r>
              <a:rPr sz="1500" b="0" i="0" dirty="0" err="1">
                <a:solidFill>
                  <a:srgbClr val="C8D0E0"/>
                </a:solidFill>
              </a:rPr>
              <a:t>mediante</a:t>
            </a:r>
            <a:r>
              <a:rPr sz="1500" b="0" i="0" dirty="0">
                <a:solidFill>
                  <a:srgbClr val="C8D0E0"/>
                </a:solidFill>
              </a:rPr>
              <a:t> tests </a:t>
            </a:r>
            <a:r>
              <a:rPr sz="1500" b="0" i="0" dirty="0" err="1">
                <a:solidFill>
                  <a:srgbClr val="C8D0E0"/>
                </a:solidFill>
              </a:rPr>
              <a:t>automatizados</a:t>
            </a:r>
            <a:endParaRPr sz="1500" b="0" i="0" dirty="0">
              <a:solidFill>
                <a:srgbClr val="C8D0E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C518"/>
                </a:solidFill>
              </a:rPr>
              <a:t>Metodología iterativa e incremental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304288"/>
            <a:ext cx="512064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0" y="2304288"/>
            <a:ext cx="50292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246888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36829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Análisis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27066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Requisitos y tecnologías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127248"/>
            <a:ext cx="512064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0" y="3127248"/>
            <a:ext cx="50292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329184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319125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Diseño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35295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BD, API, mockups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950208"/>
            <a:ext cx="512064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00800" y="3950208"/>
            <a:ext cx="50292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0" y="411480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401421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Implementación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4352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Back-end + Front-end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773168"/>
            <a:ext cx="512064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00800" y="4773168"/>
            <a:ext cx="50292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0" y="493776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483717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Pruebas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60" y="51755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JUnit + CI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5596128"/>
            <a:ext cx="5120640" cy="7315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400800" y="5596128"/>
            <a:ext cx="502920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0" y="576072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21F"/>
                </a:solidFill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566013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Documentación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599846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AA8"/>
                </a:solidFill>
              </a:rPr>
              <a:t>Memoria y despliegue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Diseño — Arquitectura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 dirty="0">
                <a:solidFill>
                  <a:srgbClr val="C8D0E0"/>
                </a:solidFill>
              </a:rPr>
              <a:t>Monolito modular · API RESTful · </a:t>
            </a:r>
            <a:r>
              <a:rPr lang="es-ES" sz="1800" b="0" i="1" dirty="0">
                <a:solidFill>
                  <a:srgbClr val="C8D0E0"/>
                </a:solidFill>
              </a:rPr>
              <a:t>MVC</a:t>
            </a:r>
            <a:endParaRPr sz="1800" b="0" i="1" dirty="0">
              <a:solidFill>
                <a:srgbClr val="C8D0E0"/>
              </a:solidFill>
            </a:endParaRPr>
          </a:p>
        </p:txBody>
      </p:sp>
      <p:pic>
        <p:nvPicPr>
          <p:cNvPr id="9" name="Picture 8" descr="arquitectura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715" y="1728249"/>
            <a:ext cx="6739393" cy="439819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A8AA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Implementación — Back-end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400" b="0" i="0" dirty="0">
                <a:solidFill>
                  <a:srgbClr val="7A8AA8"/>
                </a:solidFill>
              </a:rPr>
              <a:t>9</a:t>
            </a:r>
            <a:endParaRPr sz="1400" b="0" i="0" dirty="0">
              <a:solidFill>
                <a:srgbClr val="7A8AA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0208" y="1078992"/>
            <a:ext cx="1600200" cy="960120"/>
          </a:xfrm>
          <a:prstGeom prst="rect">
            <a:avLst/>
          </a:prstGeom>
          <a:solidFill>
            <a:srgbClr val="3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1648" y="1282053"/>
            <a:ext cx="141732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</a:rPr>
              <a:t>HTTP
Request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7839" y="1508760"/>
            <a:ext cx="23774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03016" y="1078992"/>
            <a:ext cx="1600200" cy="9601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94456" y="1397469"/>
            <a:ext cx="14173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 dirty="0">
                <a:solidFill>
                  <a:srgbClr val="0D121F"/>
                </a:solidFill>
              </a:rPr>
              <a:t>JWT Filter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30648" y="1508760"/>
            <a:ext cx="23774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5824" y="1078992"/>
            <a:ext cx="1600200" cy="960120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7263" y="1397469"/>
            <a:ext cx="14173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23456" y="1508760"/>
            <a:ext cx="23774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88631" y="1078992"/>
            <a:ext cx="1600200" cy="9601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0071" y="1397469"/>
            <a:ext cx="14173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6263" y="1508760"/>
            <a:ext cx="23774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81439" y="1078992"/>
            <a:ext cx="1600200" cy="960120"/>
          </a:xfrm>
          <a:prstGeom prst="rect">
            <a:avLst/>
          </a:prstGeom>
          <a:solidFill>
            <a:srgbClr val="2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2879" y="1397469"/>
            <a:ext cx="14173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</a:rPr>
              <a:t>Repository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09071" y="1508760"/>
            <a:ext cx="237744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974248" y="1078992"/>
            <a:ext cx="1600200" cy="960120"/>
          </a:xfrm>
          <a:prstGeom prst="rect">
            <a:avLst/>
          </a:prstGeom>
          <a:solidFill>
            <a:srgbClr val="1E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65688" y="1397469"/>
            <a:ext cx="14173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</a:rPr>
              <a:t>PostgreSQL</a:t>
            </a:r>
            <a:endParaRPr lang="es-ES" sz="1500" b="1" i="0" dirty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22128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5C518"/>
                </a:solidFill>
              </a:rPr>
              <a:t>Decisiones clave de implementación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97480"/>
            <a:ext cx="1097280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2697480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277063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FFFFFF"/>
                </a:solidFill>
              </a:rPr>
              <a:t>Controladores</a:t>
            </a:r>
            <a:r>
              <a:rPr sz="1500" b="1" i="0" dirty="0">
                <a:solidFill>
                  <a:srgbClr val="FFFFFF"/>
                </a:solidFill>
              </a:rPr>
              <a:t> </a:t>
            </a:r>
            <a:r>
              <a:rPr sz="1500" b="1" i="0" dirty="0" err="1">
                <a:solidFill>
                  <a:srgbClr val="FFFFFF"/>
                </a:solidFill>
              </a:rPr>
              <a:t>ligeros</a:t>
            </a:r>
            <a:r>
              <a:rPr sz="1500" b="1" i="0" dirty="0">
                <a:solidFill>
                  <a:srgbClr val="FFFFFF"/>
                </a:solidFill>
              </a:rPr>
              <a:t>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78892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0E0"/>
                </a:solidFill>
              </a:rPr>
              <a:t>Sin lógica de negocio; solo validación y delegación al servicio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447288"/>
            <a:ext cx="1097280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3447288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352044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DTOs en todas las capas: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3538728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0E0"/>
                </a:solidFill>
              </a:rPr>
              <a:t>Entidades JPA nunca expuestas directamente al cliente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197096"/>
            <a:ext cx="1097280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48640" y="4197096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27024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Autenticación stateless: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4288536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0E0"/>
                </a:solidFill>
              </a:rPr>
              <a:t>JWT firmado; sin sesiones en servidor; control por roles USER/ADMIN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946904"/>
            <a:ext cx="1097280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4946904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502005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Lazy loading JPA: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5038344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0E0"/>
                </a:solidFill>
              </a:rPr>
              <a:t>Carga diferida en relaciones; evita recuperaciones innecesarias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696712"/>
            <a:ext cx="1097280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48640" y="5696712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576986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Caché bajo demanda TMDB: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5788152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0E0"/>
                </a:solidFill>
              </a:rPr>
              <a:t>Sincronización solo cuando hay interacción real + TTL configurable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446520"/>
            <a:ext cx="59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400" b="0" i="0" dirty="0">
                <a:solidFill>
                  <a:srgbClr val="7A8AA8"/>
                </a:solidFill>
              </a:rPr>
              <a:t>9</a:t>
            </a:r>
            <a:endParaRPr sz="1400" b="0" i="0" dirty="0">
              <a:solidFill>
                <a:srgbClr val="7A8AA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 err="1">
                <a:solidFill>
                  <a:srgbClr val="FFFFFF"/>
                </a:solidFill>
              </a:rPr>
              <a:t>Implementación</a:t>
            </a:r>
            <a:r>
              <a:rPr sz="3000" b="1" i="0" dirty="0">
                <a:solidFill>
                  <a:srgbClr val="FFFFFF"/>
                </a:solidFill>
              </a:rPr>
              <a:t> — Front-end</a:t>
            </a:r>
            <a:r>
              <a:rPr lang="es-ES" sz="3000" b="1" dirty="0">
                <a:solidFill>
                  <a:srgbClr val="FFFFFF"/>
                </a:solidFill>
              </a:rPr>
              <a:t> — Página de inicio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400" b="0" i="0" dirty="0">
                <a:solidFill>
                  <a:srgbClr val="7A8AA8"/>
                </a:solidFill>
              </a:rPr>
              <a:t>10</a:t>
            </a:r>
            <a:endParaRPr sz="1400" b="0" i="0" dirty="0">
              <a:solidFill>
                <a:srgbClr val="7A8AA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5C518"/>
                </a:solidFill>
              </a:rPr>
              <a:t>SPA · React 19 + TypeScript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324459"/>
            <a:ext cx="694944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5352001"/>
            <a:ext cx="69494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7A8AA8"/>
                </a:solidFill>
              </a:rPr>
              <a:t>Página de </a:t>
            </a:r>
            <a:r>
              <a:rPr sz="1300" b="0" i="1" dirty="0" err="1">
                <a:solidFill>
                  <a:srgbClr val="7A8AA8"/>
                </a:solidFill>
              </a:rPr>
              <a:t>inicio</a:t>
            </a:r>
            <a:r>
              <a:rPr sz="1300" b="0" i="1" dirty="0">
                <a:solidFill>
                  <a:srgbClr val="7A8AA8"/>
                </a:solidFill>
              </a:rPr>
              <a:t> de MovieMate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46520"/>
            <a:ext cx="59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400" b="0" i="0" dirty="0">
                <a:solidFill>
                  <a:srgbClr val="7A8AA8"/>
                </a:solidFill>
              </a:rPr>
              <a:t>10</a:t>
            </a:r>
            <a:endParaRPr sz="1400" b="0" i="0" dirty="0">
              <a:solidFill>
                <a:srgbClr val="7A8AA8"/>
              </a:solidFill>
            </a:endParaRPr>
          </a:p>
        </p:txBody>
      </p:sp>
      <p:pic>
        <p:nvPicPr>
          <p:cNvPr id="9" name="Picture 8" descr="homep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668854"/>
            <a:ext cx="6949441" cy="3365860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</p:pic>
      <p:sp>
        <p:nvSpPr>
          <p:cNvPr id="23" name="Rectangle 11">
            <a:extLst>
              <a:ext uri="{FF2B5EF4-FFF2-40B4-BE49-F238E27FC236}">
                <a16:creationId xmlns:a16="http://schemas.microsoft.com/office/drawing/2014/main" id="{EE2A9A6C-D213-3478-3797-4E95DE411D1D}"/>
              </a:ext>
            </a:extLst>
          </p:cNvPr>
          <p:cNvSpPr/>
          <p:nvPr/>
        </p:nvSpPr>
        <p:spPr>
          <a:xfrm>
            <a:off x="7863839" y="1920240"/>
            <a:ext cx="370332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32AECC3A-8811-564E-8C87-E6A32707C2C1}"/>
              </a:ext>
            </a:extLst>
          </p:cNvPr>
          <p:cNvSpPr/>
          <p:nvPr/>
        </p:nvSpPr>
        <p:spPr>
          <a:xfrm>
            <a:off x="7863839" y="1920240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BA20CB05-7599-1217-0207-8A4F2B08FA35}"/>
              </a:ext>
            </a:extLst>
          </p:cNvPr>
          <p:cNvSpPr txBox="1"/>
          <p:nvPr/>
        </p:nvSpPr>
        <p:spPr>
          <a:xfrm>
            <a:off x="8046719" y="2029968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400" b="0" i="0" dirty="0">
                <a:solidFill>
                  <a:srgbClr val="C8D0E0"/>
                </a:solidFill>
              </a:rPr>
              <a:t>Contenido en tendencia</a:t>
            </a:r>
            <a:endParaRPr sz="1400" b="0" i="0" dirty="0">
              <a:solidFill>
                <a:srgbClr val="C8D0E0"/>
              </a:solidFill>
            </a:endParaRPr>
          </a:p>
        </p:txBody>
      </p:sp>
      <p:sp>
        <p:nvSpPr>
          <p:cNvPr id="26" name="Rectangle 14">
            <a:extLst>
              <a:ext uri="{FF2B5EF4-FFF2-40B4-BE49-F238E27FC236}">
                <a16:creationId xmlns:a16="http://schemas.microsoft.com/office/drawing/2014/main" id="{CB20F3AE-A245-FF16-79F1-F39619853E8A}"/>
              </a:ext>
            </a:extLst>
          </p:cNvPr>
          <p:cNvSpPr/>
          <p:nvPr/>
        </p:nvSpPr>
        <p:spPr>
          <a:xfrm>
            <a:off x="7863839" y="2670048"/>
            <a:ext cx="370332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15">
            <a:extLst>
              <a:ext uri="{FF2B5EF4-FFF2-40B4-BE49-F238E27FC236}">
                <a16:creationId xmlns:a16="http://schemas.microsoft.com/office/drawing/2014/main" id="{24DBDD79-AEDC-DFB1-D0A7-E229DAE275DB}"/>
              </a:ext>
            </a:extLst>
          </p:cNvPr>
          <p:cNvSpPr/>
          <p:nvPr/>
        </p:nvSpPr>
        <p:spPr>
          <a:xfrm>
            <a:off x="7863839" y="2670048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C7EB54E0-E667-8BCA-CE4E-FA6768EA796B}"/>
              </a:ext>
            </a:extLst>
          </p:cNvPr>
          <p:cNvSpPr txBox="1"/>
          <p:nvPr/>
        </p:nvSpPr>
        <p:spPr>
          <a:xfrm>
            <a:off x="8046719" y="2779776"/>
            <a:ext cx="3474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0" i="0" dirty="0">
                <a:solidFill>
                  <a:srgbClr val="C8D0E0"/>
                </a:solidFill>
              </a:rPr>
              <a:t>Recomendaciones </a:t>
            </a:r>
            <a:r>
              <a:rPr lang="es-ES" sz="1400" dirty="0">
                <a:solidFill>
                  <a:srgbClr val="C8D0E0"/>
                </a:solidFill>
              </a:rPr>
              <a:t>personalizadas («Para ti ✨»)</a:t>
            </a:r>
            <a:endParaRPr sz="1400" dirty="0">
              <a:solidFill>
                <a:srgbClr val="C8D0E0"/>
              </a:solidFill>
            </a:endParaRPr>
          </a:p>
        </p:txBody>
      </p:sp>
      <p:sp>
        <p:nvSpPr>
          <p:cNvPr id="29" name="Rectangle 17">
            <a:extLst>
              <a:ext uri="{FF2B5EF4-FFF2-40B4-BE49-F238E27FC236}">
                <a16:creationId xmlns:a16="http://schemas.microsoft.com/office/drawing/2014/main" id="{C5CD514C-A51A-08A8-F35D-833D0657A71B}"/>
              </a:ext>
            </a:extLst>
          </p:cNvPr>
          <p:cNvSpPr/>
          <p:nvPr/>
        </p:nvSpPr>
        <p:spPr>
          <a:xfrm>
            <a:off x="7863839" y="3419856"/>
            <a:ext cx="370332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18">
            <a:extLst>
              <a:ext uri="{FF2B5EF4-FFF2-40B4-BE49-F238E27FC236}">
                <a16:creationId xmlns:a16="http://schemas.microsoft.com/office/drawing/2014/main" id="{2E1CD254-BD25-ED6D-DDCB-196A2B7A16F9}"/>
              </a:ext>
            </a:extLst>
          </p:cNvPr>
          <p:cNvSpPr/>
          <p:nvPr/>
        </p:nvSpPr>
        <p:spPr>
          <a:xfrm>
            <a:off x="7863839" y="3419856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9">
            <a:extLst>
              <a:ext uri="{FF2B5EF4-FFF2-40B4-BE49-F238E27FC236}">
                <a16:creationId xmlns:a16="http://schemas.microsoft.com/office/drawing/2014/main" id="{B6DE7DD8-63C9-2A04-B94A-D074E02461EC}"/>
              </a:ext>
            </a:extLst>
          </p:cNvPr>
          <p:cNvSpPr txBox="1"/>
          <p:nvPr/>
        </p:nvSpPr>
        <p:spPr>
          <a:xfrm>
            <a:off x="8046719" y="3529584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400" dirty="0">
                <a:solidFill>
                  <a:srgbClr val="C8D0E0"/>
                </a:solidFill>
              </a:rPr>
              <a:t>Usuarios sugeridos</a:t>
            </a:r>
            <a:endParaRPr sz="1400" b="0" i="0" dirty="0">
              <a:solidFill>
                <a:srgbClr val="C8D0E0"/>
              </a:solidFill>
            </a:endParaRPr>
          </a:p>
        </p:txBody>
      </p:sp>
      <p:sp>
        <p:nvSpPr>
          <p:cNvPr id="32" name="Rectangle 20">
            <a:extLst>
              <a:ext uri="{FF2B5EF4-FFF2-40B4-BE49-F238E27FC236}">
                <a16:creationId xmlns:a16="http://schemas.microsoft.com/office/drawing/2014/main" id="{CA00437D-486A-4564-8578-70563826B0F0}"/>
              </a:ext>
            </a:extLst>
          </p:cNvPr>
          <p:cNvSpPr/>
          <p:nvPr/>
        </p:nvSpPr>
        <p:spPr>
          <a:xfrm>
            <a:off x="7863839" y="4169663"/>
            <a:ext cx="370332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21">
            <a:extLst>
              <a:ext uri="{FF2B5EF4-FFF2-40B4-BE49-F238E27FC236}">
                <a16:creationId xmlns:a16="http://schemas.microsoft.com/office/drawing/2014/main" id="{E34A6791-BE88-0A28-9FCC-2CE99F0A0226}"/>
              </a:ext>
            </a:extLst>
          </p:cNvPr>
          <p:cNvSpPr/>
          <p:nvPr/>
        </p:nvSpPr>
        <p:spPr>
          <a:xfrm>
            <a:off x="7863839" y="4169663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22">
            <a:extLst>
              <a:ext uri="{FF2B5EF4-FFF2-40B4-BE49-F238E27FC236}">
                <a16:creationId xmlns:a16="http://schemas.microsoft.com/office/drawing/2014/main" id="{76B90FC7-F944-4512-DBC7-8EE10E6F9B70}"/>
              </a:ext>
            </a:extLst>
          </p:cNvPr>
          <p:cNvSpPr txBox="1"/>
          <p:nvPr/>
        </p:nvSpPr>
        <p:spPr>
          <a:xfrm>
            <a:off x="8046719" y="4279392"/>
            <a:ext cx="3474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400" b="0" i="0" dirty="0">
                <a:solidFill>
                  <a:srgbClr val="C8D0E0"/>
                </a:solidFill>
              </a:rPr>
              <a:t>Barra lateral con todas las opciones disponibles</a:t>
            </a:r>
            <a:endParaRPr sz="1400" b="0" i="0" dirty="0">
              <a:solidFill>
                <a:srgbClr val="C8D0E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dirty="0">
                <a:solidFill>
                  <a:srgbClr val="FFFFFF"/>
                </a:solidFill>
              </a:rPr>
              <a:t>Implementación — Front-end</a:t>
            </a:r>
            <a:r>
              <a:rPr sz="3000" b="1" i="0" dirty="0">
                <a:solidFill>
                  <a:srgbClr val="FFFFFF"/>
                </a:solidFill>
              </a:rPr>
              <a:t> — </a:t>
            </a:r>
            <a:r>
              <a:rPr sz="3000" b="1" i="0" dirty="0" err="1">
                <a:solidFill>
                  <a:srgbClr val="FFFFFF"/>
                </a:solidFill>
              </a:rPr>
              <a:t>Ficha</a:t>
            </a:r>
            <a:r>
              <a:rPr sz="3000" b="1" i="0" dirty="0">
                <a:solidFill>
                  <a:srgbClr val="FFFFFF"/>
                </a:solidFill>
              </a:rPr>
              <a:t> de </a:t>
            </a:r>
            <a:r>
              <a:rPr sz="3000" b="1" i="0" dirty="0" err="1">
                <a:solidFill>
                  <a:srgbClr val="FFFFFF"/>
                </a:solidFill>
              </a:rPr>
              <a:t>contenido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400" b="0" i="0" dirty="0">
                <a:solidFill>
                  <a:srgbClr val="7A8AA8"/>
                </a:solidFill>
              </a:rPr>
              <a:t>11</a:t>
            </a:r>
            <a:endParaRPr sz="1400" b="0" i="0" dirty="0">
              <a:solidFill>
                <a:srgbClr val="7A8AA8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5632703"/>
            <a:ext cx="704088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5669279"/>
            <a:ext cx="6858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 err="1">
                <a:solidFill>
                  <a:srgbClr val="7A8AA8"/>
                </a:solidFill>
              </a:rPr>
              <a:t>Ficha</a:t>
            </a:r>
            <a:r>
              <a:rPr sz="1300" b="0" i="1" dirty="0">
                <a:solidFill>
                  <a:srgbClr val="7A8AA8"/>
                </a:solidFill>
              </a:rPr>
              <a:t> de </a:t>
            </a:r>
            <a:r>
              <a:rPr sz="1300" b="0" i="1" dirty="0" err="1">
                <a:solidFill>
                  <a:srgbClr val="7A8AA8"/>
                </a:solidFill>
              </a:rPr>
              <a:t>detalle</a:t>
            </a:r>
            <a:r>
              <a:rPr sz="1300" b="0" i="1" dirty="0">
                <a:solidFill>
                  <a:srgbClr val="7A8AA8"/>
                </a:solidFill>
              </a:rPr>
              <a:t> con </a:t>
            </a:r>
            <a:r>
              <a:rPr sz="1300" b="0" i="1" dirty="0" err="1">
                <a:solidFill>
                  <a:srgbClr val="7A8AA8"/>
                </a:solidFill>
              </a:rPr>
              <a:t>valoración</a:t>
            </a:r>
            <a:r>
              <a:rPr sz="1300" b="0" i="1" dirty="0">
                <a:solidFill>
                  <a:srgbClr val="7A8AA8"/>
                </a:solidFill>
              </a:rPr>
              <a:t>, </a:t>
            </a:r>
            <a:r>
              <a:rPr sz="1300" b="0" i="1" dirty="0" err="1">
                <a:solidFill>
                  <a:srgbClr val="7A8AA8"/>
                </a:solidFill>
              </a:rPr>
              <a:t>reparto</a:t>
            </a:r>
            <a:r>
              <a:rPr sz="1300" b="0" i="1" dirty="0">
                <a:solidFill>
                  <a:srgbClr val="7A8AA8"/>
                </a:solidFill>
              </a:rPr>
              <a:t> y </a:t>
            </a:r>
            <a:r>
              <a:rPr lang="es-ES" sz="1300" b="0" i="1" dirty="0">
                <a:solidFill>
                  <a:srgbClr val="7A8AA8"/>
                </a:solidFill>
              </a:rPr>
              <a:t>seguimiento</a:t>
            </a:r>
            <a:r>
              <a:rPr sz="1300" b="0" i="1" dirty="0">
                <a:solidFill>
                  <a:srgbClr val="7A8AA8"/>
                </a:solidFill>
              </a:rPr>
              <a:t> de </a:t>
            </a:r>
            <a:r>
              <a:rPr sz="1300" b="0" i="1" dirty="0" err="1">
                <a:solidFill>
                  <a:srgbClr val="7A8AA8"/>
                </a:solidFill>
              </a:rPr>
              <a:t>episodios</a:t>
            </a:r>
            <a:endParaRPr sz="1300" b="0" i="1" dirty="0">
              <a:solidFill>
                <a:srgbClr val="7A8AA8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8120" y="1572768"/>
            <a:ext cx="370332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18120" y="1572768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0" y="1682496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Poster + Backdrop + Metadatos completos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2322576"/>
            <a:ext cx="370332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18120" y="2322576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01000" y="2432304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Widget valoración ⭐×5 (crear y editar)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3072384"/>
            <a:ext cx="370332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18120" y="3072384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1000" y="3182112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Añadir a lista personalizada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3822191"/>
            <a:ext cx="370332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818120" y="3822191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01000" y="3931920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Tracking de episodios (series)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4572000"/>
            <a:ext cx="370332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18120" y="4572000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01000" y="4681728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Valoraciones de la comunidad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8120" y="5321807"/>
            <a:ext cx="3703320" cy="65836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818120" y="5321807"/>
            <a:ext cx="64008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01000" y="5431536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Recomendaciones «Para Ti»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46520"/>
            <a:ext cx="59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400" b="0" i="0" dirty="0">
                <a:solidFill>
                  <a:srgbClr val="7A8AA8"/>
                </a:solidFill>
              </a:rPr>
              <a:t>11</a:t>
            </a:r>
            <a:endParaRPr sz="1400" b="0" i="0" dirty="0">
              <a:solidFill>
                <a:srgbClr val="7A8AA8"/>
              </a:solidFill>
            </a:endParaRPr>
          </a:p>
        </p:txBody>
      </p:sp>
      <p:pic>
        <p:nvPicPr>
          <p:cNvPr id="9" name="Picture 8" descr="content_detai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41843"/>
            <a:ext cx="7040880" cy="3386300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dirty="0">
                <a:solidFill>
                  <a:srgbClr val="FFFFFF"/>
                </a:solidFill>
              </a:rPr>
              <a:t>Implementación — Front-end</a:t>
            </a:r>
            <a:r>
              <a:rPr sz="3000" b="1" i="0" dirty="0">
                <a:solidFill>
                  <a:srgbClr val="FFFFFF"/>
                </a:solidFill>
              </a:rPr>
              <a:t> — </a:t>
            </a:r>
            <a:r>
              <a:rPr sz="3000" b="1" i="0" dirty="0" err="1">
                <a:solidFill>
                  <a:srgbClr val="FFFFFF"/>
                </a:solidFill>
              </a:rPr>
              <a:t>Perfil</a:t>
            </a:r>
            <a:r>
              <a:rPr sz="3000" b="1" i="0" dirty="0">
                <a:solidFill>
                  <a:srgbClr val="FFFFFF"/>
                </a:solidFill>
              </a:rPr>
              <a:t> y red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400" b="0" i="0" dirty="0">
                <a:solidFill>
                  <a:srgbClr val="7A8AA8"/>
                </a:solidFill>
              </a:rPr>
              <a:t>12</a:t>
            </a:r>
            <a:endParaRPr sz="1400" b="0" i="0" dirty="0">
              <a:solidFill>
                <a:srgbClr val="7A8AA8"/>
              </a:solidFill>
            </a:endParaRPr>
          </a:p>
        </p:txBody>
      </p:sp>
      <p:pic>
        <p:nvPicPr>
          <p:cNvPr id="8" name="Picture 7" descr="profile_p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6" y="1852449"/>
            <a:ext cx="6758183" cy="3256059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548637" y="5446086"/>
            <a:ext cx="6758183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48639" y="5501170"/>
            <a:ext cx="675818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 err="1">
                <a:solidFill>
                  <a:srgbClr val="7A8AA8"/>
                </a:solidFill>
              </a:rPr>
              <a:t>Perfil</a:t>
            </a:r>
            <a:r>
              <a:rPr sz="1300" b="0" i="1" dirty="0">
                <a:solidFill>
                  <a:srgbClr val="7A8AA8"/>
                </a:solidFill>
              </a:rPr>
              <a:t>: </a:t>
            </a:r>
            <a:r>
              <a:rPr sz="1300" b="0" i="1" dirty="0" err="1">
                <a:solidFill>
                  <a:srgbClr val="7A8AA8"/>
                </a:solidFill>
              </a:rPr>
              <a:t>actividad</a:t>
            </a:r>
            <a:r>
              <a:rPr sz="1300" b="0" i="1" dirty="0">
                <a:solidFill>
                  <a:srgbClr val="7A8AA8"/>
                </a:solidFill>
              </a:rPr>
              <a:t> · </a:t>
            </a:r>
            <a:r>
              <a:rPr sz="1300" b="0" i="1" dirty="0" err="1">
                <a:solidFill>
                  <a:srgbClr val="7A8AA8"/>
                </a:solidFill>
              </a:rPr>
              <a:t>listas</a:t>
            </a:r>
            <a:r>
              <a:rPr sz="1300" b="0" i="1" dirty="0">
                <a:solidFill>
                  <a:srgbClr val="7A8AA8"/>
                </a:solidFill>
              </a:rPr>
              <a:t> · </a:t>
            </a:r>
            <a:r>
              <a:rPr sz="1300" b="0" i="1" dirty="0" err="1">
                <a:solidFill>
                  <a:srgbClr val="7A8AA8"/>
                </a:solidFill>
              </a:rPr>
              <a:t>estadísticas</a:t>
            </a:r>
            <a:r>
              <a:rPr sz="1300" b="0" i="1" dirty="0">
                <a:solidFill>
                  <a:srgbClr val="7A8AA8"/>
                </a:solidFill>
              </a:rPr>
              <a:t> · insignias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5554" y="1097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C518"/>
                </a:solidFill>
              </a:rPr>
              <a:t>Red social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75554" y="1554480"/>
            <a:ext cx="4016734" cy="521207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75554" y="1554480"/>
            <a:ext cx="64008" cy="521207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58434" y="1645920"/>
            <a:ext cx="4846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Seguir usuarios (solicitud si perfil privado)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75554" y="2157984"/>
            <a:ext cx="4016734" cy="521207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75554" y="2157984"/>
            <a:ext cx="64008" cy="521207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58434" y="2249424"/>
            <a:ext cx="4846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Feed de actividad de seguidos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5554" y="2761488"/>
            <a:ext cx="4016734" cy="521207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75554" y="2761488"/>
            <a:ext cx="64008" cy="521207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58434" y="2852928"/>
            <a:ext cx="4846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Likes y comentarios en valoraciones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5554" y="3364991"/>
            <a:ext cx="4016734" cy="521207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75554" y="3364991"/>
            <a:ext cx="64008" cy="521207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58434" y="3456432"/>
            <a:ext cx="4846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Comentarios en listas públicas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75554" y="3968496"/>
            <a:ext cx="4016734" cy="521207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75554" y="3968496"/>
            <a:ext cx="64008" cy="521207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58434" y="4059936"/>
            <a:ext cx="4846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Reporte de contenido inapropiado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5554" y="4691135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 err="1">
                <a:solidFill>
                  <a:srgbClr val="F5C518"/>
                </a:solidFill>
              </a:rPr>
              <a:t>Notificaciones</a:t>
            </a:r>
            <a:r>
              <a:rPr sz="1800" b="1" i="0" dirty="0">
                <a:solidFill>
                  <a:srgbClr val="F5C518"/>
                </a:solidFill>
              </a:rPr>
              <a:t> </a:t>
            </a:r>
            <a:r>
              <a:rPr sz="1800" b="1" i="0" dirty="0" err="1">
                <a:solidFill>
                  <a:srgbClr val="F5C518"/>
                </a:solidFill>
              </a:rPr>
              <a:t>en</a:t>
            </a:r>
            <a:r>
              <a:rPr sz="1800" b="1" i="0" dirty="0">
                <a:solidFill>
                  <a:srgbClr val="F5C518"/>
                </a:solidFill>
              </a:rPr>
              <a:t> </a:t>
            </a:r>
            <a:r>
              <a:rPr sz="1800" b="1" i="0" dirty="0" err="1">
                <a:solidFill>
                  <a:srgbClr val="F5C518"/>
                </a:solidFill>
              </a:rPr>
              <a:t>tiempo</a:t>
            </a:r>
            <a:r>
              <a:rPr sz="1800" b="1" i="0" dirty="0">
                <a:solidFill>
                  <a:srgbClr val="F5C518"/>
                </a:solidFill>
              </a:rPr>
              <a:t> real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5554" y="5144554"/>
            <a:ext cx="4016734" cy="1448397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75554" y="5135410"/>
            <a:ext cx="4016734" cy="365760"/>
          </a:xfrm>
          <a:prstGeom prst="rect">
            <a:avLst/>
          </a:prstGeom>
          <a:solidFill>
            <a:srgbClr val="1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66994" y="516284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E7"/>
                </a:solidFill>
              </a:rPr>
              <a:t>WebSockets (STOMP + SockJS)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6994" y="5583466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· Notificación push sin polling
· Eventos: follow · like · comentario
· Badge en navbar actualizado al instante
· Gamificación: insignias automáticas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446520"/>
            <a:ext cx="59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400" b="0" i="0" dirty="0">
                <a:solidFill>
                  <a:srgbClr val="7A8AA8"/>
                </a:solidFill>
              </a:rPr>
              <a:t>12</a:t>
            </a:r>
            <a:endParaRPr sz="1400" b="0" i="0" dirty="0">
              <a:solidFill>
                <a:srgbClr val="7A8AA8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6784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000" b="1" dirty="0">
                <a:solidFill>
                  <a:srgbClr val="FFFFFF"/>
                </a:solidFill>
              </a:rPr>
              <a:t>Implementación — Front-end</a:t>
            </a:r>
            <a:r>
              <a:rPr sz="3000" b="1" i="0" dirty="0">
                <a:solidFill>
                  <a:srgbClr val="FFFFFF"/>
                </a:solidFill>
              </a:rPr>
              <a:t> — </a:t>
            </a:r>
            <a:r>
              <a:rPr sz="3000" b="1" i="0" dirty="0" err="1">
                <a:solidFill>
                  <a:srgbClr val="FFFFFF"/>
                </a:solidFill>
              </a:rPr>
              <a:t>Notificaciones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55564" y="201168"/>
            <a:ext cx="16145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 dirty="0" err="1">
                <a:solidFill>
                  <a:srgbClr val="7A8AA8"/>
                </a:solidFill>
              </a:rPr>
              <a:t>Diseño</a:t>
            </a:r>
            <a:r>
              <a:rPr sz="1400" b="0" i="1" dirty="0">
                <a:solidFill>
                  <a:srgbClr val="7A8AA8"/>
                </a:solidFill>
              </a:rPr>
              <a:t> y </a:t>
            </a:r>
            <a:r>
              <a:rPr sz="1400" b="0" i="1" dirty="0" err="1">
                <a:solidFill>
                  <a:srgbClr val="7A8AA8"/>
                </a:solidFill>
              </a:rPr>
              <a:t>resolución</a:t>
            </a:r>
            <a:endParaRPr sz="1400" b="0" i="1" dirty="0">
              <a:solidFill>
                <a:srgbClr val="7A8AA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400" i="0" dirty="0">
                <a:solidFill>
                  <a:srgbClr val="7A8AA8"/>
                </a:solidFill>
              </a:rPr>
              <a:t>13</a:t>
            </a:r>
            <a:endParaRPr sz="1400" i="0" dirty="0">
              <a:solidFill>
                <a:srgbClr val="7A8AA8"/>
              </a:solidFill>
            </a:endParaRPr>
          </a:p>
        </p:txBody>
      </p:sp>
      <p:pic>
        <p:nvPicPr>
          <p:cNvPr id="8" name="Picture 7" descr="notifications.png"/>
          <p:cNvPicPr>
            <a:picLocks noChangeAspect="1"/>
          </p:cNvPicPr>
          <p:nvPr/>
        </p:nvPicPr>
        <p:blipFill>
          <a:blip r:embed="rId3"/>
          <a:srcRect b="16841"/>
          <a:stretch>
            <a:fillRect/>
          </a:stretch>
        </p:blipFill>
        <p:spPr>
          <a:xfrm>
            <a:off x="1561837" y="1122864"/>
            <a:ext cx="9065150" cy="2476658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3600352" y="3777278"/>
            <a:ext cx="498812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08900" y="3813973"/>
            <a:ext cx="497102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 err="1">
                <a:solidFill>
                  <a:srgbClr val="7A8AA8"/>
                </a:solidFill>
              </a:rPr>
              <a:t>Bandeja</a:t>
            </a:r>
            <a:r>
              <a:rPr sz="1300" b="0" i="1" dirty="0">
                <a:solidFill>
                  <a:srgbClr val="7A8AA8"/>
                </a:solidFill>
              </a:rPr>
              <a:t> de </a:t>
            </a:r>
            <a:r>
              <a:rPr sz="1300" b="0" i="1" dirty="0" err="1">
                <a:solidFill>
                  <a:srgbClr val="7A8AA8"/>
                </a:solidFill>
              </a:rPr>
              <a:t>notificaciones</a:t>
            </a:r>
            <a:r>
              <a:rPr sz="1300" b="0" i="1" dirty="0">
                <a:solidFill>
                  <a:srgbClr val="7A8AA8"/>
                </a:solidFill>
              </a:rPr>
              <a:t> </a:t>
            </a:r>
            <a:r>
              <a:rPr sz="1300" b="0" i="1" dirty="0" err="1">
                <a:solidFill>
                  <a:srgbClr val="7A8AA8"/>
                </a:solidFill>
              </a:rPr>
              <a:t>en</a:t>
            </a:r>
            <a:r>
              <a:rPr sz="1300" b="0" i="1" dirty="0">
                <a:solidFill>
                  <a:srgbClr val="7A8AA8"/>
                </a:solidFill>
              </a:rPr>
              <a:t> </a:t>
            </a:r>
            <a:r>
              <a:rPr sz="1300" b="0" i="1" dirty="0" err="1">
                <a:solidFill>
                  <a:srgbClr val="7A8AA8"/>
                </a:solidFill>
              </a:rPr>
              <a:t>tiempo</a:t>
            </a:r>
            <a:r>
              <a:rPr sz="1300" b="0" i="1" dirty="0">
                <a:solidFill>
                  <a:srgbClr val="7A8AA8"/>
                </a:solidFill>
              </a:rPr>
              <a:t>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085" y="440364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F5C518"/>
                </a:solidFill>
              </a:rPr>
              <a:t>¿</a:t>
            </a:r>
            <a:r>
              <a:rPr sz="1800" b="1" i="0" dirty="0" err="1">
                <a:solidFill>
                  <a:srgbClr val="F5C518"/>
                </a:solidFill>
              </a:rPr>
              <a:t>Cómo</a:t>
            </a:r>
            <a:r>
              <a:rPr sz="1800" b="1" i="0" dirty="0">
                <a:solidFill>
                  <a:srgbClr val="F5C518"/>
                </a:solidFill>
              </a:rPr>
              <a:t> </a:t>
            </a:r>
            <a:r>
              <a:rPr sz="1800" b="1" i="0" dirty="0" err="1">
                <a:solidFill>
                  <a:srgbClr val="F5C518"/>
                </a:solidFill>
              </a:rPr>
              <a:t>funciona</a:t>
            </a:r>
            <a:r>
              <a:rPr sz="1800" b="1" i="0" dirty="0">
                <a:solidFill>
                  <a:srgbClr val="F5C518"/>
                </a:solidFill>
              </a:rPr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895005"/>
            <a:ext cx="3624468" cy="777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1" y="4895005"/>
            <a:ext cx="380743" cy="7772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1" y="5013877"/>
            <a:ext cx="380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5" y="4959013"/>
            <a:ext cx="277625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C8D0E0"/>
                </a:solidFill>
              </a:rPr>
              <a:t>El root layout </a:t>
            </a:r>
            <a:r>
              <a:rPr sz="1300" b="0" i="0" dirty="0" err="1">
                <a:solidFill>
                  <a:srgbClr val="C8D0E0"/>
                </a:solidFill>
              </a:rPr>
              <a:t>establece</a:t>
            </a:r>
            <a:r>
              <a:rPr sz="1300" b="0" i="0" dirty="0">
                <a:solidFill>
                  <a:srgbClr val="C8D0E0"/>
                </a:solidFill>
              </a:rPr>
              <a:t> la </a:t>
            </a:r>
            <a:r>
              <a:rPr sz="1300" b="0" i="0" dirty="0" err="1">
                <a:solidFill>
                  <a:srgbClr val="C8D0E0"/>
                </a:solidFill>
              </a:rPr>
              <a:t>conexión</a:t>
            </a:r>
            <a:r>
              <a:rPr sz="1300" b="0" i="0" dirty="0">
                <a:solidFill>
                  <a:srgbClr val="C8D0E0"/>
                </a:solidFill>
              </a:rPr>
              <a:t> WebSocket al </a:t>
            </a:r>
            <a:r>
              <a:rPr sz="1300" b="0" i="0" dirty="0" err="1">
                <a:solidFill>
                  <a:srgbClr val="C8D0E0"/>
                </a:solidFill>
              </a:rPr>
              <a:t>autenticarse</a:t>
            </a:r>
            <a:endParaRPr sz="1300" b="0" i="0" dirty="0">
              <a:solidFill>
                <a:srgbClr val="C8D0E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5828372"/>
            <a:ext cx="3624468" cy="777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5828372"/>
            <a:ext cx="438912" cy="7772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947244"/>
            <a:ext cx="438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58923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C8D0E0"/>
                </a:solidFill>
              </a:rPr>
              <a:t>El </a:t>
            </a:r>
            <a:r>
              <a:rPr sz="1300" b="0" i="0" dirty="0" err="1">
                <a:solidFill>
                  <a:srgbClr val="C8D0E0"/>
                </a:solidFill>
              </a:rPr>
              <a:t>servidor</a:t>
            </a:r>
            <a:r>
              <a:rPr sz="1300" b="0" i="0" dirty="0">
                <a:solidFill>
                  <a:srgbClr val="C8D0E0"/>
                </a:solidFill>
              </a:rPr>
              <a:t> </a:t>
            </a:r>
            <a:r>
              <a:rPr sz="1300" b="0" i="0" dirty="0" err="1">
                <a:solidFill>
                  <a:srgbClr val="C8D0E0"/>
                </a:solidFill>
              </a:rPr>
              <a:t>detecta</a:t>
            </a:r>
            <a:r>
              <a:rPr sz="1300" b="0" i="0" dirty="0">
                <a:solidFill>
                  <a:srgbClr val="C8D0E0"/>
                </a:solidFill>
              </a:rPr>
              <a:t> </a:t>
            </a:r>
            <a:r>
              <a:rPr sz="1300" b="0" i="0" dirty="0" err="1">
                <a:solidFill>
                  <a:srgbClr val="C8D0E0"/>
                </a:solidFill>
              </a:rPr>
              <a:t>el</a:t>
            </a:r>
            <a:r>
              <a:rPr sz="1300" b="0" i="0" dirty="0">
                <a:solidFill>
                  <a:srgbClr val="C8D0E0"/>
                </a:solidFill>
              </a:rPr>
              <a:t> </a:t>
            </a:r>
            <a:r>
              <a:rPr sz="1300" b="0" i="0" dirty="0" err="1">
                <a:solidFill>
                  <a:srgbClr val="C8D0E0"/>
                </a:solidFill>
              </a:rPr>
              <a:t>evento</a:t>
            </a:r>
            <a:r>
              <a:rPr sz="1300" b="0" i="0" dirty="0">
                <a:solidFill>
                  <a:srgbClr val="C8D0E0"/>
                </a:solidFill>
              </a:rPr>
              <a:t> (follow, like, </a:t>
            </a:r>
            <a:r>
              <a:rPr sz="1300" b="0" i="0" dirty="0" err="1">
                <a:solidFill>
                  <a:srgbClr val="C8D0E0"/>
                </a:solidFill>
              </a:rPr>
              <a:t>comentario</a:t>
            </a:r>
            <a:r>
              <a:rPr sz="1300" b="0" i="0" dirty="0">
                <a:solidFill>
                  <a:srgbClr val="C8D0E0"/>
                </a:solidFill>
              </a:rPr>
              <a:t>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04429" y="4895005"/>
            <a:ext cx="3624469" cy="777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04430" y="4895005"/>
            <a:ext cx="438912" cy="7772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04430" y="5013877"/>
            <a:ext cx="438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6494" y="4959013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C8D0E0"/>
                </a:solidFill>
              </a:rPr>
              <a:t>Envía</a:t>
            </a:r>
            <a:r>
              <a:rPr sz="1300" b="0" i="0" dirty="0">
                <a:solidFill>
                  <a:srgbClr val="C8D0E0"/>
                </a:solidFill>
              </a:rPr>
              <a:t> un </a:t>
            </a:r>
            <a:r>
              <a:rPr sz="1300" b="0" i="0" dirty="0" err="1">
                <a:solidFill>
                  <a:srgbClr val="C8D0E0"/>
                </a:solidFill>
              </a:rPr>
              <a:t>mensaje</a:t>
            </a:r>
            <a:r>
              <a:rPr sz="1300" b="0" i="0" dirty="0">
                <a:solidFill>
                  <a:srgbClr val="C8D0E0"/>
                </a:solidFill>
              </a:rPr>
              <a:t> STOMP al canal del </a:t>
            </a:r>
            <a:r>
              <a:rPr sz="1300" b="0" i="0" dirty="0" err="1">
                <a:solidFill>
                  <a:srgbClr val="C8D0E0"/>
                </a:solidFill>
              </a:rPr>
              <a:t>usuario</a:t>
            </a:r>
            <a:r>
              <a:rPr sz="1300" b="0" i="0" dirty="0">
                <a:solidFill>
                  <a:srgbClr val="C8D0E0"/>
                </a:solidFill>
              </a:rPr>
              <a:t> </a:t>
            </a:r>
            <a:r>
              <a:rPr sz="1300" b="0" i="0" dirty="0" err="1">
                <a:solidFill>
                  <a:srgbClr val="C8D0E0"/>
                </a:solidFill>
              </a:rPr>
              <a:t>destino</a:t>
            </a:r>
            <a:endParaRPr sz="1300" b="0" i="0" dirty="0">
              <a:solidFill>
                <a:srgbClr val="C8D0E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301124" y="5828372"/>
            <a:ext cx="3624470" cy="777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01124" y="5828372"/>
            <a:ext cx="438912" cy="7772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01124" y="5947244"/>
            <a:ext cx="438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3188" y="58923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C8D0E0"/>
                </a:solidFill>
              </a:rPr>
              <a:t>El </a:t>
            </a:r>
            <a:r>
              <a:rPr sz="1300" b="0" i="0" dirty="0" err="1">
                <a:solidFill>
                  <a:srgbClr val="C8D0E0"/>
                </a:solidFill>
              </a:rPr>
              <a:t>cliente</a:t>
            </a:r>
            <a:r>
              <a:rPr sz="1300" b="0" i="0" dirty="0">
                <a:solidFill>
                  <a:srgbClr val="C8D0E0"/>
                </a:solidFill>
              </a:rPr>
              <a:t> </a:t>
            </a:r>
            <a:r>
              <a:rPr sz="1300" b="0" i="0" dirty="0" err="1">
                <a:solidFill>
                  <a:srgbClr val="C8D0E0"/>
                </a:solidFill>
              </a:rPr>
              <a:t>recibe</a:t>
            </a:r>
            <a:r>
              <a:rPr sz="1300" b="0" i="0" dirty="0">
                <a:solidFill>
                  <a:srgbClr val="C8D0E0"/>
                </a:solidFill>
              </a:rPr>
              <a:t> </a:t>
            </a:r>
            <a:r>
              <a:rPr sz="1300" b="0" i="0" dirty="0" err="1">
                <a:solidFill>
                  <a:srgbClr val="C8D0E0"/>
                </a:solidFill>
              </a:rPr>
              <a:t>el</a:t>
            </a:r>
            <a:r>
              <a:rPr sz="1300" b="0" i="0" dirty="0">
                <a:solidFill>
                  <a:srgbClr val="C8D0E0"/>
                </a:solidFill>
              </a:rPr>
              <a:t> push y </a:t>
            </a:r>
            <a:r>
              <a:rPr sz="1300" b="0" i="0" dirty="0" err="1">
                <a:solidFill>
                  <a:srgbClr val="C8D0E0"/>
                </a:solidFill>
              </a:rPr>
              <a:t>actualiza</a:t>
            </a:r>
            <a:r>
              <a:rPr sz="1300" b="0" i="0" dirty="0">
                <a:solidFill>
                  <a:srgbClr val="C8D0E0"/>
                </a:solidFill>
              </a:rPr>
              <a:t> </a:t>
            </a:r>
            <a:r>
              <a:rPr sz="1300" b="0" i="0" dirty="0" err="1">
                <a:solidFill>
                  <a:srgbClr val="C8D0E0"/>
                </a:solidFill>
              </a:rPr>
              <a:t>el</a:t>
            </a:r>
            <a:r>
              <a:rPr sz="1300" b="0" i="0" dirty="0">
                <a:solidFill>
                  <a:srgbClr val="C8D0E0"/>
                </a:solidFill>
              </a:rPr>
              <a:t> badge de la navbar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53610" y="5375065"/>
            <a:ext cx="3624467" cy="777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53610" y="5375065"/>
            <a:ext cx="438912" cy="7772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53610" y="5493937"/>
            <a:ext cx="438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21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5674" y="5439073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</a:rPr>
              <a:t>Sin polling · respuesta inmediata · experiencia fluida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446520"/>
            <a:ext cx="59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400" b="0" i="0" dirty="0">
                <a:solidFill>
                  <a:srgbClr val="7A8AA8"/>
                </a:solidFill>
              </a:rPr>
              <a:t>13</a:t>
            </a:r>
            <a:endParaRPr sz="1400" b="0" i="0" dirty="0">
              <a:solidFill>
                <a:srgbClr val="7A8AA8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Interfaz — Sistema de diseño y responsive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400" b="0" i="0" dirty="0">
                <a:solidFill>
                  <a:srgbClr val="7A8AA8"/>
                </a:solidFill>
              </a:rPr>
              <a:t>14</a:t>
            </a:r>
            <a:endParaRPr sz="1400" b="0" i="0" dirty="0">
              <a:solidFill>
                <a:srgbClr val="7A8AA8"/>
              </a:solidFill>
            </a:endParaRPr>
          </a:p>
        </p:txBody>
      </p:sp>
      <p:pic>
        <p:nvPicPr>
          <p:cNvPr id="8" name="Picture 7" descr="discover_p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833" y="1152906"/>
            <a:ext cx="6035040" cy="2912763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1496833" y="4221879"/>
            <a:ext cx="603504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88273" y="4258455"/>
            <a:ext cx="585215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7A8AA8"/>
                </a:solidFill>
              </a:rPr>
              <a:t>Página de </a:t>
            </a:r>
            <a:r>
              <a:rPr sz="1300" b="0" i="1" dirty="0" err="1">
                <a:solidFill>
                  <a:srgbClr val="7A8AA8"/>
                </a:solidFill>
              </a:rPr>
              <a:t>descubrimiento</a:t>
            </a:r>
            <a:r>
              <a:rPr sz="1300" b="0" i="1" dirty="0">
                <a:solidFill>
                  <a:srgbClr val="7A8AA8"/>
                </a:solidFill>
              </a:rPr>
              <a:t> — Desktop (sidebar </a:t>
            </a:r>
            <a:r>
              <a:rPr sz="1300" b="0" i="1" dirty="0" err="1">
                <a:solidFill>
                  <a:srgbClr val="7A8AA8"/>
                </a:solidFill>
              </a:rPr>
              <a:t>fija</a:t>
            </a:r>
            <a:r>
              <a:rPr sz="1300" b="0" i="1" dirty="0">
                <a:solidFill>
                  <a:srgbClr val="7A8AA8"/>
                </a:solidFill>
              </a:rPr>
              <a:t> + grid </a:t>
            </a:r>
            <a:r>
              <a:rPr sz="1300" b="0" i="1" dirty="0" err="1">
                <a:solidFill>
                  <a:srgbClr val="7A8AA8"/>
                </a:solidFill>
              </a:rPr>
              <a:t>fluido</a:t>
            </a:r>
            <a:r>
              <a:rPr sz="1300" b="0" i="1" dirty="0">
                <a:solidFill>
                  <a:srgbClr val="7A8AA8"/>
                </a:solidFill>
              </a:rPr>
              <a:t>)</a:t>
            </a:r>
          </a:p>
        </p:txBody>
      </p:sp>
      <p:pic>
        <p:nvPicPr>
          <p:cNvPr id="11" name="Picture 10" descr="responsive_ipad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517" y="1571496"/>
            <a:ext cx="2348683" cy="3381750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8014517" y="1116430"/>
            <a:ext cx="2348684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67068" y="1143522"/>
            <a:ext cx="184357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7A8AA8"/>
                </a:solidFill>
              </a:rPr>
              <a:t>iPad Air + iPhone 12 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358" y="4872029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5C518"/>
                </a:solidFill>
              </a:rPr>
              <a:t>Sistema de </a:t>
            </a:r>
            <a:r>
              <a:rPr sz="1600" b="1" i="0" dirty="0" err="1">
                <a:solidFill>
                  <a:srgbClr val="F5C518"/>
                </a:solidFill>
              </a:rPr>
              <a:t>diseño</a:t>
            </a:r>
            <a:endParaRPr sz="1600" b="1" i="0" dirty="0">
              <a:solidFill>
                <a:srgbClr val="F5C518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22798" y="5356660"/>
            <a:ext cx="26060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9958" y="542066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5C518"/>
                </a:solidFill>
              </a:rPr>
              <a:t>Fondo: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78" y="5420668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E0"/>
                </a:solidFill>
              </a:rPr>
              <a:t>#0D121F navy → charcoal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65998" y="5356660"/>
            <a:ext cx="26060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03158" y="5420669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Acento: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3278" y="5420669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C8D0E0"/>
                </a:solidFill>
              </a:rPr>
              <a:t>#F5C518 dorado (UI </a:t>
            </a:r>
            <a:r>
              <a:rPr sz="1200" b="0" i="0" dirty="0" err="1">
                <a:solidFill>
                  <a:srgbClr val="C8D0E0"/>
                </a:solidFill>
              </a:rPr>
              <a:t>interactiva</a:t>
            </a:r>
            <a:r>
              <a:rPr sz="1200" b="0" i="0" dirty="0">
                <a:solidFill>
                  <a:srgbClr val="C8D0E0"/>
                </a:solidFill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09198" y="5356660"/>
            <a:ext cx="26060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46358" y="5420669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Títulos: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6478" y="5420669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E0"/>
                </a:solidFill>
              </a:rPr>
              <a:t>Playfair Display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52398" y="5356660"/>
            <a:ext cx="26060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89558" y="5420669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Cuerpo: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9678" y="5420669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E0"/>
                </a:solidFill>
              </a:rPr>
              <a:t>DM Sans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65998" y="6013835"/>
            <a:ext cx="26060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65998" y="6077844"/>
            <a:ext cx="1280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5C518"/>
                </a:solidFill>
              </a:rPr>
              <a:t>Componentes</a:t>
            </a:r>
            <a:r>
              <a:rPr sz="1300" b="1" i="0" dirty="0">
                <a:solidFill>
                  <a:srgbClr val="F5C518"/>
                </a:solidFill>
              </a:rPr>
              <a:t>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1878" y="6077844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C8D0E0"/>
                </a:solidFill>
              </a:rPr>
              <a:t>Radix UI + </a:t>
            </a:r>
            <a:r>
              <a:rPr sz="1200" b="0" i="0" dirty="0" err="1">
                <a:solidFill>
                  <a:srgbClr val="C8D0E0"/>
                </a:solidFill>
              </a:rPr>
              <a:t>shadcn</a:t>
            </a:r>
            <a:r>
              <a:rPr sz="1200" b="0" i="0" dirty="0">
                <a:solidFill>
                  <a:srgbClr val="C8D0E0"/>
                </a:solidFill>
              </a:rPr>
              <a:t>/</a:t>
            </a:r>
            <a:r>
              <a:rPr sz="1200" b="0" i="0" dirty="0" err="1">
                <a:solidFill>
                  <a:srgbClr val="C8D0E0"/>
                </a:solidFill>
              </a:rPr>
              <a:t>ui</a:t>
            </a:r>
            <a:endParaRPr sz="1200" b="0" i="0" dirty="0">
              <a:solidFill>
                <a:srgbClr val="C8D0E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009198" y="6013835"/>
            <a:ext cx="2606040" cy="56692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00639" y="6077843"/>
            <a:ext cx="1188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5C518"/>
                </a:solidFill>
              </a:rPr>
              <a:t>Accesibilidad</a:t>
            </a:r>
            <a:r>
              <a:rPr sz="1300" b="1" i="0" dirty="0">
                <a:solidFill>
                  <a:srgbClr val="F5C518"/>
                </a:solidFill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0752" y="6077843"/>
            <a:ext cx="15416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E0"/>
                </a:solidFill>
              </a:rPr>
              <a:t>ARIA-compliant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446520"/>
            <a:ext cx="59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400" b="0" i="0" dirty="0">
                <a:solidFill>
                  <a:srgbClr val="7A8AA8"/>
                </a:solidFill>
              </a:rPr>
              <a:t>14</a:t>
            </a:r>
            <a:endParaRPr sz="1400" b="0" i="0" dirty="0">
              <a:solidFill>
                <a:srgbClr val="7A8AA8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Pruebas y calidad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400" b="0" i="0" dirty="0">
                <a:solidFill>
                  <a:srgbClr val="7A8AA8"/>
                </a:solidFill>
              </a:rPr>
              <a:t>15</a:t>
            </a:r>
            <a:endParaRPr sz="1400" b="0" i="0" dirty="0">
              <a:solidFill>
                <a:srgbClr val="7A8AA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18"/>
                </a:solidFill>
              </a:rPr>
              <a:t>340 tests unitarios automatizados · JUnit 5 + Mockito · Cobertura JaCoCo</a:t>
            </a:r>
          </a:p>
        </p:txBody>
      </p:sp>
      <p:pic>
        <p:nvPicPr>
          <p:cNvPr id="9" name="Picture 8" descr="test_suit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87085"/>
            <a:ext cx="3840480" cy="43839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233094"/>
            <a:ext cx="384048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594360" y="6249306"/>
            <a:ext cx="3794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300" b="0" i="1" dirty="0">
                <a:solidFill>
                  <a:srgbClr val="7A8AA8"/>
                </a:solidFill>
              </a:rPr>
              <a:t>E</a:t>
            </a:r>
            <a:r>
              <a:rPr sz="1300" b="0" i="1" dirty="0" err="1">
                <a:solidFill>
                  <a:srgbClr val="7A8AA8"/>
                </a:solidFill>
              </a:rPr>
              <a:t>structura</a:t>
            </a:r>
            <a:r>
              <a:rPr sz="1300" b="0" i="1" dirty="0">
                <a:solidFill>
                  <a:srgbClr val="7A8AA8"/>
                </a:solidFill>
              </a:rPr>
              <a:t> de la suite de tests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572768"/>
            <a:ext cx="2286000" cy="15087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1664208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5C518"/>
                </a:solidFill>
              </a:rPr>
              <a:t>340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33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D0E0"/>
                </a:solidFill>
              </a:rPr>
              <a:t>tests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1572768"/>
            <a:ext cx="4754880" cy="15087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60920" y="1572768"/>
            <a:ext cx="4754880" cy="36576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159105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6EE76E"/>
                </a:solidFill>
              </a:rPr>
              <a:t>Patrón</a:t>
            </a:r>
            <a:r>
              <a:rPr sz="1500" b="1" i="0" dirty="0">
                <a:solidFill>
                  <a:srgbClr val="6EE76E"/>
                </a:solidFill>
              </a:rPr>
              <a:t> Arrange-Act-Assert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0299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Arrange: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0299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Preparar mocks y datos de prueba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3682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Act: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3682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C8D0E0"/>
                </a:solidFill>
              </a:rPr>
              <a:t>Ejecutar</a:t>
            </a:r>
            <a:r>
              <a:rPr sz="1400" b="0" i="0" dirty="0">
                <a:solidFill>
                  <a:srgbClr val="C8D0E0"/>
                </a:solidFill>
              </a:rPr>
              <a:t> la </a:t>
            </a:r>
            <a:r>
              <a:rPr sz="1400" b="0" i="0" dirty="0" err="1">
                <a:solidFill>
                  <a:srgbClr val="C8D0E0"/>
                </a:solidFill>
              </a:rPr>
              <a:t>operación</a:t>
            </a:r>
            <a:r>
              <a:rPr sz="1400" b="0" i="0" dirty="0">
                <a:solidFill>
                  <a:srgbClr val="C8D0E0"/>
                </a:solidFill>
              </a:rPr>
              <a:t> del </a:t>
            </a:r>
            <a:r>
              <a:rPr sz="1400" b="0" i="0" dirty="0" err="1">
                <a:solidFill>
                  <a:srgbClr val="C8D0E0"/>
                </a:solidFill>
              </a:rPr>
              <a:t>servicio</a:t>
            </a:r>
            <a:endParaRPr sz="1400" b="0" i="0" dirty="0">
              <a:solidFill>
                <a:srgbClr val="C8D0E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52360" y="27066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Assert: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7066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</a:rPr>
              <a:t>Verificar resultado e interacciones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3246120"/>
            <a:ext cx="7269480" cy="272491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37760" y="3310128"/>
            <a:ext cx="6949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Cobertura por capa: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3703320"/>
            <a:ext cx="7269480" cy="384048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60" y="37490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Controllers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49039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</a:rPr>
              <a:t>Validación HTTP y mapeo de DTOs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0600" y="4142231"/>
            <a:ext cx="7269480" cy="384048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60" y="41879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187952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</a:rPr>
              <a:t>Lógica de negocio — capa más crítica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600" y="4581144"/>
            <a:ext cx="7269480" cy="384048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37760" y="46268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Repositories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626864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</a:rPr>
              <a:t>Consultas JPA personalizadas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5020056"/>
            <a:ext cx="7269480" cy="384048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37760" y="506577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065775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</a:rPr>
              <a:t>JWT, filtros y roles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0600" y="5458968"/>
            <a:ext cx="7269480" cy="384048"/>
          </a:xfrm>
          <a:prstGeom prst="rect">
            <a:avLst/>
          </a:prstGeom>
          <a:solidFill>
            <a:srgbClr val="10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37760" y="5504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50468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</a:rPr>
              <a:t>Flujos end-to-end del back-end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75720" y="6446520"/>
            <a:ext cx="59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400" b="0" i="0" dirty="0">
                <a:solidFill>
                  <a:srgbClr val="7A8AA8"/>
                </a:solidFill>
              </a:rPr>
              <a:t>15</a:t>
            </a:r>
            <a:endParaRPr sz="1400" b="0" i="0" dirty="0">
              <a:solidFill>
                <a:srgbClr val="7A8AA8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Despliegue — Docker +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Diseño y resolución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400" b="0" i="0" dirty="0">
                <a:solidFill>
                  <a:srgbClr val="7A8AA8"/>
                </a:solidFill>
              </a:rPr>
              <a:t>16</a:t>
            </a:r>
            <a:endParaRPr sz="1400" b="0" i="0" dirty="0">
              <a:solidFill>
                <a:srgbClr val="7A8AA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C518"/>
                </a:solidFill>
              </a:rPr>
              <a:t>Pipeline de integración y entrega continua automatizado</a:t>
            </a:r>
          </a:p>
        </p:txBody>
      </p:sp>
      <p:pic>
        <p:nvPicPr>
          <p:cNvPr id="9" name="Picture 8" descr="ci_pipeline.png"/>
          <p:cNvPicPr>
            <a:picLocks noChangeAspect="1"/>
          </p:cNvPicPr>
          <p:nvPr/>
        </p:nvPicPr>
        <p:blipFill>
          <a:blip r:embed="rId3"/>
          <a:srcRect r="34955"/>
          <a:stretch>
            <a:fillRect/>
          </a:stretch>
        </p:blipFill>
        <p:spPr>
          <a:xfrm>
            <a:off x="575944" y="1563633"/>
            <a:ext cx="5333337" cy="3922679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548640" y="5687788"/>
            <a:ext cx="5360641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1977" y="5742872"/>
            <a:ext cx="530126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7A8AA8"/>
                </a:solidFill>
              </a:rPr>
              <a:t>Pipeline CI: tests · build JAR · build FE · verify Docker</a:t>
            </a:r>
          </a:p>
        </p:txBody>
      </p:sp>
      <p:pic>
        <p:nvPicPr>
          <p:cNvPr id="12" name="Picture 11" descr="cd_pipeline.png"/>
          <p:cNvPicPr>
            <a:picLocks noChangeAspect="1"/>
          </p:cNvPicPr>
          <p:nvPr/>
        </p:nvPicPr>
        <p:blipFill>
          <a:blip r:embed="rId4"/>
          <a:srcRect r="34955"/>
          <a:stretch>
            <a:fillRect/>
          </a:stretch>
        </p:blipFill>
        <p:spPr>
          <a:xfrm>
            <a:off x="6094412" y="1563632"/>
            <a:ext cx="5381033" cy="3922679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6094412" y="5687788"/>
            <a:ext cx="5381308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4412" y="5742872"/>
            <a:ext cx="547274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7A8AA8"/>
                </a:solidFill>
              </a:rPr>
              <a:t>Pipeline CD: tests · build images → GHCR · deploy Kubernetes (</a:t>
            </a:r>
            <a:r>
              <a:rPr sz="1300" b="0" i="1" dirty="0" err="1">
                <a:solidFill>
                  <a:srgbClr val="7A8AA8"/>
                </a:solidFill>
              </a:rPr>
              <a:t>Minikube</a:t>
            </a:r>
            <a:r>
              <a:rPr sz="1300" b="0" i="1" dirty="0">
                <a:solidFill>
                  <a:srgbClr val="7A8AA8"/>
                </a:solidFill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46520"/>
            <a:ext cx="59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400" b="0" i="0" dirty="0">
                <a:solidFill>
                  <a:srgbClr val="7A8AA8"/>
                </a:solidFill>
              </a:rPr>
              <a:t>16</a:t>
            </a:r>
            <a:endParaRPr sz="1400" b="0" i="0" dirty="0">
              <a:solidFill>
                <a:srgbClr val="7A8AA8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C518"/>
                </a:solidFill>
              </a:rPr>
              <a:t>DEMO — MovieMate en funcionamiento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homep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3657600" cy="177150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3529584"/>
            <a:ext cx="365760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 err="1">
                <a:solidFill>
                  <a:srgbClr val="7A8AA8"/>
                </a:solidFill>
              </a:rPr>
              <a:t>Inicio</a:t>
            </a:r>
            <a:r>
              <a:rPr sz="1300" b="0" i="1" dirty="0">
                <a:solidFill>
                  <a:srgbClr val="7A8AA8"/>
                </a:solidFill>
              </a:rPr>
              <a:t> — </a:t>
            </a:r>
            <a:r>
              <a:rPr sz="1300" b="0" i="1" dirty="0" err="1">
                <a:solidFill>
                  <a:srgbClr val="7A8AA8"/>
                </a:solidFill>
              </a:rPr>
              <a:t>tendencias</a:t>
            </a:r>
            <a:r>
              <a:rPr sz="1300" b="0" i="1" dirty="0">
                <a:solidFill>
                  <a:srgbClr val="7A8AA8"/>
                </a:solidFill>
              </a:rPr>
              <a:t> + </a:t>
            </a:r>
            <a:r>
              <a:rPr sz="1300" b="0" i="1" dirty="0" err="1">
                <a:solidFill>
                  <a:srgbClr val="7A8AA8"/>
                </a:solidFill>
              </a:rPr>
              <a:t>recomendaciones</a:t>
            </a:r>
            <a:endParaRPr sz="1300" b="0" i="1" dirty="0">
              <a:solidFill>
                <a:srgbClr val="7A8AA8"/>
              </a:solidFill>
            </a:endParaRPr>
          </a:p>
        </p:txBody>
      </p:sp>
      <p:pic>
        <p:nvPicPr>
          <p:cNvPr id="9" name="Picture 8" descr="discover_p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005840"/>
            <a:ext cx="3657600" cy="176531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297680" y="3529584"/>
            <a:ext cx="365760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3566160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 err="1">
                <a:solidFill>
                  <a:srgbClr val="7A8AA8"/>
                </a:solidFill>
              </a:rPr>
              <a:t>Descubrimiento</a:t>
            </a:r>
            <a:r>
              <a:rPr sz="1300" b="0" i="1" dirty="0">
                <a:solidFill>
                  <a:srgbClr val="7A8AA8"/>
                </a:solidFill>
              </a:rPr>
              <a:t> — </a:t>
            </a:r>
            <a:r>
              <a:rPr sz="1300" b="0" i="1" dirty="0" err="1">
                <a:solidFill>
                  <a:srgbClr val="7A8AA8"/>
                </a:solidFill>
              </a:rPr>
              <a:t>búsqueda</a:t>
            </a:r>
            <a:r>
              <a:rPr sz="1300" b="0" i="1" dirty="0">
                <a:solidFill>
                  <a:srgbClr val="7A8AA8"/>
                </a:solidFill>
              </a:rPr>
              <a:t> global</a:t>
            </a:r>
          </a:p>
        </p:txBody>
      </p:sp>
      <p:pic>
        <p:nvPicPr>
          <p:cNvPr id="12" name="Picture 11" descr="content_detail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005840"/>
            <a:ext cx="3657600" cy="175911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138160" y="3529584"/>
            <a:ext cx="365760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3566160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 err="1">
                <a:solidFill>
                  <a:srgbClr val="7A8AA8"/>
                </a:solidFill>
              </a:rPr>
              <a:t>Ficha</a:t>
            </a:r>
            <a:r>
              <a:rPr sz="1300" b="0" i="1" dirty="0">
                <a:solidFill>
                  <a:srgbClr val="7A8AA8"/>
                </a:solidFill>
              </a:rPr>
              <a:t> — </a:t>
            </a:r>
            <a:r>
              <a:rPr sz="1300" b="0" i="1" dirty="0" err="1">
                <a:solidFill>
                  <a:srgbClr val="7A8AA8"/>
                </a:solidFill>
              </a:rPr>
              <a:t>valoración</a:t>
            </a:r>
            <a:r>
              <a:rPr sz="1300" b="0" i="1" dirty="0">
                <a:solidFill>
                  <a:srgbClr val="7A8AA8"/>
                </a:solidFill>
              </a:rPr>
              <a:t> + tracking</a:t>
            </a:r>
          </a:p>
        </p:txBody>
      </p:sp>
      <p:pic>
        <p:nvPicPr>
          <p:cNvPr id="15" name="Picture 14" descr="profile_pag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94760"/>
            <a:ext cx="3657600" cy="176221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57200" y="6318504"/>
            <a:ext cx="365760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A8AA8"/>
                </a:solidFill>
              </a:rPr>
              <a:t>Perfil — stats + insignias + listas</a:t>
            </a:r>
          </a:p>
        </p:txBody>
      </p:sp>
      <p:pic>
        <p:nvPicPr>
          <p:cNvPr id="18" name="Picture 17" descr="activity_page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3794760"/>
            <a:ext cx="3657600" cy="176221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297680" y="6318504"/>
            <a:ext cx="365760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6355080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 err="1">
                <a:solidFill>
                  <a:srgbClr val="7A8AA8"/>
                </a:solidFill>
              </a:rPr>
              <a:t>Actividad</a:t>
            </a:r>
            <a:r>
              <a:rPr sz="1300" b="0" i="1" dirty="0">
                <a:solidFill>
                  <a:srgbClr val="7A8AA8"/>
                </a:solidFill>
              </a:rPr>
              <a:t> — feed social</a:t>
            </a:r>
          </a:p>
        </p:txBody>
      </p:sp>
      <p:pic>
        <p:nvPicPr>
          <p:cNvPr id="21" name="Picture 20" descr="admin_pane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3794760"/>
            <a:ext cx="3657600" cy="176240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38160" y="6318504"/>
            <a:ext cx="3657600" cy="347472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6355080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7A8AA8"/>
                </a:solidFill>
              </a:rPr>
              <a:t>Administración — </a:t>
            </a:r>
            <a:r>
              <a:rPr sz="1300" b="0" i="1" dirty="0" err="1">
                <a:solidFill>
                  <a:srgbClr val="7A8AA8"/>
                </a:solidFill>
              </a:rPr>
              <a:t>reportes</a:t>
            </a:r>
            <a:endParaRPr sz="1300" b="0" i="1" dirty="0">
              <a:solidFill>
                <a:srgbClr val="7A8AA8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475720" y="64465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 dirty="0">
                <a:solidFill>
                  <a:srgbClr val="7A8AA8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Conclusiones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400" b="0" i="0" dirty="0">
                <a:solidFill>
                  <a:srgbClr val="7A8AA8"/>
                </a:solidFill>
              </a:rPr>
              <a:t>18</a:t>
            </a:r>
            <a:endParaRPr sz="1400" b="0" i="0" dirty="0">
              <a:solidFill>
                <a:srgbClr val="7A8AA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C518"/>
                </a:solidFill>
              </a:rPr>
              <a:t>Todos los objetivos planteados han sido cumplidos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1106424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6642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✓ Plataforma funcional completa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6916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Full-stack desplegable con todas las funcionalidades planificadas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04872"/>
            <a:ext cx="1106424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404872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46887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✓ Arquitectura modular y escalable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496312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Monolito en capas; preparado para evolución a microservicios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09544"/>
            <a:ext cx="1106424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209544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273551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✓ Integración eficiente con TMDB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300984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Caché bajo demanda + TTL: mínima dependencia externa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14216"/>
            <a:ext cx="1106424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014216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0782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✓ Comunicación en tiempo real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105656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WebSockets STOMP: notificaciones push sin polling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18888"/>
            <a:ext cx="1106424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4818888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88289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✓ Calidad demostrada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910327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340 tests unitarios automatizados · cobertura JaCoCo · CI/CD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623560"/>
            <a:ext cx="1106424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5623560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6875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✓ UI responsive y accesible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571500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Desktop + tablet + mobile · Radix UI ARIA-compliant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446520"/>
            <a:ext cx="59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400" b="0" i="0" dirty="0">
                <a:solidFill>
                  <a:srgbClr val="7A8AA8"/>
                </a:solidFill>
              </a:rPr>
              <a:t>18</a:t>
            </a:r>
            <a:endParaRPr sz="1400" b="0" i="0" dirty="0">
              <a:solidFill>
                <a:srgbClr val="7A8AA8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Vías futuras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011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7A8AA8"/>
                </a:solidFill>
              </a:rPr>
              <a:t>Conclusiones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0972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594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400" b="0" i="0" dirty="0">
                <a:solidFill>
                  <a:srgbClr val="7A8AA8"/>
                </a:solidFill>
              </a:rPr>
              <a:t>19</a:t>
            </a:r>
            <a:endParaRPr sz="1400" b="0" i="0" dirty="0">
              <a:solidFill>
                <a:srgbClr val="7A8AA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C518"/>
                </a:solidFill>
              </a:rPr>
              <a:t>Cuatro líneas de evolución identificadas en la memoria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0000"/>
            <a:ext cx="1106424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00000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1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App móvil nativa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191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React Native para iOS y Android · reutilización de la lógica del cliente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00000"/>
            <a:ext cx="1106424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000000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0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Recomendador con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091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Filtrado colaborativo · sugerencias más precisas y personalizadas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00000"/>
            <a:ext cx="1106424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900000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9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Integración con streaming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991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Disponibilidad en plataformas · visualizaciones en grupo · exportación del historial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00000"/>
            <a:ext cx="11064240" cy="71323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800000"/>
            <a:ext cx="73152" cy="7132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8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C518"/>
                </a:solidFill>
              </a:rPr>
              <a:t>Migración a microservicios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891440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0E0"/>
                </a:solidFill>
              </a:rPr>
              <a:t>Desacoplar componentes críticos y escalar de forma independiente por servicio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73152" cy="652881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5C518"/>
                </a:solidFill>
              </a:rPr>
              <a:t>MovieMate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C8D0E0"/>
                </a:solidFill>
              </a:rPr>
              <a:t>App de gestión y valoración de películas y series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566160"/>
            <a:ext cx="7616952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¿Preguntas?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Christian Matas Conesa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7A8AA8"/>
                </a:solidFill>
              </a:rPr>
              <a:t>Tutor: Francisco García Sánchez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7A8AA8"/>
                </a:solidFill>
              </a:rPr>
              <a:t>Grado </a:t>
            </a:r>
            <a:r>
              <a:rPr sz="1600" b="0" i="0" dirty="0" err="1">
                <a:solidFill>
                  <a:srgbClr val="7A8AA8"/>
                </a:solidFill>
              </a:rPr>
              <a:t>en</a:t>
            </a:r>
            <a:r>
              <a:rPr sz="1600" b="0" i="0" dirty="0">
                <a:solidFill>
                  <a:srgbClr val="7A8AA8"/>
                </a:solidFill>
              </a:rPr>
              <a:t> Ingeniería </a:t>
            </a:r>
            <a:r>
              <a:rPr sz="1600" b="0" i="0" dirty="0" err="1">
                <a:solidFill>
                  <a:srgbClr val="7A8AA8"/>
                </a:solidFill>
              </a:rPr>
              <a:t>Informática</a:t>
            </a:r>
            <a:r>
              <a:rPr sz="1600" b="0" i="0" dirty="0">
                <a:solidFill>
                  <a:srgbClr val="7A8AA8"/>
                </a:solidFill>
              </a:rPr>
              <a:t>  ·  Universidad de Murcia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</TotalTime>
  <Words>3479</Words>
  <Application>Microsoft Office PowerPoint</Application>
  <PresentationFormat>Personalizado</PresentationFormat>
  <Paragraphs>423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CHRISTIAN MATAS CONESA</cp:lastModifiedBy>
  <cp:revision>59</cp:revision>
  <dcterms:created xsi:type="dcterms:W3CDTF">2013-01-27T09:14:16Z</dcterms:created>
  <dcterms:modified xsi:type="dcterms:W3CDTF">2026-06-07T23:09:02Z</dcterms:modified>
  <cp:category/>
</cp:coreProperties>
</file>