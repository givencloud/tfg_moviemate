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73" r:id="rId14"/>
    <p:sldId id="269" r:id="rId15"/>
    <p:sldId id="270" r:id="rId16"/>
    <p:sldId id="271" r:id="rId17"/>
    <p:sldId id="272" r:id="rId18"/>
    <p:sldId id="274" r:id="rId19"/>
    <p:sldId id="276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6" autoAdjust="0"/>
  </p:normalViewPr>
  <p:slideViewPr>
    <p:cSldViewPr snapToGrid="0" snapToObjects="1">
      <p:cViewPr varScale="1">
        <p:scale>
          <a:sx n="127" d="100"/>
          <a:sy n="127" d="100"/>
        </p:scale>
        <p:origin x="259" y="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93"/>
    </p:cViewPr>
  </p:sorterViewPr>
  <p:notesViewPr>
    <p:cSldViewPr snapToGrid="0" snapToObjects="1">
      <p:cViewPr varScale="1">
        <p:scale>
          <a:sx n="92" d="100"/>
          <a:sy n="92" d="100"/>
        </p:scale>
        <p:origin x="411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34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Buenos días. Mi nombre es Christian Matas Conesa y voy a presentar mi Trabajo de Fin de Grado, este se titula </a:t>
            </a:r>
            <a:r>
              <a:rPr lang="es-E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MovieMate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ha sido tutorizado por el profesor Francisco García Sánchez.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proyecto consiste en una plataforma web orientada a ser lo más completa posible incluyendo funcionalidades como la gestión, valoración y descubrimiento de series y películas, integrando además funcionalidades sociales.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presentación sigue la estructura de la memoria. Empezaré con la introducción, donde explico el contexto y la motivación del proyecto.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Después veremos el estado del arte, analizando qué soluciones existen y qué tecnologías elegí.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continuación presentaré los objetivos y la metodología, y luego entraré en el núcleo del trabajo: el diseño e implementación de la aplicación, donde también cubriré las pruebas y el despliegue.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Terminaré con las conclusiones y las líneas de trabajo futuras.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punto de partida del proyecto es un problema real. Hoy en día, si alguien consume tanto películas como series y quiere llevar un registro de lo que ha visto, valorarlo y compartirlo con otros, se encuentra con que no existe una única plataforma que lo haga todo bien.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Tenemos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Letterboxd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es muy buena para el cine pero no contempla series. Tenemos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Serializd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es el equivalente para series pero ignora el cine. Y tenemos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IMDb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que cubre los dos tipos de contenido pero carece de una red social real.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resultado es una fragmentación: el historial de visionado disperso en tres apps, las valoraciones separadas, ninguna comunidad unificada. Ese es exactamente el hueco que MovieMate viene a cubrir.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MovieMate es una plataforma web unificada que integra en un único sistema todo lo que un usuario de contenido audiovisual necesita:</a:t>
            </a:r>
            <a:endParaRPr lang="es-ES" b="0" dirty="0">
              <a:effectLst/>
            </a:endParaRP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Gestión de películas y series en el mismo sitio.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sistema completo de valoraciones y reseñas.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Listas personalizadas para organizar el contenido.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 red social con seguimiento de usuarios y feed de actividad.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Notificaciones en tiempo real cuando alguien interactúa con tu contenido.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sistema de gamificación con insignias que premia la actividad del usuario.</a:t>
            </a: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idea no es reinventar la rueda: es coger lo mejor de cada plataforma existente y fusionarlo en una sola experiencia coherente.</a:t>
            </a:r>
            <a:endParaRPr lang="es-ES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tabla resume el análisis comparativo que hice al comienzo del proyecto.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se puede ver, ninguna de las tres plataformas existentes cubre el conjunto completo.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Letterboxd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tiene series ni notificaciones ni gamificación.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IMDb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tiene listas personalizadas ni red social real.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Serializd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tiene un componente social básico pero solo para series, y tampoco tiene notificaciones ni gamificación.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columna de MovieMate tiene un ✓ en todas las filas. Esto no es casualidad: el diseño de las funcionalidades partió precisamente de este análisis de carencias. No se añadió nada porque sí; cada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tiene una justificación en las limitaciones de las soluciones actuales.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construir MovieMate elegí un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moderno que cubre las tres dimensiones del sistema.</a:t>
            </a:r>
            <a:endParaRPr lang="es-ES" b="0" dirty="0">
              <a:effectLst/>
            </a:endParaRPr>
          </a:p>
          <a:p>
            <a:pPr rtl="0"/>
            <a:r>
              <a:rPr lang="es-E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el back-end: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Java 21 con Spring Boot 3, que aporta madurez y un ecosistema robusto. Spring Security con JWT para autenticación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stateless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Spring Data JPA con PostgreSQL para la persistencia. 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 el protocolo STOMP para las notificaciones en tiempo real.</a:t>
            </a:r>
            <a:endParaRPr lang="es-ES" b="0" dirty="0">
              <a:effectLst/>
            </a:endParaRPr>
          </a:p>
          <a:p>
            <a:pPr rtl="0"/>
            <a:r>
              <a:rPr lang="es-E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el </a:t>
            </a:r>
            <a:r>
              <a:rPr lang="es-E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</a:t>
            </a:r>
            <a:r>
              <a:rPr lang="es-E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-end: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TypeScript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TanStack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Query para la gestión del estado asíncrono,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el estado global, Tailwind CSS 4 y componentes accesibles de Radix UI 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shadcn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s-ES" b="0" dirty="0">
              <a:effectLst/>
            </a:endParaRPr>
          </a:p>
          <a:p>
            <a:pPr rtl="0"/>
            <a:r>
              <a:rPr lang="es-E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infraestructura: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API de TMDB para los metadatos de películas y series, Docker y Docker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la contenerización, GitHub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el CI/CD, 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Minikube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el despliegue.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elección de cada tecnología está justificada en la memoria, pero en todos los casos el criterio fue el mismo: madurez, ecosistema y adecuación al problema.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objetivo principal del TFG es el diseño y desarrollo de una aplicación web responsive para la gestión y valoración de contenido audiovisual.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Ese objetivo se descompone en cinco subobjetivos:</a:t>
            </a:r>
            <a:endParaRPr lang="es-ES" b="0" dirty="0">
              <a:effectLst/>
            </a:endParaRP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Analizar las soluciones existentes.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Seleccionar las tecnologías adecuadas.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Implementar un prototipo funcional completo.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Desplegarlo en un entorno contenerizado.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Documentar todo el trabajo.</a:t>
            </a: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conseguirlos, seguí una metodología iterativa e incremental organizada en cinco tareas: análisis preliminar, diseño, implementación, pruebas y validación, y documentación.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Pasamos a la parte más técnica de la presentación.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MovieMate se diseñó como un monolito modular con arquitectura MVC y API RESTful. El diagrama que veis muestra la separación entre cliente, servidor, base de datos y servicio externo.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Elegí el monolito modular de forma deliberada: para un proyecto de este alcance, una arquitectura de microservicios habría añadido complejidad operativa sin un beneficio real.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monolito modular da lo mejor de los dos mundos: simplicidad de despliegue del monolito y separación lógica interna que prepara el sistema para una futura evolución hacia microservicios si la carga lo requiriese.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back-end se estructura en cuatro capas: presentación, negocio, persistencia y seguridad. 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 es una SPA independiente que se comunica con el servidor únicamente a través de la API.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el back-end, el flujo de cada petición sigue la secuencia que veis en el diagrama: la petición HTTP entra, pasa por el filtro JWT, llega al controlador, que delega en el servicio, que accede al repositorio, que habla con PostgreSQL.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Quiero destacar cinco decisiones de implementación que consideré clave:</a:t>
            </a:r>
            <a:endParaRPr lang="es-ES" b="0" dirty="0">
              <a:effectLst/>
            </a:endParaRP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Primero, los controladores ligeros: sin lógica de negocio, solo validación y delegación.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Segundo,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DTOs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 todas las capas: las entidades JPA nunca se exponen directamente al cliente.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Tercero, autenticación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stateless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 JWT: sin sesiones en servidor, control por roles USER y ADMIN.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Cuarto,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lazy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loading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JPA: carga diferida en relaciones para evitar consultas innecesarias.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 quinto, caché bajo demanda con TMDB: el contenido solo se persiste en base de datos cuando hay interacción real de un usuario, minimizando la dependencia externa.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 es una SPA construida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 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TypeScript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página de inicio es representativa del patrón general: lanza múltiples consultas en paralelo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TanStack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Query, que gestiona el ciclo de vida de las peticiones, la caché y la revalidación automática.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estado de autenticación se gestiona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y la comunicación HTTP se centraliza en una instancia Axios que añade el token JWT automáticamente en cada petición.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resultado es la página que veis: contenido en tendencia, recomendaciones personalizadas para el usuario autenticado y sugerencias de otros usuarios a seguir.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ficha de detalle es probablemente la pantalla más compleja de la aplicación.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 poster,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backdrop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información completa del título obtenida de TMDB. Permite al usuario crear o editar su valoración con una puntuación de una a cinco estrellas, añadir el contenido a cualquiera de sus listas personalizadas y, en el caso de series, hacer seguimiento episodio a episodio.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También permite consultar las valoraciones de la comunidad y las recomendaciones personalizadas del sistema.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 esta lógica de sincronización con la base de datos y gestión de mutaciones está encapsulada en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personalizados, lo que permite que la página quede limpia y reutilizable.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componente social de MovieMate se articula en torno al perfil de usuario.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Cada perfil muestra la actividad reciente, las listas creadas, estadísticas de visionado y las insignias de gamificación obtenidas.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red social permite seguir a otros usuarios, con un flujo de solicitud de seguimiento cuando el perfil es privado.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feed de actividad muestra en tiempo real lo que hacen los usuarios que sigues: valoraciones nuevas, listas creadas y contenido añadido.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pueden dar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comentar valoraciones y comentar listas públicas. Además, hay un sistema de moderación: los usuarios pueden reportar contenido inapropiado y el administrador gestiona esos reportes desde un panel dedicado.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 de las funcionalidades técnicamente más interesantes es el sistema de notificaciones en tiempo real implementado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el protocolo STOMP.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flujo es el siguiente: cuando el usuario se autentica, 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layout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la aplicación establece una conexión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persistente con el servidor.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Cuando ocurre un evento —alguien te sigue, alguien da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tu reseña, alguien comenta tu lista— el servidor detecta ese evento, genera la notificación y envía un mensaje STOMP directamente al canal del usuario destinatario.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cliente recibe 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actualiza instantáneamente 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badge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notificaciones en la barra de navegación.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polling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sin recargas: la respuesta es inmediata. Esta arquitectura es lo que diferencia una experiencia de red social real de simplemente consultar una tabla de base de datos cada diez segundos.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MovieMate tiene una identidad visual coherente basada en el dominio del cine: fondo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navy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oscuro #0D121F, acento dorado #F5C518 para todos los elementos interactivos, tipografía Playfair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los títulos y DM Sans para el cuerpo.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interfaz es completamente responsive. En la pantalla podéis ver el mismo contenido adaptado a escritorio,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iPad Air e iPhone.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escritorio, una barra lateral fija maximiza el espacio para los listados. En móvil, una barra inferior fija es más ergonómica para el uso con una mano.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 componentes se construyen sobre Radix UI, que garantiza accesibilidad ARIA-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compliant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forma nativa.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calidad del back-end se valida con 340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unitarios automatizados implementados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JUnit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Mockito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siguiendo el patrón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Arrange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-Assert.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suite cubre las seis capas del sistema:</a:t>
            </a:r>
            <a:endParaRPr lang="es-ES" b="0" dirty="0">
              <a:effectLst/>
            </a:endParaRP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Controladores, para validación HTTP y mapeo de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DTOs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Servicios, que son la capa más crítica, donde reside la lógica de negocio.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Repositorios, para consultas JPA personalizadas.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Seguridad, incluyendo filtros JWT y control de roles.</a:t>
            </a:r>
          </a:p>
          <a:p>
            <a:pPr rtl="0" fontAlgn="base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integración que validan flujos end-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 del back-end.</a:t>
            </a: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análisis de cobertura se genera automáticamente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JaCoCo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 cada ejecución del pipeline de CI.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son un añadido al final: se ejecutan en cada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un fallo de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bloquea la integración del código en la rama principal.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despliegue está completamente automatizado mediante dos pipelines de GitHub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Actions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pipeline de integración continua se ejecuta en cada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lanza los 340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construye el JAR del back-end, construye 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 y valida que los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Dockerfiles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 correctos. Cualquier fallo bloquea la integración.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pipeline de entrega continua se activa cuando hay cambios en la rama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construye las imágenes Docker del back-end y del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-end, las publica en GitHub Container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Registry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las despliega en un clúster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local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Minikube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Dockerfile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back-end usa un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multi-stage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una imagen Maven para compilar, y una imagen JRE ligera de solo ejecución para producción, con un usuario no privilegiado por seguridad.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resultado es una imagen mínima, segura y reproducible.</a:t>
            </a:r>
            <a:endParaRPr lang="es-ES" b="0" dirty="0">
              <a:effectLst/>
            </a:endParaRPr>
          </a:p>
          <a:p>
            <a:br>
              <a:rPr lang="es-ES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DEMO EN VIVO: </a:t>
            </a:r>
            <a:r>
              <a:rPr dirty="0" err="1"/>
              <a:t>registro</a:t>
            </a:r>
            <a:r>
              <a:rPr dirty="0"/>
              <a:t> → </a:t>
            </a:r>
            <a:r>
              <a:rPr dirty="0" err="1"/>
              <a:t>inicio</a:t>
            </a:r>
            <a:r>
              <a:rPr dirty="0"/>
              <a:t> → </a:t>
            </a:r>
            <a:r>
              <a:rPr dirty="0" err="1"/>
              <a:t>buscar</a:t>
            </a:r>
            <a:r>
              <a:rPr dirty="0"/>
              <a:t> </a:t>
            </a:r>
            <a:r>
              <a:rPr dirty="0" err="1"/>
              <a:t>película</a:t>
            </a:r>
            <a:r>
              <a:rPr dirty="0"/>
              <a:t> → </a:t>
            </a:r>
            <a:r>
              <a:rPr dirty="0" err="1"/>
              <a:t>valorar</a:t>
            </a:r>
            <a:r>
              <a:rPr dirty="0"/>
              <a:t> → </a:t>
            </a:r>
            <a:r>
              <a:rPr dirty="0" err="1"/>
              <a:t>añadir</a:t>
            </a:r>
            <a:r>
              <a:rPr dirty="0"/>
              <a:t> a </a:t>
            </a:r>
            <a:r>
              <a:rPr dirty="0" err="1"/>
              <a:t>lista</a:t>
            </a:r>
            <a:r>
              <a:rPr dirty="0"/>
              <a:t> → </a:t>
            </a:r>
            <a:r>
              <a:rPr dirty="0" err="1"/>
              <a:t>perfil</a:t>
            </a:r>
            <a:r>
              <a:rPr dirty="0"/>
              <a:t> → </a:t>
            </a:r>
            <a:r>
              <a:rPr dirty="0" err="1"/>
              <a:t>notificación</a:t>
            </a:r>
            <a:r>
              <a:rPr dirty="0"/>
              <a:t> RT → admin. Si </a:t>
            </a:r>
            <a:r>
              <a:rPr dirty="0" err="1"/>
              <a:t>falla</a:t>
            </a:r>
            <a:r>
              <a:rPr dirty="0"/>
              <a:t>, </a:t>
            </a:r>
            <a:r>
              <a:rPr dirty="0" err="1"/>
              <a:t>usa</a:t>
            </a:r>
            <a:r>
              <a:rPr dirty="0"/>
              <a:t> </a:t>
            </a:r>
            <a:r>
              <a:rPr dirty="0" err="1"/>
              <a:t>estas</a:t>
            </a:r>
            <a:r>
              <a:rPr dirty="0"/>
              <a:t> </a:t>
            </a:r>
            <a:r>
              <a:rPr dirty="0" err="1"/>
              <a:t>capturas</a:t>
            </a:r>
            <a:r>
              <a:rPr dirty="0"/>
              <a:t> y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ellas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MovieMate cumple todos los objetivos que se plantearon al inicio del proyecto.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ha construido una plataforma full-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funcional con todas las funcionalidades planificadas y desplegable en producción.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arquitectura modular en capas ha demostrado ser la elección correcta para este alcance: favorece la separación de responsabilidades, la mantenibilidad y la capacidad de prueba.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integración con TMDB bajo demanda minimiza la dependencia externa y optimiza el rendimiento. Los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ofrecen notificaciones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polling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Los 340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tests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automatizados con cobertura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JaCoCo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garantizan la calidad del código. Y la interfaz responsive con componentes accesibles funciona bien en cualquier dispositivo.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conjunto, MovieMate demuestra que es viable integrar un conjunto amplio y heterogéneo de tecnologías modernas en un proyecto académico de esta escala.</a:t>
            </a:r>
            <a:endParaRPr lang="es-ES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pesar de que el sistema es funcional y completo, el análisis realizado durante el desarrollo ha permitido identificar cuatro líneas claras de evolución.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primera es el desarrollo de una app móvil nativa para iOS y Android. Con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Native se podría reutilizar gran parte de la lógica del cliente actual, lo que haría viable la expansión multiplataforma con un esfuerzo relativamente contenido.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segunda es un motor de recomendaciones basado en machine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El sistema actual usa reglas simples derivadas del historial de valoraciones; un enfoque de filtrado colaborativo ofrecería sugerencias mucho más precisas.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tercera es la integración con plataformas de </a:t>
            </a:r>
            <a:r>
              <a:rPr lang="es-E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streaming</a:t>
            </a:r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mostrar en qué servicios está disponible cada título, e incorporar funcionalidades como la planificación de visualizaciones en grupo.</a:t>
            </a:r>
            <a:endParaRPr lang="es-ES" b="0" dirty="0">
              <a:effectLst/>
            </a:endParaRPr>
          </a:p>
          <a:p>
            <a:pPr rtl="0"/>
            <a:r>
              <a:rPr lang="es-E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 la cuarta, desde el punto de vista arquitectónico, es la migración a microservicios para escalar de forma independiente los componentes críticos del sistema si la carga de usuarios lo requiriese.</a:t>
            </a:r>
            <a:endParaRPr lang="es-ES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jpg"/><Relationship Id="rId7" Type="http://schemas.openxmlformats.org/officeDocument/2006/relationships/image" Target="../media/image1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10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657600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7A8AA8"/>
                </a:solidFill>
              </a:rPr>
              <a:t>Grado </a:t>
            </a:r>
            <a:r>
              <a:rPr sz="1600" b="0" i="0" dirty="0" err="1">
                <a:solidFill>
                  <a:srgbClr val="7A8AA8"/>
                </a:solidFill>
              </a:rPr>
              <a:t>en</a:t>
            </a:r>
            <a:r>
              <a:rPr sz="1600" b="0" i="0" dirty="0">
                <a:solidFill>
                  <a:srgbClr val="7A8AA8"/>
                </a:solidFill>
              </a:rPr>
              <a:t> Ingeniería </a:t>
            </a:r>
            <a:r>
              <a:rPr sz="1600" b="0" i="0" dirty="0" err="1">
                <a:solidFill>
                  <a:srgbClr val="7A8AA8"/>
                </a:solidFill>
              </a:rPr>
              <a:t>Informática</a:t>
            </a:r>
            <a:r>
              <a:rPr sz="1600" b="0" i="0" dirty="0">
                <a:solidFill>
                  <a:srgbClr val="7A8AA8"/>
                </a:solidFill>
              </a:rPr>
              <a:t>  ·  Universidad de Murcia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Índice de contenidos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162348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62348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26939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2635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Introducción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5829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Contexto, problema y solución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67019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967019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131612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31027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Estado del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3876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Plataformas existentes y stack tecnológico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71692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2771692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936284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3570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</a:rPr>
              <a:t>Objetivos</a:t>
            </a:r>
            <a:r>
              <a:rPr sz="2000" b="1" i="0" dirty="0">
                <a:solidFill>
                  <a:srgbClr val="FFFFFF"/>
                </a:solidFill>
              </a:rPr>
              <a:t> y </a:t>
            </a:r>
            <a:r>
              <a:rPr sz="2000" b="1" i="0" dirty="0" err="1">
                <a:solidFill>
                  <a:srgbClr val="FFFFFF"/>
                </a:solidFill>
              </a:rPr>
              <a:t>metodología</a:t>
            </a:r>
            <a:endParaRPr sz="2000" b="1" i="0" dirty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1923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Qué construimos y cómo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76364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576364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740956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640372"/>
            <a:ext cx="4389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</a:rPr>
              <a:t>Diseño</a:t>
            </a:r>
            <a:r>
              <a:rPr sz="2000" b="1" i="0" dirty="0">
                <a:solidFill>
                  <a:srgbClr val="FFFFFF"/>
                </a:solidFill>
              </a:rPr>
              <a:t> </a:t>
            </a:r>
            <a:r>
              <a:rPr lang="es-ES" sz="2000" b="1" i="0" dirty="0">
                <a:solidFill>
                  <a:srgbClr val="FFFFFF"/>
                </a:solidFill>
              </a:rPr>
              <a:t>e implementación</a:t>
            </a:r>
            <a:endParaRPr sz="2000" b="1" i="0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25880" y="3996988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7A8AA8"/>
                </a:solidFill>
              </a:rPr>
              <a:t>Arquitectura</a:t>
            </a:r>
            <a:r>
              <a:rPr sz="1400" b="0" i="0" dirty="0">
                <a:solidFill>
                  <a:srgbClr val="7A8AA8"/>
                </a:solidFill>
              </a:rPr>
              <a:t> · Back-end · 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81036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381036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545628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44504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</a:rPr>
              <a:t>Pruebas</a:t>
            </a:r>
            <a:r>
              <a:rPr sz="2000" b="1" i="0" dirty="0">
                <a:solidFill>
                  <a:srgbClr val="FFFFFF"/>
                </a:solidFill>
              </a:rPr>
              <a:t> y </a:t>
            </a:r>
            <a:r>
              <a:rPr sz="2000" b="1" i="0" dirty="0" err="1">
                <a:solidFill>
                  <a:srgbClr val="FFFFFF"/>
                </a:solidFill>
              </a:rPr>
              <a:t>despliegue</a:t>
            </a:r>
            <a:endParaRPr sz="2000" b="1" i="0" dirty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80166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b="0" i="0" dirty="0">
                <a:solidFill>
                  <a:srgbClr val="7A8AA8"/>
                </a:solidFill>
              </a:rPr>
              <a:t>Calidad</a:t>
            </a:r>
            <a:r>
              <a:rPr sz="1400" b="0" i="0" dirty="0">
                <a:solidFill>
                  <a:srgbClr val="7A8AA8"/>
                </a:solidFill>
              </a:rPr>
              <a:t>· Docker · CI/CD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185708"/>
            <a:ext cx="1097280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5185708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35030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524971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Conclusiones y futuro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60633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Logros y líneas de evolución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 err="1">
                <a:solidFill>
                  <a:srgbClr val="FFFFFF"/>
                </a:solidFill>
              </a:rPr>
              <a:t>Introducción</a:t>
            </a:r>
            <a:r>
              <a:rPr sz="3000" b="1" i="0" dirty="0">
                <a:solidFill>
                  <a:srgbClr val="FFFFFF"/>
                </a:solidFill>
              </a:rPr>
              <a:t> — El </a:t>
            </a:r>
            <a:r>
              <a:rPr sz="3000" b="1" i="0" dirty="0" err="1">
                <a:solidFill>
                  <a:srgbClr val="FFFFFF"/>
                </a:solidFill>
              </a:rPr>
              <a:t>problema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Introducción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39" y="1051560"/>
            <a:ext cx="1097280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5C518"/>
                </a:solidFill>
              </a:rPr>
              <a:t>Los </a:t>
            </a:r>
            <a:r>
              <a:rPr sz="2200" b="1" i="0" dirty="0" err="1">
                <a:solidFill>
                  <a:srgbClr val="F5C518"/>
                </a:solidFill>
              </a:rPr>
              <a:t>usuarios</a:t>
            </a:r>
            <a:r>
              <a:rPr sz="2200" b="1" i="0" dirty="0">
                <a:solidFill>
                  <a:srgbClr val="F5C518"/>
                </a:solidFill>
              </a:rPr>
              <a:t> </a:t>
            </a:r>
            <a:r>
              <a:rPr sz="2200" b="1" i="0" dirty="0" err="1">
                <a:solidFill>
                  <a:srgbClr val="F5C518"/>
                </a:solidFill>
              </a:rPr>
              <a:t>necesitan</a:t>
            </a:r>
            <a:r>
              <a:rPr sz="2200" b="1" i="0" dirty="0">
                <a:solidFill>
                  <a:srgbClr val="F5C518"/>
                </a:solidFill>
              </a:rPr>
              <a:t> usar </a:t>
            </a:r>
            <a:r>
              <a:rPr sz="2200" b="1" i="0" dirty="0" err="1">
                <a:solidFill>
                  <a:srgbClr val="F5C518"/>
                </a:solidFill>
              </a:rPr>
              <a:t>múltiples</a:t>
            </a:r>
            <a:r>
              <a:rPr sz="2200" b="1" i="0" dirty="0">
                <a:solidFill>
                  <a:srgbClr val="F5C518"/>
                </a:solidFill>
              </a:rPr>
              <a:t> </a:t>
            </a:r>
            <a:r>
              <a:rPr sz="2200" b="1" i="0" dirty="0" err="1">
                <a:solidFill>
                  <a:srgbClr val="F5C518"/>
                </a:solidFill>
              </a:rPr>
              <a:t>plataformas</a:t>
            </a:r>
            <a:r>
              <a:rPr sz="2200" b="1" i="0" dirty="0">
                <a:solidFill>
                  <a:srgbClr val="F5C518"/>
                </a:solidFill>
              </a:rPr>
              <a:t>…</a:t>
            </a:r>
          </a:p>
        </p:txBody>
      </p:sp>
      <p:pic>
        <p:nvPicPr>
          <p:cNvPr id="9" name="Picture 8" descr="letterboxd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3474720" cy="3058093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10" name="Picture 9" descr="imdb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755331"/>
            <a:ext cx="3520440" cy="274782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65465" y="1755331"/>
            <a:ext cx="3355975" cy="274783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548638" y="4956048"/>
            <a:ext cx="3474721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48640" y="4992624"/>
            <a:ext cx="3383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Letterboxd — solo cine, sin series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4956048"/>
            <a:ext cx="35204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4992624"/>
            <a:ext cx="33375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IMDb — </a:t>
            </a:r>
            <a:r>
              <a:rPr sz="1300" b="0" i="1" dirty="0" err="1">
                <a:solidFill>
                  <a:srgbClr val="7A8AA8"/>
                </a:solidFill>
              </a:rPr>
              <a:t>metadatos</a:t>
            </a:r>
            <a:r>
              <a:rPr sz="1300" b="0" i="1" dirty="0">
                <a:solidFill>
                  <a:srgbClr val="7A8AA8"/>
                </a:solidFill>
              </a:rPr>
              <a:t>, sin red social real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4956048"/>
            <a:ext cx="3337561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19" y="4992624"/>
            <a:ext cx="324612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Serializd</a:t>
            </a:r>
            <a:r>
              <a:rPr sz="1300" b="0" i="1" dirty="0">
                <a:solidFill>
                  <a:srgbClr val="7A8AA8"/>
                </a:solidFill>
              </a:rPr>
              <a:t> — solo series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39" y="5394960"/>
            <a:ext cx="10972801" cy="73152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468112"/>
            <a:ext cx="109270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5C518"/>
                </a:solidFill>
              </a:rPr>
              <a:t>⟶  </a:t>
            </a:r>
            <a:r>
              <a:rPr sz="2000" b="1" i="0" dirty="0" err="1">
                <a:solidFill>
                  <a:srgbClr val="F5C518"/>
                </a:solidFill>
              </a:rPr>
              <a:t>Fragmentación</a:t>
            </a:r>
            <a:r>
              <a:rPr sz="2000" b="1" i="0" dirty="0">
                <a:solidFill>
                  <a:srgbClr val="F5C518"/>
                </a:solidFill>
              </a:rPr>
              <a:t>: </a:t>
            </a:r>
            <a:r>
              <a:rPr sz="2000" b="1" i="0" dirty="0" err="1">
                <a:solidFill>
                  <a:srgbClr val="F5C518"/>
                </a:solidFill>
              </a:rPr>
              <a:t>historial</a:t>
            </a:r>
            <a:r>
              <a:rPr sz="2000" b="1" i="0" dirty="0">
                <a:solidFill>
                  <a:srgbClr val="F5C518"/>
                </a:solidFill>
              </a:rPr>
              <a:t> </a:t>
            </a:r>
            <a:r>
              <a:rPr sz="2000" b="1" i="0" dirty="0" err="1">
                <a:solidFill>
                  <a:srgbClr val="F5C518"/>
                </a:solidFill>
              </a:rPr>
              <a:t>disperso</a:t>
            </a:r>
            <a:r>
              <a:rPr sz="2000" b="1" i="0" dirty="0">
                <a:solidFill>
                  <a:srgbClr val="F5C518"/>
                </a:solidFill>
              </a:rPr>
              <a:t> · </a:t>
            </a:r>
            <a:r>
              <a:rPr sz="2000" b="1" i="0" dirty="0" err="1">
                <a:solidFill>
                  <a:srgbClr val="F5C518"/>
                </a:solidFill>
              </a:rPr>
              <a:t>valoraciones</a:t>
            </a:r>
            <a:r>
              <a:rPr sz="2000" b="1" i="0" dirty="0">
                <a:solidFill>
                  <a:srgbClr val="F5C518"/>
                </a:solidFill>
              </a:rPr>
              <a:t> </a:t>
            </a:r>
            <a:r>
              <a:rPr sz="2000" b="1" i="0" dirty="0" err="1">
                <a:solidFill>
                  <a:srgbClr val="F5C518"/>
                </a:solidFill>
              </a:rPr>
              <a:t>separadas</a:t>
            </a:r>
            <a:r>
              <a:rPr sz="2000" b="1" i="0" dirty="0">
                <a:solidFill>
                  <a:srgbClr val="F5C518"/>
                </a:solidFill>
              </a:rPr>
              <a:t> · sin red social </a:t>
            </a:r>
            <a:r>
              <a:rPr sz="2000" b="1" i="0" dirty="0" err="1">
                <a:solidFill>
                  <a:srgbClr val="F5C518"/>
                </a:solidFill>
              </a:rPr>
              <a:t>unificada</a:t>
            </a:r>
            <a:endParaRPr sz="2000" b="1" i="0" dirty="0">
              <a:solidFill>
                <a:srgbClr val="F5C518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Introducción — MovieMate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Introducción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54245"/>
            <a:ext cx="76238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dirty="0">
                <a:solidFill>
                  <a:srgbClr val="C8D0E0"/>
                </a:solidFill>
              </a:rPr>
              <a:t>Una </a:t>
            </a:r>
            <a:r>
              <a:rPr b="0" i="1" dirty="0" err="1">
                <a:solidFill>
                  <a:srgbClr val="C8D0E0"/>
                </a:solidFill>
              </a:rPr>
              <a:t>plataforma</a:t>
            </a:r>
            <a:r>
              <a:rPr b="0" i="1" dirty="0">
                <a:solidFill>
                  <a:srgbClr val="C8D0E0"/>
                </a:solidFill>
              </a:rPr>
              <a:t> </a:t>
            </a:r>
            <a:r>
              <a:rPr b="0" i="1" dirty="0" err="1">
                <a:solidFill>
                  <a:srgbClr val="C8D0E0"/>
                </a:solidFill>
              </a:rPr>
              <a:t>unificada</a:t>
            </a:r>
            <a:r>
              <a:rPr b="0" i="1" dirty="0">
                <a:solidFill>
                  <a:srgbClr val="C8D0E0"/>
                </a:solidFill>
              </a:rPr>
              <a:t> para </a:t>
            </a:r>
            <a:r>
              <a:rPr b="0" i="1" dirty="0" err="1">
                <a:solidFill>
                  <a:srgbClr val="C8D0E0"/>
                </a:solidFill>
              </a:rPr>
              <a:t>gestión</a:t>
            </a:r>
            <a:r>
              <a:rPr b="0" i="1" dirty="0">
                <a:solidFill>
                  <a:srgbClr val="C8D0E0"/>
                </a:solidFill>
              </a:rPr>
              <a:t>, </a:t>
            </a:r>
            <a:r>
              <a:rPr b="0" i="1" dirty="0" err="1">
                <a:solidFill>
                  <a:srgbClr val="C8D0E0"/>
                </a:solidFill>
              </a:rPr>
              <a:t>valoración</a:t>
            </a:r>
            <a:r>
              <a:rPr b="0" i="1" dirty="0">
                <a:solidFill>
                  <a:srgbClr val="C8D0E0"/>
                </a:solidFill>
              </a:rPr>
              <a:t> y </a:t>
            </a:r>
            <a:r>
              <a:rPr b="0" i="1" dirty="0" err="1">
                <a:solidFill>
                  <a:srgbClr val="C8D0E0"/>
                </a:solidFill>
              </a:rPr>
              <a:t>descubrimiento</a:t>
            </a:r>
            <a:r>
              <a:rPr b="0" i="1" dirty="0">
                <a:solidFill>
                  <a:srgbClr val="C8D0E0"/>
                </a:solidFill>
              </a:rPr>
              <a:t> audiovisual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35490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35490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30768" y="1524180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🎬 </a:t>
            </a:r>
            <a:r>
              <a:rPr sz="1600" b="1" i="0" dirty="0" err="1">
                <a:solidFill>
                  <a:srgbClr val="FFFFFF"/>
                </a:solidFill>
              </a:rPr>
              <a:t>Películas</a:t>
            </a:r>
            <a:r>
              <a:rPr sz="1600" b="1" i="0" dirty="0">
                <a:solidFill>
                  <a:srgbClr val="FFFFFF"/>
                </a:solidFill>
              </a:rPr>
              <a:t> + series</a:t>
            </a:r>
            <a:r>
              <a:rPr lang="es-ES" sz="1600" b="1" i="0" dirty="0">
                <a:solidFill>
                  <a:srgbClr val="FFFFFF"/>
                </a:solidFill>
              </a:rPr>
              <a:t> 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66760" y="213214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366760" y="213214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30768" y="2308946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⭐ </a:t>
            </a:r>
            <a:r>
              <a:rPr sz="1600" b="1" i="0" dirty="0" err="1">
                <a:solidFill>
                  <a:srgbClr val="FFFFFF"/>
                </a:solidFill>
              </a:rPr>
              <a:t>Valoraciones</a:t>
            </a:r>
            <a:r>
              <a:rPr sz="1600" b="1" i="0" dirty="0">
                <a:solidFill>
                  <a:srgbClr val="FFFFFF"/>
                </a:solidFill>
              </a:rPr>
              <a:t> / </a:t>
            </a:r>
            <a:r>
              <a:rPr sz="1600" b="1" i="0" dirty="0" err="1">
                <a:solidFill>
                  <a:srgbClr val="FFFFFF"/>
                </a:solidFill>
              </a:rPr>
              <a:t>reseñas</a:t>
            </a:r>
            <a:r>
              <a:rPr lang="es-ES" sz="1600" b="1" i="0" dirty="0">
                <a:solidFill>
                  <a:srgbClr val="FFFFFF"/>
                </a:solidFill>
              </a:rPr>
              <a:t> 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366760" y="290938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290938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8" y="3083006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📋 </a:t>
            </a:r>
            <a:r>
              <a:rPr sz="1600" b="1" i="0" dirty="0" err="1">
                <a:solidFill>
                  <a:srgbClr val="FFFFFF"/>
                </a:solidFill>
              </a:rPr>
              <a:t>Listas</a:t>
            </a:r>
            <a:r>
              <a:rPr sz="1600" b="1" i="0" dirty="0">
                <a:solidFill>
                  <a:srgbClr val="FFFFFF"/>
                </a:solidFill>
              </a:rPr>
              <a:t> </a:t>
            </a:r>
            <a:r>
              <a:rPr sz="1600" b="1" i="0" dirty="0" err="1">
                <a:solidFill>
                  <a:srgbClr val="FFFFFF"/>
                </a:solidFill>
              </a:rPr>
              <a:t>personalizadas</a:t>
            </a:r>
            <a:r>
              <a:rPr lang="es-ES" sz="1600" b="1" i="0" dirty="0">
                <a:solidFill>
                  <a:srgbClr val="FFFFFF"/>
                </a:solidFill>
              </a:rPr>
              <a:t> 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366760" y="368662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66760" y="368662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30768" y="3860246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👥 Red social + feed</a:t>
            </a:r>
            <a:r>
              <a:rPr lang="es-ES" sz="1600" b="1" i="0" dirty="0">
                <a:solidFill>
                  <a:srgbClr val="FFFFFF"/>
                </a:solidFill>
              </a:rPr>
              <a:t> 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366760" y="446386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66760" y="446386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30768" y="4637486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🔔 </a:t>
            </a:r>
            <a:r>
              <a:rPr lang="es-ES" sz="1600" b="1" i="0" dirty="0">
                <a:solidFill>
                  <a:srgbClr val="FFFFFF"/>
                </a:solidFill>
              </a:rPr>
              <a:t>Notificaciones</a:t>
            </a:r>
            <a:endParaRPr sz="1600" b="1" i="0" dirty="0">
              <a:solidFill>
                <a:srgbClr val="FFFFFF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66760" y="5241103"/>
            <a:ext cx="315468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66760" y="5241103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30768" y="5410373"/>
            <a:ext cx="30906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</a:rPr>
              <a:t>🏆 </a:t>
            </a:r>
            <a:r>
              <a:rPr sz="1600" b="1" i="0" dirty="0" err="1">
                <a:solidFill>
                  <a:srgbClr val="FFFFFF"/>
                </a:solidFill>
              </a:rPr>
              <a:t>Gamificación</a:t>
            </a:r>
            <a:endParaRPr sz="1600" b="1" i="0" dirty="0">
              <a:solidFill>
                <a:srgbClr val="FFFFFF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2136384"/>
            <a:ext cx="7623810" cy="3370954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Estado del arte — Comparativa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Estado del 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6526" y="1998164"/>
            <a:ext cx="2798064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9678" y="206217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21F"/>
                </a:solidFill>
              </a:rPr>
              <a:t>Característica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1166" y="1998164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4318" y="206217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IMDb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81366" y="1998164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54518" y="206217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Letterboxd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1566" y="1998164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54718" y="206217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Serializd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1766" y="1998164"/>
            <a:ext cx="1655064" cy="420624"/>
          </a:xfrm>
          <a:prstGeom prst="rect">
            <a:avLst/>
          </a:prstGeom>
          <a:solidFill>
            <a:srgbClr val="0E2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4918" y="2062171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6EE76E"/>
                </a:solidFill>
              </a:rPr>
              <a:t>MovieMate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46526" y="2418788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19678" y="24919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Películas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1166" y="24187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54318" y="24919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1366" y="24187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54518" y="24919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81566" y="24187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54718" y="24919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81766" y="2418788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54918" y="2491940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46526" y="2839412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19678" y="291256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81166" y="28394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54318" y="29125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81366" y="28394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54518" y="29125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81566" y="28394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54718" y="29125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81766" y="2839412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54918" y="2912564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46526" y="3260035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519678" y="333318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FFFFFF"/>
                </a:solidFill>
              </a:rPr>
              <a:t>Valoraciones</a:t>
            </a:r>
            <a:r>
              <a:rPr sz="1300" b="0" i="0" dirty="0">
                <a:solidFill>
                  <a:srgbClr val="FFFFFF"/>
                </a:solidFill>
              </a:rPr>
              <a:t>/</a:t>
            </a:r>
            <a:r>
              <a:rPr sz="1300" b="0" i="0" dirty="0" err="1">
                <a:solidFill>
                  <a:srgbClr val="FFFFFF"/>
                </a:solidFill>
              </a:rPr>
              <a:t>reseñas</a:t>
            </a:r>
            <a:endParaRPr sz="1300" b="0" i="0" dirty="0">
              <a:solidFill>
                <a:srgbClr val="FFFFFF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281166" y="3260035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54318" y="333318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81366" y="3260035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54518" y="333318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81566" y="3260035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554718" y="333318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81766" y="3260035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54918" y="333318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46526" y="3680660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519678" y="375381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Listas personalizadas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81166" y="3680660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54318" y="375381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81366" y="3680660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954518" y="375381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81566" y="3680660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554718" y="375381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81766" y="3680660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54918" y="3753812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46526" y="4101284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519678" y="417443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Red social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81166" y="410128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54318" y="417443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81366" y="410128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954518" y="417443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1566" y="410128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554718" y="417443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Básica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081766" y="4101284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154918" y="4174436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46526" y="4521908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519678" y="459506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300" b="0" i="0" dirty="0">
                <a:solidFill>
                  <a:srgbClr val="FFFFFF"/>
                </a:solidFill>
              </a:rPr>
              <a:t>Notificaciones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81166" y="452190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354318" y="459506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81366" y="452190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954518" y="459506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481566" y="452190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554718" y="459506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81766" y="4521908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154918" y="4595060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46526" y="4942532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519678" y="501568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Gamificación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81166" y="4942532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354318" y="501568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81366" y="4942532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954518" y="501568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481566" y="4942532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554718" y="501568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081766" y="4942532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154918" y="5015684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446526" y="5363156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519678" y="543630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Seg. de episodios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81166" y="536315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354318" y="543630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81366" y="536315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954518" y="543630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481566" y="536315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554718" y="543630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81766" y="5363156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154918" y="543630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</a:rPr>
              <a:t>Estado del </a:t>
            </a:r>
            <a:r>
              <a:rPr sz="3000" b="1" i="0" dirty="0" err="1">
                <a:solidFill>
                  <a:srgbClr val="FFFFFF"/>
                </a:solidFill>
              </a:rPr>
              <a:t>arte</a:t>
            </a:r>
            <a:r>
              <a:rPr sz="3000" b="1" i="0" dirty="0">
                <a:solidFill>
                  <a:srgbClr val="FFFFFF"/>
                </a:solidFill>
              </a:rPr>
              <a:t> — Stack </a:t>
            </a:r>
            <a:r>
              <a:rPr sz="3000" b="1" i="0" dirty="0" err="1">
                <a:solidFill>
                  <a:srgbClr val="FFFFFF"/>
                </a:solidFill>
              </a:rPr>
              <a:t>tecnológico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Estado del 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39889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8890" y="1097280"/>
            <a:ext cx="3611880" cy="47548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033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Back-end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48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3482" y="169164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893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8D0E0"/>
                </a:solidFill>
              </a:rPr>
              <a:t>Java 21 + Spring Boot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48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3482" y="242316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893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8D0E0"/>
                </a:solidFill>
              </a:rPr>
              <a:t>Spring Security + JWT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348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3482" y="315468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893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Spring Data JPA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48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3482" y="388620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893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PostgreSQL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348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3482" y="461772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893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WebSockets (STOMP)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48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3482" y="534924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893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OpenAPI / Swagger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509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85090" y="1097280"/>
            <a:ext cx="3611880" cy="475488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7653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Front-end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968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449682" y="169164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0513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8D0E0"/>
                </a:solidFill>
              </a:rPr>
              <a:t>React 19 + TypeScript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968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449682" y="242316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0513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TanStack Query v5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4968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9682" y="315468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0513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Zustand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4968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449682" y="388620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0513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Tailwind CSS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4968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449682" y="461772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0513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8D0E0"/>
                </a:solidFill>
              </a:rPr>
              <a:t>Radix UI / </a:t>
            </a:r>
            <a:r>
              <a:rPr sz="1600" b="0" i="0" dirty="0" err="1">
                <a:solidFill>
                  <a:srgbClr val="C8D0E0"/>
                </a:solidFill>
              </a:rPr>
              <a:t>shadcn</a:t>
            </a:r>
            <a:r>
              <a:rPr sz="1600" b="0" i="0" dirty="0">
                <a:solidFill>
                  <a:srgbClr val="C8D0E0"/>
                </a:solidFill>
              </a:rPr>
              <a:t>/</a:t>
            </a:r>
            <a:r>
              <a:rPr sz="1600" b="0" i="0" dirty="0" err="1">
                <a:solidFill>
                  <a:srgbClr val="C8D0E0"/>
                </a:solidFill>
              </a:rPr>
              <a:t>ui</a:t>
            </a:r>
            <a:endParaRPr sz="1600" b="0" i="0" dirty="0">
              <a:solidFill>
                <a:srgbClr val="C8D0E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44968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449682" y="534924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60513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React Router v6 + Axios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129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171290" y="1097280"/>
            <a:ext cx="3611880" cy="475488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6273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Infraestructura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3588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335882" y="169164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9133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TMDB API (metadatos)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3588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335882" y="242316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49133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Docker + Docker Compose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3588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8335882" y="315468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49133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GitHub Actions CI/CD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3588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335882" y="388620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49133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Kubernetes / Minikube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3588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335882" y="461772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49133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JUnit 5 + Mockito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588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335882" y="534924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49133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JaCoCo (cobertura)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Objetivos y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Objetivos y metodología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 dirty="0" err="1">
                <a:solidFill>
                  <a:srgbClr val="C8D0E0"/>
                </a:solidFill>
              </a:rPr>
              <a:t>Objetivo</a:t>
            </a:r>
            <a:r>
              <a:rPr sz="1800" b="0" i="1" dirty="0">
                <a:solidFill>
                  <a:srgbClr val="C8D0E0"/>
                </a:solidFill>
              </a:rPr>
              <a:t> principal: </a:t>
            </a:r>
            <a:r>
              <a:rPr sz="1800" b="0" i="1" dirty="0" err="1">
                <a:solidFill>
                  <a:srgbClr val="C8D0E0"/>
                </a:solidFill>
              </a:rPr>
              <a:t>diseño</a:t>
            </a:r>
            <a:r>
              <a:rPr sz="1800" b="0" i="1" dirty="0">
                <a:solidFill>
                  <a:srgbClr val="C8D0E0"/>
                </a:solidFill>
              </a:rPr>
              <a:t> y </a:t>
            </a:r>
            <a:r>
              <a:rPr sz="1800" b="0" i="1" dirty="0" err="1">
                <a:solidFill>
                  <a:srgbClr val="C8D0E0"/>
                </a:solidFill>
              </a:rPr>
              <a:t>desarrollo</a:t>
            </a:r>
            <a:r>
              <a:rPr sz="1800" b="0" i="1" dirty="0">
                <a:solidFill>
                  <a:srgbClr val="C8D0E0"/>
                </a:solidFill>
              </a:rPr>
              <a:t> de </a:t>
            </a:r>
            <a:r>
              <a:rPr sz="1800" b="0" i="1" dirty="0" err="1">
                <a:solidFill>
                  <a:srgbClr val="C8D0E0"/>
                </a:solidFill>
              </a:rPr>
              <a:t>una</a:t>
            </a:r>
            <a:r>
              <a:rPr sz="1800" b="0" i="1" dirty="0">
                <a:solidFill>
                  <a:srgbClr val="C8D0E0"/>
                </a:solidFill>
              </a:rPr>
              <a:t> app web </a:t>
            </a:r>
            <a:r>
              <a:rPr lang="es-ES" sz="1800" b="0" i="1" dirty="0">
                <a:solidFill>
                  <a:srgbClr val="C8D0E0"/>
                </a:solidFill>
              </a:rPr>
              <a:t>la </a:t>
            </a:r>
            <a:r>
              <a:rPr sz="1800" b="0" i="1" dirty="0">
                <a:solidFill>
                  <a:srgbClr val="C8D0E0"/>
                </a:solidFill>
              </a:rPr>
              <a:t>para </a:t>
            </a:r>
            <a:r>
              <a:rPr sz="1800" b="0" i="1" dirty="0" err="1">
                <a:solidFill>
                  <a:srgbClr val="C8D0E0"/>
                </a:solidFill>
              </a:rPr>
              <a:t>gestión</a:t>
            </a:r>
            <a:r>
              <a:rPr sz="1800" b="0" i="1" dirty="0">
                <a:solidFill>
                  <a:srgbClr val="C8D0E0"/>
                </a:solidFill>
              </a:rPr>
              <a:t> y </a:t>
            </a:r>
            <a:r>
              <a:rPr sz="1800" b="0" i="1" dirty="0" err="1">
                <a:solidFill>
                  <a:srgbClr val="C8D0E0"/>
                </a:solidFill>
              </a:rPr>
              <a:t>valoración</a:t>
            </a:r>
            <a:r>
              <a:rPr sz="1800" b="0" i="1" dirty="0">
                <a:solidFill>
                  <a:srgbClr val="C8D0E0"/>
                </a:solidFill>
              </a:rPr>
              <a:t> de </a:t>
            </a:r>
            <a:r>
              <a:rPr sz="1800" b="0" i="1" dirty="0" err="1">
                <a:solidFill>
                  <a:srgbClr val="C8D0E0"/>
                </a:solidFill>
              </a:rPr>
              <a:t>contenido</a:t>
            </a:r>
            <a:r>
              <a:rPr sz="1800" b="0" i="1" dirty="0">
                <a:solidFill>
                  <a:srgbClr val="C8D0E0"/>
                </a:solidFill>
              </a:rPr>
              <a:t> audiovisual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Subobjetivos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04288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04288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8D0E0"/>
                </a:solidFill>
              </a:rPr>
              <a:t>Analizar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plataformas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existentes</a:t>
            </a:r>
            <a:r>
              <a:rPr sz="1500" b="0" i="0" dirty="0">
                <a:solidFill>
                  <a:srgbClr val="C8D0E0"/>
                </a:solidFill>
              </a:rPr>
              <a:t> y </a:t>
            </a:r>
            <a:r>
              <a:rPr sz="1500" b="0" i="0" dirty="0" err="1">
                <a:solidFill>
                  <a:srgbClr val="C8D0E0"/>
                </a:solidFill>
              </a:rPr>
              <a:t>limitaciones</a:t>
            </a:r>
            <a:endParaRPr sz="1500" b="0" i="0" dirty="0">
              <a:solidFill>
                <a:srgbClr val="C8D0E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2953512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53512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4495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8D0E0"/>
                </a:solidFill>
              </a:rPr>
              <a:t>Seleccionar</a:t>
            </a:r>
            <a:r>
              <a:rPr sz="1500" b="0" i="0" dirty="0">
                <a:solidFill>
                  <a:srgbClr val="C8D0E0"/>
                </a:solidFill>
              </a:rPr>
              <a:t> e </a:t>
            </a:r>
            <a:r>
              <a:rPr sz="1500" b="0" i="0" dirty="0" err="1">
                <a:solidFill>
                  <a:srgbClr val="C8D0E0"/>
                </a:solidFill>
              </a:rPr>
              <a:t>integrar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tecnologías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modernas</a:t>
            </a:r>
            <a:endParaRPr sz="1500" b="0" i="0" dirty="0">
              <a:solidFill>
                <a:srgbClr val="C8D0E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3602736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602736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69417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8D0E0"/>
                </a:solidFill>
              </a:rPr>
              <a:t>Diseñar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arquitectura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escalable</a:t>
            </a:r>
            <a:r>
              <a:rPr sz="1500" b="0" i="0" dirty="0">
                <a:solidFill>
                  <a:srgbClr val="C8D0E0"/>
                </a:solidFill>
              </a:rPr>
              <a:t> y modular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251960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3434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8D0E0"/>
                </a:solidFill>
              </a:rPr>
              <a:t>Implementar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prototipo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funcional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completo</a:t>
            </a:r>
            <a:endParaRPr sz="1500" b="0" i="0" dirty="0">
              <a:solidFill>
                <a:srgbClr val="C8D0E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8640" y="4901183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901183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992623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C8D0E0"/>
                </a:solidFill>
              </a:rPr>
              <a:t>Desplegar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en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entorno</a:t>
            </a:r>
            <a:r>
              <a:rPr sz="1500" b="0" i="0" dirty="0">
                <a:solidFill>
                  <a:srgbClr val="C8D0E0"/>
                </a:solidFill>
              </a:rPr>
              <a:t> </a:t>
            </a:r>
            <a:r>
              <a:rPr sz="1500" b="0" i="0" dirty="0" err="1">
                <a:solidFill>
                  <a:srgbClr val="C8D0E0"/>
                </a:solidFill>
              </a:rPr>
              <a:t>contenerizado</a:t>
            </a:r>
            <a:r>
              <a:rPr sz="1500" b="0" i="0" dirty="0">
                <a:solidFill>
                  <a:srgbClr val="C8D0E0"/>
                </a:solidFill>
              </a:rPr>
              <a:t> con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50408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50408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641848"/>
            <a:ext cx="47548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C8D0E0"/>
                </a:solidFill>
              </a:rPr>
              <a:t>Validar </a:t>
            </a:r>
            <a:r>
              <a:rPr sz="1500" b="0" i="0" dirty="0" err="1">
                <a:solidFill>
                  <a:srgbClr val="C8D0E0"/>
                </a:solidFill>
              </a:rPr>
              <a:t>mediante</a:t>
            </a:r>
            <a:r>
              <a:rPr sz="1500" b="0" i="0" dirty="0">
                <a:solidFill>
                  <a:srgbClr val="C8D0E0"/>
                </a:solidFill>
              </a:rPr>
              <a:t> tests </a:t>
            </a:r>
            <a:r>
              <a:rPr sz="1500" b="0" i="0" dirty="0" err="1">
                <a:solidFill>
                  <a:srgbClr val="C8D0E0"/>
                </a:solidFill>
              </a:rPr>
              <a:t>automatizados</a:t>
            </a:r>
            <a:endParaRPr sz="1500" b="0" i="0" dirty="0">
              <a:solidFill>
                <a:srgbClr val="C8D0E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Metodología iterativa e incremental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304288"/>
            <a:ext cx="512064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0" y="230428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246888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36829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Análisis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70662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Requisitos y tecnologías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127248"/>
            <a:ext cx="512064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312724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329184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19125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Diseño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5295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BD, API, mockups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950208"/>
            <a:ext cx="512064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0" y="395020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0" y="411480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401421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4352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Back-end + Front-end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773168"/>
            <a:ext cx="512064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00800" y="477316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0" y="493776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483717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Pruebas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1755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JUnit + CI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5596128"/>
            <a:ext cx="512064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400800" y="559612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0" y="576072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56601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Documentación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59984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Memoria y despliegue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Diseño — 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 dirty="0">
                <a:solidFill>
                  <a:srgbClr val="C8D0E0"/>
                </a:solidFill>
              </a:rPr>
              <a:t>Monolito modular · API RESTful · </a:t>
            </a:r>
            <a:r>
              <a:rPr lang="es-ES" sz="1800" b="0" i="1" dirty="0">
                <a:solidFill>
                  <a:srgbClr val="C8D0E0"/>
                </a:solidFill>
              </a:rPr>
              <a:t>MVC</a:t>
            </a:r>
            <a:endParaRPr sz="1800" b="0" i="1" dirty="0">
              <a:solidFill>
                <a:srgbClr val="C8D0E0"/>
              </a:solidFill>
            </a:endParaRPr>
          </a:p>
        </p:txBody>
      </p:sp>
      <p:pic>
        <p:nvPicPr>
          <p:cNvPr id="9" name="Picture 8" descr="arquitectur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715" y="1728249"/>
            <a:ext cx="6739393" cy="439819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Implementación — Back-end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9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10208" y="1078992"/>
            <a:ext cx="1600200" cy="960120"/>
          </a:xfrm>
          <a:prstGeom prst="rect">
            <a:avLst/>
          </a:prstGeom>
          <a:solidFill>
            <a:srgbClr val="3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1648" y="1282053"/>
            <a:ext cx="141732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HTTP
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7839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3016" y="1078992"/>
            <a:ext cx="1600200" cy="9601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94456" y="1397469"/>
            <a:ext cx="141732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0D121F"/>
                </a:solidFill>
              </a:rPr>
              <a:t>JWT Filter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30648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5824" y="1078992"/>
            <a:ext cx="1600200" cy="96012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7263" y="1397469"/>
            <a:ext cx="141732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3456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8631" y="1078992"/>
            <a:ext cx="1600200" cy="96012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80071" y="1397469"/>
            <a:ext cx="141732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6263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1439" y="1078992"/>
            <a:ext cx="1600200" cy="960120"/>
          </a:xfrm>
          <a:prstGeom prst="rect">
            <a:avLst/>
          </a:prstGeom>
          <a:solidFill>
            <a:srgbClr val="2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2879" y="1397469"/>
            <a:ext cx="141732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Repository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09071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974248" y="1078992"/>
            <a:ext cx="1600200" cy="960120"/>
          </a:xfrm>
          <a:prstGeom prst="rect">
            <a:avLst/>
          </a:prstGeom>
          <a:solidFill>
            <a:srgbClr val="1E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65688" y="1397469"/>
            <a:ext cx="141732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PostgreSQL</a:t>
            </a:r>
            <a:endParaRPr lang="es-ES" sz="1500" b="1" i="0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C518"/>
                </a:solidFill>
              </a:rPr>
              <a:t>Decisiones clave de implementación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697480"/>
            <a:ext cx="1097280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2697480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277063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FFFFFF"/>
                </a:solidFill>
              </a:rPr>
              <a:t>Controladores</a:t>
            </a:r>
            <a:r>
              <a:rPr sz="1500" b="1" i="0" dirty="0">
                <a:solidFill>
                  <a:srgbClr val="FFFFFF"/>
                </a:solidFill>
              </a:rPr>
              <a:t> </a:t>
            </a:r>
            <a:r>
              <a:rPr sz="1500" b="1" i="0" dirty="0" err="1">
                <a:solidFill>
                  <a:srgbClr val="FFFFFF"/>
                </a:solidFill>
              </a:rPr>
              <a:t>ligeros</a:t>
            </a:r>
            <a:r>
              <a:rPr sz="1500" b="1" i="0" dirty="0">
                <a:solidFill>
                  <a:srgbClr val="FFFFFF"/>
                </a:solidFill>
              </a:rPr>
              <a:t>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78892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Sin lógica de negocio; solo validación y delegación al servicio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47288"/>
            <a:ext cx="1097280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3447288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52044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DTOs en todas las capas: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538728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Entidades JPA nunca expuestas directamente al cliente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197096"/>
            <a:ext cx="1097280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197096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42702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Autenticación stateless: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288536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JWT firmado; sin sesiones en servidor; control por roles USER/ADMIN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46904"/>
            <a:ext cx="1097280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4946904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02005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Lazy loading JPA: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5038344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Carga diferida en relaciones; evita recuperaciones innecesarias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96712"/>
            <a:ext cx="1097280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48640" y="5696712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76986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Caché bajo demanda TMDB: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578815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Sincronización solo cuando hay interacción real + TTL configurable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9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 err="1">
                <a:solidFill>
                  <a:srgbClr val="FFFFFF"/>
                </a:solidFill>
              </a:rPr>
              <a:t>Implementación</a:t>
            </a:r>
            <a:r>
              <a:rPr sz="3000" b="1" i="0" dirty="0">
                <a:solidFill>
                  <a:srgbClr val="FFFFFF"/>
                </a:solidFill>
              </a:rPr>
              <a:t> — Front-end</a:t>
            </a:r>
            <a:r>
              <a:rPr lang="es-ES" sz="3000" b="1" dirty="0">
                <a:solidFill>
                  <a:srgbClr val="FFFFFF"/>
                </a:solidFill>
              </a:rPr>
              <a:t> — Página de inicio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10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5C518"/>
                </a:solidFill>
              </a:rPr>
              <a:t>SPA · React 19 + TypeScript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24459"/>
            <a:ext cx="69494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5352001"/>
            <a:ext cx="69494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Página de </a:t>
            </a:r>
            <a:r>
              <a:rPr sz="1300" b="0" i="1" dirty="0" err="1">
                <a:solidFill>
                  <a:srgbClr val="7A8AA8"/>
                </a:solidFill>
              </a:rPr>
              <a:t>inicio</a:t>
            </a:r>
            <a:r>
              <a:rPr sz="1300" b="0" i="1" dirty="0">
                <a:solidFill>
                  <a:srgbClr val="7A8AA8"/>
                </a:solidFill>
              </a:rPr>
              <a:t> de MovieMate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10</a:t>
            </a:r>
            <a:endParaRPr sz="1400" b="0" i="0" dirty="0">
              <a:solidFill>
                <a:srgbClr val="7A8AA8"/>
              </a:solidFill>
            </a:endParaRPr>
          </a:p>
        </p:txBody>
      </p:sp>
      <p:pic>
        <p:nvPicPr>
          <p:cNvPr id="9" name="Picture 8" descr="homep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668854"/>
            <a:ext cx="6949441" cy="3365860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23" name="Rectangle 11">
            <a:extLst>
              <a:ext uri="{FF2B5EF4-FFF2-40B4-BE49-F238E27FC236}">
                <a16:creationId xmlns:a16="http://schemas.microsoft.com/office/drawing/2014/main" id="{EE2A9A6C-D213-3478-3797-4E95DE411D1D}"/>
              </a:ext>
            </a:extLst>
          </p:cNvPr>
          <p:cNvSpPr/>
          <p:nvPr/>
        </p:nvSpPr>
        <p:spPr>
          <a:xfrm>
            <a:off x="7863839" y="1920240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12">
            <a:extLst>
              <a:ext uri="{FF2B5EF4-FFF2-40B4-BE49-F238E27FC236}">
                <a16:creationId xmlns:a16="http://schemas.microsoft.com/office/drawing/2014/main" id="{32AECC3A-8811-564E-8C87-E6A32707C2C1}"/>
              </a:ext>
            </a:extLst>
          </p:cNvPr>
          <p:cNvSpPr/>
          <p:nvPr/>
        </p:nvSpPr>
        <p:spPr>
          <a:xfrm>
            <a:off x="7863839" y="1920240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BA20CB05-7599-1217-0207-8A4F2B08FA35}"/>
              </a:ext>
            </a:extLst>
          </p:cNvPr>
          <p:cNvSpPr txBox="1"/>
          <p:nvPr/>
        </p:nvSpPr>
        <p:spPr>
          <a:xfrm>
            <a:off x="8046719" y="2029968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b="0" i="0" dirty="0">
                <a:solidFill>
                  <a:srgbClr val="C8D0E0"/>
                </a:solidFill>
              </a:rPr>
              <a:t>Contenido en tendencia</a:t>
            </a:r>
            <a:endParaRPr sz="1400" b="0" i="0" dirty="0">
              <a:solidFill>
                <a:srgbClr val="C8D0E0"/>
              </a:solidFill>
            </a:endParaRP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CB20F3AE-A245-FF16-79F1-F39619853E8A}"/>
              </a:ext>
            </a:extLst>
          </p:cNvPr>
          <p:cNvSpPr/>
          <p:nvPr/>
        </p:nvSpPr>
        <p:spPr>
          <a:xfrm>
            <a:off x="7863839" y="2670048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5">
            <a:extLst>
              <a:ext uri="{FF2B5EF4-FFF2-40B4-BE49-F238E27FC236}">
                <a16:creationId xmlns:a16="http://schemas.microsoft.com/office/drawing/2014/main" id="{24DBDD79-AEDC-DFB1-D0A7-E229DAE275DB}"/>
              </a:ext>
            </a:extLst>
          </p:cNvPr>
          <p:cNvSpPr/>
          <p:nvPr/>
        </p:nvSpPr>
        <p:spPr>
          <a:xfrm>
            <a:off x="7863839" y="2670048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C7EB54E0-E667-8BCA-CE4E-FA6768EA796B}"/>
              </a:ext>
            </a:extLst>
          </p:cNvPr>
          <p:cNvSpPr txBox="1"/>
          <p:nvPr/>
        </p:nvSpPr>
        <p:spPr>
          <a:xfrm>
            <a:off x="8046719" y="2779776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rgbClr val="C8D0E0"/>
                </a:solidFill>
              </a:rPr>
              <a:t>Recomendaciones </a:t>
            </a:r>
            <a:r>
              <a:rPr lang="es-ES" sz="1400" dirty="0">
                <a:solidFill>
                  <a:srgbClr val="C8D0E0"/>
                </a:solidFill>
              </a:rPr>
              <a:t>personalizadas («Para ti ✨»)</a:t>
            </a:r>
            <a:endParaRPr sz="1400" dirty="0">
              <a:solidFill>
                <a:srgbClr val="C8D0E0"/>
              </a:solidFill>
            </a:endParaRPr>
          </a:p>
        </p:txBody>
      </p:sp>
      <p:sp>
        <p:nvSpPr>
          <p:cNvPr id="29" name="Rectangle 17">
            <a:extLst>
              <a:ext uri="{FF2B5EF4-FFF2-40B4-BE49-F238E27FC236}">
                <a16:creationId xmlns:a16="http://schemas.microsoft.com/office/drawing/2014/main" id="{C5CD514C-A51A-08A8-F35D-833D0657A71B}"/>
              </a:ext>
            </a:extLst>
          </p:cNvPr>
          <p:cNvSpPr/>
          <p:nvPr/>
        </p:nvSpPr>
        <p:spPr>
          <a:xfrm>
            <a:off x="7863839" y="3419856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18">
            <a:extLst>
              <a:ext uri="{FF2B5EF4-FFF2-40B4-BE49-F238E27FC236}">
                <a16:creationId xmlns:a16="http://schemas.microsoft.com/office/drawing/2014/main" id="{2E1CD254-BD25-ED6D-DDCB-196A2B7A16F9}"/>
              </a:ext>
            </a:extLst>
          </p:cNvPr>
          <p:cNvSpPr/>
          <p:nvPr/>
        </p:nvSpPr>
        <p:spPr>
          <a:xfrm>
            <a:off x="7863839" y="3419856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B6DE7DD8-63C9-2A04-B94A-D074E02461EC}"/>
              </a:ext>
            </a:extLst>
          </p:cNvPr>
          <p:cNvSpPr txBox="1"/>
          <p:nvPr/>
        </p:nvSpPr>
        <p:spPr>
          <a:xfrm>
            <a:off x="8046719" y="3529584"/>
            <a:ext cx="3931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dirty="0">
                <a:solidFill>
                  <a:srgbClr val="C8D0E0"/>
                </a:solidFill>
              </a:rPr>
              <a:t>Usuarios sugeridos</a:t>
            </a:r>
            <a:endParaRPr sz="1400" b="0" i="0" dirty="0">
              <a:solidFill>
                <a:srgbClr val="C8D0E0"/>
              </a:solidFill>
            </a:endParaRPr>
          </a:p>
        </p:txBody>
      </p:sp>
      <p:sp>
        <p:nvSpPr>
          <p:cNvPr id="32" name="Rectangle 20">
            <a:extLst>
              <a:ext uri="{FF2B5EF4-FFF2-40B4-BE49-F238E27FC236}">
                <a16:creationId xmlns:a16="http://schemas.microsoft.com/office/drawing/2014/main" id="{CA00437D-486A-4564-8578-70563826B0F0}"/>
              </a:ext>
            </a:extLst>
          </p:cNvPr>
          <p:cNvSpPr/>
          <p:nvPr/>
        </p:nvSpPr>
        <p:spPr>
          <a:xfrm>
            <a:off x="7863839" y="4169663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21">
            <a:extLst>
              <a:ext uri="{FF2B5EF4-FFF2-40B4-BE49-F238E27FC236}">
                <a16:creationId xmlns:a16="http://schemas.microsoft.com/office/drawing/2014/main" id="{E34A6791-BE88-0A28-9FCC-2CE99F0A0226}"/>
              </a:ext>
            </a:extLst>
          </p:cNvPr>
          <p:cNvSpPr/>
          <p:nvPr/>
        </p:nvSpPr>
        <p:spPr>
          <a:xfrm>
            <a:off x="7863839" y="4169663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22">
            <a:extLst>
              <a:ext uri="{FF2B5EF4-FFF2-40B4-BE49-F238E27FC236}">
                <a16:creationId xmlns:a16="http://schemas.microsoft.com/office/drawing/2014/main" id="{76B90FC7-F944-4512-DBC7-8EE10E6F9B70}"/>
              </a:ext>
            </a:extLst>
          </p:cNvPr>
          <p:cNvSpPr txBox="1"/>
          <p:nvPr/>
        </p:nvSpPr>
        <p:spPr>
          <a:xfrm>
            <a:off x="8046719" y="4279392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400" b="0" i="0" dirty="0">
                <a:solidFill>
                  <a:srgbClr val="C8D0E0"/>
                </a:solidFill>
              </a:rPr>
              <a:t>Barra lateral con todas las opciones disponibles</a:t>
            </a:r>
            <a:endParaRPr sz="1400" b="0" i="0" dirty="0">
              <a:solidFill>
                <a:srgbClr val="C8D0E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dirty="0">
                <a:solidFill>
                  <a:srgbClr val="FFFFFF"/>
                </a:solidFill>
              </a:rPr>
              <a:t>Implementación — Front-end</a:t>
            </a:r>
            <a:r>
              <a:rPr sz="3000" b="1" i="0" dirty="0">
                <a:solidFill>
                  <a:srgbClr val="FFFFFF"/>
                </a:solidFill>
              </a:rPr>
              <a:t> — </a:t>
            </a:r>
            <a:r>
              <a:rPr sz="3000" b="1" i="0" dirty="0" err="1">
                <a:solidFill>
                  <a:srgbClr val="FFFFFF"/>
                </a:solidFill>
              </a:rPr>
              <a:t>Ficha</a:t>
            </a:r>
            <a:r>
              <a:rPr sz="3000" b="1" i="0" dirty="0">
                <a:solidFill>
                  <a:srgbClr val="FFFFFF"/>
                </a:solidFill>
              </a:rPr>
              <a:t> de </a:t>
            </a:r>
            <a:r>
              <a:rPr sz="3000" b="1" i="0" dirty="0" err="1">
                <a:solidFill>
                  <a:srgbClr val="FFFFFF"/>
                </a:solidFill>
              </a:rPr>
              <a:t>contenido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11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5632703"/>
            <a:ext cx="70408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669279"/>
            <a:ext cx="6858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Ficha</a:t>
            </a:r>
            <a:r>
              <a:rPr sz="1300" b="0" i="1" dirty="0">
                <a:solidFill>
                  <a:srgbClr val="7A8AA8"/>
                </a:solidFill>
              </a:rPr>
              <a:t> de </a:t>
            </a:r>
            <a:r>
              <a:rPr sz="1300" b="0" i="1" dirty="0" err="1">
                <a:solidFill>
                  <a:srgbClr val="7A8AA8"/>
                </a:solidFill>
              </a:rPr>
              <a:t>detalle</a:t>
            </a:r>
            <a:r>
              <a:rPr sz="1300" b="0" i="1" dirty="0">
                <a:solidFill>
                  <a:srgbClr val="7A8AA8"/>
                </a:solidFill>
              </a:rPr>
              <a:t> con </a:t>
            </a:r>
            <a:r>
              <a:rPr sz="1300" b="0" i="1" dirty="0" err="1">
                <a:solidFill>
                  <a:srgbClr val="7A8AA8"/>
                </a:solidFill>
              </a:rPr>
              <a:t>valoración</a:t>
            </a:r>
            <a:r>
              <a:rPr sz="1300" b="0" i="1" dirty="0">
                <a:solidFill>
                  <a:srgbClr val="7A8AA8"/>
                </a:solidFill>
              </a:rPr>
              <a:t>, </a:t>
            </a:r>
            <a:r>
              <a:rPr sz="1300" b="0" i="1" dirty="0" err="1">
                <a:solidFill>
                  <a:srgbClr val="7A8AA8"/>
                </a:solidFill>
              </a:rPr>
              <a:t>reparto</a:t>
            </a:r>
            <a:r>
              <a:rPr sz="1300" b="0" i="1" dirty="0">
                <a:solidFill>
                  <a:srgbClr val="7A8AA8"/>
                </a:solidFill>
              </a:rPr>
              <a:t> y </a:t>
            </a:r>
            <a:r>
              <a:rPr lang="es-ES" sz="1300" b="0" i="1" dirty="0">
                <a:solidFill>
                  <a:srgbClr val="7A8AA8"/>
                </a:solidFill>
              </a:rPr>
              <a:t>seguimiento</a:t>
            </a:r>
            <a:r>
              <a:rPr sz="1300" b="0" i="1" dirty="0">
                <a:solidFill>
                  <a:srgbClr val="7A8AA8"/>
                </a:solidFill>
              </a:rPr>
              <a:t> de </a:t>
            </a:r>
            <a:r>
              <a:rPr sz="1300" b="0" i="1" dirty="0" err="1">
                <a:solidFill>
                  <a:srgbClr val="7A8AA8"/>
                </a:solidFill>
              </a:rPr>
              <a:t>episodios</a:t>
            </a:r>
            <a:endParaRPr sz="1300" b="0" i="1" dirty="0">
              <a:solidFill>
                <a:srgbClr val="7A8AA8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818120" y="1572768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18120" y="1572768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168249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Poster + Backdrop + Metadatos completos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2322576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18120" y="2322576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01000" y="2432304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Widget valoración ⭐×5 (crear y editar)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3072384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18120" y="3072384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01000" y="318211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Añadir a lista personalizada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3822191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18120" y="3822191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01000" y="3931920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Tracking de episodios (series)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4572000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18120" y="4572000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8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Valoraciones de la comunidad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5321807"/>
            <a:ext cx="370332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18120" y="5321807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01000" y="543153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Recomendaciones «Para Ti»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11</a:t>
            </a:r>
            <a:endParaRPr sz="1400" b="0" i="0" dirty="0">
              <a:solidFill>
                <a:srgbClr val="7A8AA8"/>
              </a:solidFill>
            </a:endParaRPr>
          </a:p>
        </p:txBody>
      </p:sp>
      <p:pic>
        <p:nvPicPr>
          <p:cNvPr id="9" name="Picture 8" descr="content_detai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41843"/>
            <a:ext cx="7040880" cy="3386300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dirty="0">
                <a:solidFill>
                  <a:srgbClr val="FFFFFF"/>
                </a:solidFill>
              </a:rPr>
              <a:t>Implementación — Front-end</a:t>
            </a:r>
            <a:r>
              <a:rPr sz="3000" b="1" i="0" dirty="0">
                <a:solidFill>
                  <a:srgbClr val="FFFFFF"/>
                </a:solidFill>
              </a:rPr>
              <a:t> — </a:t>
            </a:r>
            <a:r>
              <a:rPr sz="3000" b="1" i="0" dirty="0" err="1">
                <a:solidFill>
                  <a:srgbClr val="FFFFFF"/>
                </a:solidFill>
              </a:rPr>
              <a:t>Perfil</a:t>
            </a:r>
            <a:r>
              <a:rPr sz="3000" b="1" i="0" dirty="0">
                <a:solidFill>
                  <a:srgbClr val="FFFFFF"/>
                </a:solidFill>
              </a:rPr>
              <a:t> y red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12</a:t>
            </a:r>
            <a:endParaRPr sz="1400" b="0" i="0" dirty="0">
              <a:solidFill>
                <a:srgbClr val="7A8AA8"/>
              </a:solidFill>
            </a:endParaRPr>
          </a:p>
        </p:txBody>
      </p:sp>
      <p:pic>
        <p:nvPicPr>
          <p:cNvPr id="8" name="Picture 7" descr="profile_p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6" y="1852449"/>
            <a:ext cx="6758183" cy="3256059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37" y="5446086"/>
            <a:ext cx="6758183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548639" y="5501170"/>
            <a:ext cx="675818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Perfil</a:t>
            </a:r>
            <a:r>
              <a:rPr sz="1300" b="0" i="1" dirty="0">
                <a:solidFill>
                  <a:srgbClr val="7A8AA8"/>
                </a:solidFill>
              </a:rPr>
              <a:t>: </a:t>
            </a:r>
            <a:r>
              <a:rPr sz="1300" b="0" i="1" dirty="0" err="1">
                <a:solidFill>
                  <a:srgbClr val="7A8AA8"/>
                </a:solidFill>
              </a:rPr>
              <a:t>actividad</a:t>
            </a:r>
            <a:r>
              <a:rPr sz="1300" b="0" i="1" dirty="0">
                <a:solidFill>
                  <a:srgbClr val="7A8AA8"/>
                </a:solidFill>
              </a:rPr>
              <a:t> · </a:t>
            </a:r>
            <a:r>
              <a:rPr sz="1300" b="0" i="1" dirty="0" err="1">
                <a:solidFill>
                  <a:srgbClr val="7A8AA8"/>
                </a:solidFill>
              </a:rPr>
              <a:t>listas</a:t>
            </a:r>
            <a:r>
              <a:rPr sz="1300" b="0" i="1" dirty="0">
                <a:solidFill>
                  <a:srgbClr val="7A8AA8"/>
                </a:solidFill>
              </a:rPr>
              <a:t> · </a:t>
            </a:r>
            <a:r>
              <a:rPr sz="1300" b="0" i="1" dirty="0" err="1">
                <a:solidFill>
                  <a:srgbClr val="7A8AA8"/>
                </a:solidFill>
              </a:rPr>
              <a:t>estadísticas</a:t>
            </a:r>
            <a:r>
              <a:rPr sz="1300" b="0" i="1" dirty="0">
                <a:solidFill>
                  <a:srgbClr val="7A8AA8"/>
                </a:solidFill>
              </a:rPr>
              <a:t> · insignias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5554" y="1097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Red social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75554" y="1554480"/>
            <a:ext cx="4016734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75554" y="1554480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434" y="1645920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Seguir usuarios (solicitud si perfil privado)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75554" y="2157984"/>
            <a:ext cx="4016734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75554" y="2157984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58434" y="2249424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Feed de actividad de seguidos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75554" y="2761488"/>
            <a:ext cx="4016734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75554" y="2761488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58434" y="2852928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Likes y comentarios en valoraciones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75554" y="3364991"/>
            <a:ext cx="4016734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75554" y="3364991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58434" y="3456432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Comentarios en listas públicas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75554" y="3968496"/>
            <a:ext cx="4016734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475554" y="3968496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58434" y="4059936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Reporte de contenido inapropiado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5554" y="4691135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 err="1">
                <a:solidFill>
                  <a:srgbClr val="F5C518"/>
                </a:solidFill>
              </a:rPr>
              <a:t>Notificaciones</a:t>
            </a:r>
            <a:r>
              <a:rPr sz="1800" b="1" i="0" dirty="0">
                <a:solidFill>
                  <a:srgbClr val="F5C518"/>
                </a:solidFill>
              </a:rPr>
              <a:t> </a:t>
            </a:r>
            <a:r>
              <a:rPr sz="1800" b="1" i="0" dirty="0" err="1">
                <a:solidFill>
                  <a:srgbClr val="F5C518"/>
                </a:solidFill>
              </a:rPr>
              <a:t>en</a:t>
            </a:r>
            <a:r>
              <a:rPr sz="1800" b="1" i="0" dirty="0">
                <a:solidFill>
                  <a:srgbClr val="F5C518"/>
                </a:solidFill>
              </a:rPr>
              <a:t> </a:t>
            </a:r>
            <a:r>
              <a:rPr sz="1800" b="1" i="0" dirty="0" err="1">
                <a:solidFill>
                  <a:srgbClr val="F5C518"/>
                </a:solidFill>
              </a:rPr>
              <a:t>tiempo</a:t>
            </a:r>
            <a:r>
              <a:rPr sz="1800" b="1" i="0" dirty="0">
                <a:solidFill>
                  <a:srgbClr val="F5C518"/>
                </a:solidFill>
              </a:rPr>
              <a:t> real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75554" y="5144554"/>
            <a:ext cx="4016734" cy="144839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75554" y="5135410"/>
            <a:ext cx="4016734" cy="365760"/>
          </a:xfrm>
          <a:prstGeom prst="rect">
            <a:avLst/>
          </a:prstGeom>
          <a:solidFill>
            <a:srgbClr val="1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66994" y="516284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E7E7"/>
                </a:solidFill>
              </a:rPr>
              <a:t>WebSockets (STOMP + SockJS)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66994" y="5583466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Notificación push sin polling
· Eventos: follow · like · comentario
· Badge en navbar actualizado al instante
· Gamificación: insignias automáticas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12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6784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dirty="0">
                <a:solidFill>
                  <a:srgbClr val="FFFFFF"/>
                </a:solidFill>
              </a:rPr>
              <a:t>Implementación — Front-end</a:t>
            </a:r>
            <a:r>
              <a:rPr sz="3000" b="1" i="0" dirty="0">
                <a:solidFill>
                  <a:srgbClr val="FFFFFF"/>
                </a:solidFill>
              </a:rPr>
              <a:t> — </a:t>
            </a:r>
            <a:r>
              <a:rPr sz="3000" b="1" i="0" dirty="0" err="1">
                <a:solidFill>
                  <a:srgbClr val="FFFFFF"/>
                </a:solidFill>
              </a:rPr>
              <a:t>Notificaciones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455564" y="201168"/>
            <a:ext cx="16145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 dirty="0" err="1">
                <a:solidFill>
                  <a:srgbClr val="7A8AA8"/>
                </a:solidFill>
              </a:rPr>
              <a:t>Diseño</a:t>
            </a:r>
            <a:r>
              <a:rPr sz="1400" b="0" i="1" dirty="0">
                <a:solidFill>
                  <a:srgbClr val="7A8AA8"/>
                </a:solidFill>
              </a:rPr>
              <a:t> y </a:t>
            </a:r>
            <a:r>
              <a:rPr sz="1400" b="0" i="1" dirty="0" err="1">
                <a:solidFill>
                  <a:srgbClr val="7A8AA8"/>
                </a:solidFill>
              </a:rPr>
              <a:t>resolución</a:t>
            </a:r>
            <a:endParaRPr sz="1400" b="0" i="1" dirty="0">
              <a:solidFill>
                <a:srgbClr val="7A8AA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i="0" dirty="0">
                <a:solidFill>
                  <a:srgbClr val="7A8AA8"/>
                </a:solidFill>
              </a:rPr>
              <a:t>13</a:t>
            </a:r>
            <a:endParaRPr sz="1400" i="0" dirty="0">
              <a:solidFill>
                <a:srgbClr val="7A8AA8"/>
              </a:solidFill>
            </a:endParaRPr>
          </a:p>
        </p:txBody>
      </p:sp>
      <p:pic>
        <p:nvPicPr>
          <p:cNvPr id="8" name="Picture 7" descr="notifications.png"/>
          <p:cNvPicPr>
            <a:picLocks noChangeAspect="1"/>
          </p:cNvPicPr>
          <p:nvPr/>
        </p:nvPicPr>
        <p:blipFill>
          <a:blip r:embed="rId3"/>
          <a:srcRect b="16841"/>
          <a:stretch>
            <a:fillRect/>
          </a:stretch>
        </p:blipFill>
        <p:spPr>
          <a:xfrm>
            <a:off x="1561837" y="1122864"/>
            <a:ext cx="9065150" cy="2476658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3600352" y="3777278"/>
            <a:ext cx="498812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8900" y="3813973"/>
            <a:ext cx="497102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Bandeja</a:t>
            </a:r>
            <a:r>
              <a:rPr sz="1300" b="0" i="1" dirty="0">
                <a:solidFill>
                  <a:srgbClr val="7A8AA8"/>
                </a:solidFill>
              </a:rPr>
              <a:t> de </a:t>
            </a:r>
            <a:r>
              <a:rPr sz="1300" b="0" i="1" dirty="0" err="1">
                <a:solidFill>
                  <a:srgbClr val="7A8AA8"/>
                </a:solidFill>
              </a:rPr>
              <a:t>notificaciones</a:t>
            </a:r>
            <a:r>
              <a:rPr sz="1300" b="0" i="1" dirty="0">
                <a:solidFill>
                  <a:srgbClr val="7A8AA8"/>
                </a:solidFill>
              </a:rPr>
              <a:t> </a:t>
            </a:r>
            <a:r>
              <a:rPr sz="1300" b="0" i="1" dirty="0" err="1">
                <a:solidFill>
                  <a:srgbClr val="7A8AA8"/>
                </a:solidFill>
              </a:rPr>
              <a:t>en</a:t>
            </a:r>
            <a:r>
              <a:rPr sz="1300" b="0" i="1" dirty="0">
                <a:solidFill>
                  <a:srgbClr val="7A8AA8"/>
                </a:solidFill>
              </a:rPr>
              <a:t> </a:t>
            </a:r>
            <a:r>
              <a:rPr sz="1300" b="0" i="1" dirty="0" err="1">
                <a:solidFill>
                  <a:srgbClr val="7A8AA8"/>
                </a:solidFill>
              </a:rPr>
              <a:t>tiempo</a:t>
            </a:r>
            <a:r>
              <a:rPr sz="1300" b="0" i="1" dirty="0">
                <a:solidFill>
                  <a:srgbClr val="7A8AA8"/>
                </a:solidFill>
              </a:rPr>
              <a:t>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085" y="440364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F5C518"/>
                </a:solidFill>
              </a:rPr>
              <a:t>¿</a:t>
            </a:r>
            <a:r>
              <a:rPr sz="1800" b="1" i="0" dirty="0" err="1">
                <a:solidFill>
                  <a:srgbClr val="F5C518"/>
                </a:solidFill>
              </a:rPr>
              <a:t>Cómo</a:t>
            </a:r>
            <a:r>
              <a:rPr sz="1800" b="1" i="0" dirty="0">
                <a:solidFill>
                  <a:srgbClr val="F5C518"/>
                </a:solidFill>
              </a:rPr>
              <a:t> </a:t>
            </a:r>
            <a:r>
              <a:rPr sz="1800" b="1" i="0" dirty="0" err="1">
                <a:solidFill>
                  <a:srgbClr val="F5C518"/>
                </a:solidFill>
              </a:rPr>
              <a:t>funciona</a:t>
            </a:r>
            <a:r>
              <a:rPr sz="1800" b="1" i="0" dirty="0">
                <a:solidFill>
                  <a:srgbClr val="F5C518"/>
                </a:solidFill>
              </a:rPr>
              <a:t>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95005"/>
            <a:ext cx="3624468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1" y="4895005"/>
            <a:ext cx="380743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1" y="5013877"/>
            <a:ext cx="380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5" y="4959013"/>
            <a:ext cx="277625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C8D0E0"/>
                </a:solidFill>
              </a:rPr>
              <a:t>El root layout </a:t>
            </a:r>
            <a:r>
              <a:rPr sz="1300" b="0" i="0" dirty="0" err="1">
                <a:solidFill>
                  <a:srgbClr val="C8D0E0"/>
                </a:solidFill>
              </a:rPr>
              <a:t>establece</a:t>
            </a:r>
            <a:r>
              <a:rPr sz="1300" b="0" i="0" dirty="0">
                <a:solidFill>
                  <a:srgbClr val="C8D0E0"/>
                </a:solidFill>
              </a:rPr>
              <a:t> la </a:t>
            </a:r>
            <a:r>
              <a:rPr sz="1300" b="0" i="0" dirty="0" err="1">
                <a:solidFill>
                  <a:srgbClr val="C8D0E0"/>
                </a:solidFill>
              </a:rPr>
              <a:t>conexión</a:t>
            </a:r>
            <a:r>
              <a:rPr sz="1300" b="0" i="0" dirty="0">
                <a:solidFill>
                  <a:srgbClr val="C8D0E0"/>
                </a:solidFill>
              </a:rPr>
              <a:t> WebSocket al </a:t>
            </a:r>
            <a:r>
              <a:rPr sz="1300" b="0" i="0" dirty="0" err="1">
                <a:solidFill>
                  <a:srgbClr val="C8D0E0"/>
                </a:solidFill>
              </a:rPr>
              <a:t>autenticarse</a:t>
            </a:r>
            <a:endParaRPr sz="1300" b="0" i="0" dirty="0">
              <a:solidFill>
                <a:srgbClr val="C8D0E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5828372"/>
            <a:ext cx="3624468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828372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5947244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58923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C8D0E0"/>
                </a:solidFill>
              </a:rPr>
              <a:t>El </a:t>
            </a:r>
            <a:r>
              <a:rPr sz="1300" b="0" i="0" dirty="0" err="1">
                <a:solidFill>
                  <a:srgbClr val="C8D0E0"/>
                </a:solidFill>
              </a:rPr>
              <a:t>servidor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detecta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el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evento</a:t>
            </a:r>
            <a:r>
              <a:rPr sz="1300" b="0" i="0" dirty="0">
                <a:solidFill>
                  <a:srgbClr val="C8D0E0"/>
                </a:solidFill>
              </a:rPr>
              <a:t> (follow, like, </a:t>
            </a:r>
            <a:r>
              <a:rPr sz="1300" b="0" i="0" dirty="0" err="1">
                <a:solidFill>
                  <a:srgbClr val="C8D0E0"/>
                </a:solidFill>
              </a:rPr>
              <a:t>comentario</a:t>
            </a:r>
            <a:r>
              <a:rPr sz="1300" b="0" i="0" dirty="0">
                <a:solidFill>
                  <a:srgbClr val="C8D0E0"/>
                </a:solidFill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4429" y="4895005"/>
            <a:ext cx="3624469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04430" y="4895005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04430" y="5013877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6494" y="4959013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C8D0E0"/>
                </a:solidFill>
              </a:rPr>
              <a:t>Envía</a:t>
            </a:r>
            <a:r>
              <a:rPr sz="1300" b="0" i="0" dirty="0">
                <a:solidFill>
                  <a:srgbClr val="C8D0E0"/>
                </a:solidFill>
              </a:rPr>
              <a:t> un </a:t>
            </a:r>
            <a:r>
              <a:rPr sz="1300" b="0" i="0" dirty="0" err="1">
                <a:solidFill>
                  <a:srgbClr val="C8D0E0"/>
                </a:solidFill>
              </a:rPr>
              <a:t>mensaje</a:t>
            </a:r>
            <a:r>
              <a:rPr sz="1300" b="0" i="0" dirty="0">
                <a:solidFill>
                  <a:srgbClr val="C8D0E0"/>
                </a:solidFill>
              </a:rPr>
              <a:t> STOMP al canal del </a:t>
            </a:r>
            <a:r>
              <a:rPr sz="1300" b="0" i="0" dirty="0" err="1">
                <a:solidFill>
                  <a:srgbClr val="C8D0E0"/>
                </a:solidFill>
              </a:rPr>
              <a:t>usuario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destino</a:t>
            </a:r>
            <a:endParaRPr sz="1300" b="0" i="0" dirty="0">
              <a:solidFill>
                <a:srgbClr val="C8D0E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01124" y="5828372"/>
            <a:ext cx="362447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01124" y="5828372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01124" y="5947244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3188" y="58923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C8D0E0"/>
                </a:solidFill>
              </a:rPr>
              <a:t>El </a:t>
            </a:r>
            <a:r>
              <a:rPr sz="1300" b="0" i="0" dirty="0" err="1">
                <a:solidFill>
                  <a:srgbClr val="C8D0E0"/>
                </a:solidFill>
              </a:rPr>
              <a:t>cliente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recibe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el</a:t>
            </a:r>
            <a:r>
              <a:rPr sz="1300" b="0" i="0" dirty="0">
                <a:solidFill>
                  <a:srgbClr val="C8D0E0"/>
                </a:solidFill>
              </a:rPr>
              <a:t> push y </a:t>
            </a:r>
            <a:r>
              <a:rPr sz="1300" b="0" i="0" dirty="0" err="1">
                <a:solidFill>
                  <a:srgbClr val="C8D0E0"/>
                </a:solidFill>
              </a:rPr>
              <a:t>actualiza</a:t>
            </a:r>
            <a:r>
              <a:rPr sz="1300" b="0" i="0" dirty="0">
                <a:solidFill>
                  <a:srgbClr val="C8D0E0"/>
                </a:solidFill>
              </a:rPr>
              <a:t> </a:t>
            </a:r>
            <a:r>
              <a:rPr sz="1300" b="0" i="0" dirty="0" err="1">
                <a:solidFill>
                  <a:srgbClr val="C8D0E0"/>
                </a:solidFill>
              </a:rPr>
              <a:t>el</a:t>
            </a:r>
            <a:r>
              <a:rPr sz="1300" b="0" i="0" dirty="0">
                <a:solidFill>
                  <a:srgbClr val="C8D0E0"/>
                </a:solidFill>
              </a:rPr>
              <a:t> badge de la navbar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3610" y="5375065"/>
            <a:ext cx="3624467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3610" y="5375065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53610" y="5493937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5674" y="5439073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Sin polling · respuesta inmediata · experiencia fluida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13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Interfaz — Sistema de diseño y responsive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14</a:t>
            </a:r>
            <a:endParaRPr sz="1400" b="0" i="0" dirty="0">
              <a:solidFill>
                <a:srgbClr val="7A8AA8"/>
              </a:solidFill>
            </a:endParaRPr>
          </a:p>
        </p:txBody>
      </p:sp>
      <p:pic>
        <p:nvPicPr>
          <p:cNvPr id="8" name="Picture 7" descr="discover_p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833" y="1152906"/>
            <a:ext cx="6035040" cy="2912763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1496833" y="4221879"/>
            <a:ext cx="60350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88273" y="4258455"/>
            <a:ext cx="585215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Página de </a:t>
            </a:r>
            <a:r>
              <a:rPr sz="1300" b="0" i="1" dirty="0" err="1">
                <a:solidFill>
                  <a:srgbClr val="7A8AA8"/>
                </a:solidFill>
              </a:rPr>
              <a:t>descubrimiento</a:t>
            </a:r>
            <a:r>
              <a:rPr sz="1300" b="0" i="1" dirty="0">
                <a:solidFill>
                  <a:srgbClr val="7A8AA8"/>
                </a:solidFill>
              </a:rPr>
              <a:t> — Desktop (sidebar </a:t>
            </a:r>
            <a:r>
              <a:rPr sz="1300" b="0" i="1" dirty="0" err="1">
                <a:solidFill>
                  <a:srgbClr val="7A8AA8"/>
                </a:solidFill>
              </a:rPr>
              <a:t>fija</a:t>
            </a:r>
            <a:r>
              <a:rPr sz="1300" b="0" i="1" dirty="0">
                <a:solidFill>
                  <a:srgbClr val="7A8AA8"/>
                </a:solidFill>
              </a:rPr>
              <a:t> + grid </a:t>
            </a:r>
            <a:r>
              <a:rPr sz="1300" b="0" i="1" dirty="0" err="1">
                <a:solidFill>
                  <a:srgbClr val="7A8AA8"/>
                </a:solidFill>
              </a:rPr>
              <a:t>fluido</a:t>
            </a:r>
            <a:r>
              <a:rPr sz="1300" b="0" i="1" dirty="0">
                <a:solidFill>
                  <a:srgbClr val="7A8AA8"/>
                </a:solidFill>
              </a:rPr>
              <a:t>)</a:t>
            </a:r>
          </a:p>
        </p:txBody>
      </p:sp>
      <p:pic>
        <p:nvPicPr>
          <p:cNvPr id="11" name="Picture 10" descr="responsive_ipad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517" y="1571496"/>
            <a:ext cx="2348683" cy="3381750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8014517" y="1116430"/>
            <a:ext cx="2348684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67068" y="1143522"/>
            <a:ext cx="18435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iPad Air + iPhone 12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358" y="4872029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5C518"/>
                </a:solidFill>
              </a:rPr>
              <a:t>Sistema de </a:t>
            </a:r>
            <a:r>
              <a:rPr sz="1600" b="1" i="0" dirty="0" err="1">
                <a:solidFill>
                  <a:srgbClr val="F5C518"/>
                </a:solidFill>
              </a:rPr>
              <a:t>diseño</a:t>
            </a:r>
            <a:endParaRPr sz="1600" b="1" i="0" dirty="0">
              <a:solidFill>
                <a:srgbClr val="F5C518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22798" y="5356660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958" y="5420668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5C518"/>
                </a:solidFill>
              </a:rPr>
              <a:t>Fondo: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78" y="5420668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#0D121F navy → charcoal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65998" y="5356660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03158" y="5420669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Acento: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3278" y="5420669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8D0E0"/>
                </a:solidFill>
              </a:rPr>
              <a:t>#F5C518 dorado (UI </a:t>
            </a:r>
            <a:r>
              <a:rPr sz="1200" b="0" i="0" dirty="0" err="1">
                <a:solidFill>
                  <a:srgbClr val="C8D0E0"/>
                </a:solidFill>
              </a:rPr>
              <a:t>interactiva</a:t>
            </a:r>
            <a:r>
              <a:rPr sz="1200" b="0" i="0" dirty="0">
                <a:solidFill>
                  <a:srgbClr val="C8D0E0"/>
                </a:solidFill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09198" y="5356660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6358" y="5420669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Títulos: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478" y="5420669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Playfair Display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52398" y="5356660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89558" y="5420669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Cuerpo: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9678" y="5420669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DM Sans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65998" y="6013835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65998" y="6077844"/>
            <a:ext cx="1280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5C518"/>
                </a:solidFill>
              </a:rPr>
              <a:t>Componentes</a:t>
            </a:r>
            <a:r>
              <a:rPr sz="1300" b="1" i="0" dirty="0">
                <a:solidFill>
                  <a:srgbClr val="F5C518"/>
                </a:solidFill>
              </a:rPr>
              <a:t>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1878" y="6077844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8D0E0"/>
                </a:solidFill>
              </a:rPr>
              <a:t>Radix UI + </a:t>
            </a:r>
            <a:r>
              <a:rPr sz="1200" b="0" i="0" dirty="0" err="1">
                <a:solidFill>
                  <a:srgbClr val="C8D0E0"/>
                </a:solidFill>
              </a:rPr>
              <a:t>shadcn</a:t>
            </a:r>
            <a:r>
              <a:rPr sz="1200" b="0" i="0" dirty="0">
                <a:solidFill>
                  <a:srgbClr val="C8D0E0"/>
                </a:solidFill>
              </a:rPr>
              <a:t>/</a:t>
            </a:r>
            <a:r>
              <a:rPr sz="1200" b="0" i="0" dirty="0" err="1">
                <a:solidFill>
                  <a:srgbClr val="C8D0E0"/>
                </a:solidFill>
              </a:rPr>
              <a:t>ui</a:t>
            </a:r>
            <a:endParaRPr sz="1200" b="0" i="0" dirty="0">
              <a:solidFill>
                <a:srgbClr val="C8D0E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009198" y="6013835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00639" y="6077843"/>
            <a:ext cx="1188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5C518"/>
                </a:solidFill>
              </a:rPr>
              <a:t>Accesibilidad</a:t>
            </a:r>
            <a:r>
              <a:rPr sz="1300" b="1" i="0" dirty="0">
                <a:solidFill>
                  <a:srgbClr val="F5C518"/>
                </a:solidFill>
              </a:rPr>
              <a:t>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0752" y="6077843"/>
            <a:ext cx="15416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ARIA-compliant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14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Pruebas y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15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340 tests unitarios automatizados · JUnit 5 + Mockito · Cobertura JaCoCo</a:t>
            </a:r>
          </a:p>
        </p:txBody>
      </p:sp>
      <p:pic>
        <p:nvPicPr>
          <p:cNvPr id="9" name="Picture 8" descr="test_suit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87085"/>
            <a:ext cx="3840480" cy="4383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233094"/>
            <a:ext cx="38404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" y="6249306"/>
            <a:ext cx="3794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300" b="0" i="1" dirty="0">
                <a:solidFill>
                  <a:srgbClr val="7A8AA8"/>
                </a:solidFill>
              </a:rPr>
              <a:t>E</a:t>
            </a:r>
            <a:r>
              <a:rPr sz="1300" b="0" i="1" dirty="0" err="1">
                <a:solidFill>
                  <a:srgbClr val="7A8AA8"/>
                </a:solidFill>
              </a:rPr>
              <a:t>structura</a:t>
            </a:r>
            <a:r>
              <a:rPr sz="1300" b="0" i="1" dirty="0">
                <a:solidFill>
                  <a:srgbClr val="7A8AA8"/>
                </a:solidFill>
              </a:rPr>
              <a:t> de la suite de tests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72768"/>
            <a:ext cx="228600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C518"/>
                </a:solidFill>
              </a:rPr>
              <a:t>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3347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8D0E0"/>
                </a:solidFill>
              </a:rPr>
              <a:t>tests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572768"/>
            <a:ext cx="475488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60920" y="1572768"/>
            <a:ext cx="4754880" cy="3657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52360" y="159105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6EE76E"/>
                </a:solidFill>
              </a:rPr>
              <a:t>Patrón</a:t>
            </a:r>
            <a:r>
              <a:rPr sz="1500" b="1" i="0" dirty="0">
                <a:solidFill>
                  <a:srgbClr val="6EE76E"/>
                </a:solidFill>
              </a:rPr>
              <a:t> Arrange-Act-Assert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029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Arrange: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0299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Preparar mocks y datos de prueba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3682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C8D0E0"/>
                </a:solidFill>
              </a:rPr>
              <a:t>Ejecutar</a:t>
            </a:r>
            <a:r>
              <a:rPr sz="1400" b="0" i="0" dirty="0">
                <a:solidFill>
                  <a:srgbClr val="C8D0E0"/>
                </a:solidFill>
              </a:rPr>
              <a:t> la </a:t>
            </a:r>
            <a:r>
              <a:rPr sz="1400" b="0" i="0" dirty="0" err="1">
                <a:solidFill>
                  <a:srgbClr val="C8D0E0"/>
                </a:solidFill>
              </a:rPr>
              <a:t>operación</a:t>
            </a:r>
            <a:r>
              <a:rPr sz="1400" b="0" i="0" dirty="0">
                <a:solidFill>
                  <a:srgbClr val="C8D0E0"/>
                </a:solidFill>
              </a:rPr>
              <a:t> del </a:t>
            </a:r>
            <a:r>
              <a:rPr sz="1400" b="0" i="0" dirty="0" err="1">
                <a:solidFill>
                  <a:srgbClr val="C8D0E0"/>
                </a:solidFill>
              </a:rPr>
              <a:t>servicio</a:t>
            </a:r>
            <a:endParaRPr sz="1400" b="0" i="0" dirty="0">
              <a:solidFill>
                <a:srgbClr val="C8D0E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52360" y="270662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Assert: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706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Verificar resultado e interacciones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46120"/>
            <a:ext cx="7269480" cy="272491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3310128"/>
            <a:ext cx="6949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Cobertura por capa: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3703320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Controllers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749039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Validación HTTP y mapeo de DTOs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4142231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41879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1879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Lógica de negocio — capa más crítica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4581144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37760" y="4626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Repositories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6268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Consultas JPA personalizadas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020056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37760" y="506577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065775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JWT, filtros y roles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5458968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60" y="55046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50468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Flujos end-to-end del back-end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15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Despliegue — Docker +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16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Pipeline de integración y entrega continua automatizado</a:t>
            </a:r>
          </a:p>
        </p:txBody>
      </p:sp>
      <p:pic>
        <p:nvPicPr>
          <p:cNvPr id="9" name="Picture 8" descr="ci_pipeline.png"/>
          <p:cNvPicPr>
            <a:picLocks noChangeAspect="1"/>
          </p:cNvPicPr>
          <p:nvPr/>
        </p:nvPicPr>
        <p:blipFill>
          <a:blip r:embed="rId3"/>
          <a:srcRect r="34955"/>
          <a:stretch>
            <a:fillRect/>
          </a:stretch>
        </p:blipFill>
        <p:spPr>
          <a:xfrm>
            <a:off x="575944" y="1563633"/>
            <a:ext cx="5333337" cy="3922679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548640" y="5687788"/>
            <a:ext cx="5360641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1977" y="5742872"/>
            <a:ext cx="530126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Pipeline CI: tests · build JAR · build FE · verify Docker</a:t>
            </a:r>
          </a:p>
        </p:txBody>
      </p:sp>
      <p:pic>
        <p:nvPicPr>
          <p:cNvPr id="12" name="Picture 11" descr="cd_pipeline.png"/>
          <p:cNvPicPr>
            <a:picLocks noChangeAspect="1"/>
          </p:cNvPicPr>
          <p:nvPr/>
        </p:nvPicPr>
        <p:blipFill>
          <a:blip r:embed="rId4"/>
          <a:srcRect r="34955"/>
          <a:stretch>
            <a:fillRect/>
          </a:stretch>
        </p:blipFill>
        <p:spPr>
          <a:xfrm>
            <a:off x="6094412" y="1563632"/>
            <a:ext cx="5381033" cy="3922679"/>
          </a:xfrm>
          <a:prstGeom prst="rect">
            <a:avLst/>
          </a:prstGeom>
          <a:ln w="12700">
            <a:solidFill>
              <a:schemeClr val="bg1">
                <a:lumMod val="65000"/>
              </a:schemeClr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6094412" y="5687788"/>
            <a:ext cx="5381308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4412" y="5742872"/>
            <a:ext cx="54727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Pipeline CD: tests · build images → GHCR · deploy Kubernetes (</a:t>
            </a:r>
            <a:r>
              <a:rPr sz="1300" b="0" i="1" dirty="0" err="1">
                <a:solidFill>
                  <a:srgbClr val="7A8AA8"/>
                </a:solidFill>
              </a:rPr>
              <a:t>Minikube</a:t>
            </a:r>
            <a:r>
              <a:rPr sz="1300" b="0" i="1" dirty="0">
                <a:solidFill>
                  <a:srgbClr val="7A8AA8"/>
                </a:solidFill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16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C518"/>
                </a:solidFill>
              </a:rPr>
              <a:t>DEMO — MovieMate en funcionamiento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745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p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657600" cy="17715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Inicio</a:t>
            </a:r>
            <a:r>
              <a:rPr sz="1300" b="0" i="1" dirty="0">
                <a:solidFill>
                  <a:srgbClr val="7A8AA8"/>
                </a:solidFill>
              </a:rPr>
              <a:t> — </a:t>
            </a:r>
            <a:r>
              <a:rPr sz="1300" b="0" i="1" dirty="0" err="1">
                <a:solidFill>
                  <a:srgbClr val="7A8AA8"/>
                </a:solidFill>
              </a:rPr>
              <a:t>tendencias</a:t>
            </a:r>
            <a:r>
              <a:rPr sz="1300" b="0" i="1" dirty="0">
                <a:solidFill>
                  <a:srgbClr val="7A8AA8"/>
                </a:solidFill>
              </a:rPr>
              <a:t> + </a:t>
            </a:r>
            <a:r>
              <a:rPr sz="1300" b="0" i="1" dirty="0" err="1">
                <a:solidFill>
                  <a:srgbClr val="7A8AA8"/>
                </a:solidFill>
              </a:rPr>
              <a:t>recomendaciones</a:t>
            </a:r>
            <a:endParaRPr sz="1300" b="0" i="1" dirty="0">
              <a:solidFill>
                <a:srgbClr val="7A8AA8"/>
              </a:solidFill>
            </a:endParaRPr>
          </a:p>
        </p:txBody>
      </p:sp>
      <p:pic>
        <p:nvPicPr>
          <p:cNvPr id="9" name="Picture 8" descr="discover_p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005840"/>
            <a:ext cx="3657600" cy="1765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9768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Descubrimiento</a:t>
            </a:r>
            <a:r>
              <a:rPr sz="1300" b="0" i="1" dirty="0">
                <a:solidFill>
                  <a:srgbClr val="7A8AA8"/>
                </a:solidFill>
              </a:rPr>
              <a:t> — </a:t>
            </a:r>
            <a:r>
              <a:rPr sz="1300" b="0" i="1" dirty="0" err="1">
                <a:solidFill>
                  <a:srgbClr val="7A8AA8"/>
                </a:solidFill>
              </a:rPr>
              <a:t>búsqueda</a:t>
            </a:r>
            <a:r>
              <a:rPr sz="1300" b="0" i="1" dirty="0">
                <a:solidFill>
                  <a:srgbClr val="7A8AA8"/>
                </a:solidFill>
              </a:rPr>
              <a:t> global</a:t>
            </a:r>
          </a:p>
        </p:txBody>
      </p:sp>
      <p:pic>
        <p:nvPicPr>
          <p:cNvPr id="12" name="Picture 11" descr="content_detail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005840"/>
            <a:ext cx="3657600" cy="175911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3816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Ficha</a:t>
            </a:r>
            <a:r>
              <a:rPr sz="1300" b="0" i="1" dirty="0">
                <a:solidFill>
                  <a:srgbClr val="7A8AA8"/>
                </a:solidFill>
              </a:rPr>
              <a:t> — </a:t>
            </a:r>
            <a:r>
              <a:rPr sz="1300" b="0" i="1" dirty="0" err="1">
                <a:solidFill>
                  <a:srgbClr val="7A8AA8"/>
                </a:solidFill>
              </a:rPr>
              <a:t>valoración</a:t>
            </a:r>
            <a:r>
              <a:rPr sz="1300" b="0" i="1" dirty="0">
                <a:solidFill>
                  <a:srgbClr val="7A8AA8"/>
                </a:solidFill>
              </a:rPr>
              <a:t> + tracking</a:t>
            </a:r>
          </a:p>
        </p:txBody>
      </p:sp>
      <p:pic>
        <p:nvPicPr>
          <p:cNvPr id="15" name="Picture 14" descr="profile_p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794760"/>
            <a:ext cx="3657600" cy="176221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A8AA8"/>
                </a:solidFill>
              </a:rPr>
              <a:t>Perfil — stats + insignias + listas</a:t>
            </a:r>
          </a:p>
        </p:txBody>
      </p:sp>
      <p:pic>
        <p:nvPicPr>
          <p:cNvPr id="18" name="Picture 17" descr="activity_p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3794760"/>
            <a:ext cx="3657600" cy="176221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29768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635508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 err="1">
                <a:solidFill>
                  <a:srgbClr val="7A8AA8"/>
                </a:solidFill>
              </a:rPr>
              <a:t>Actividad</a:t>
            </a:r>
            <a:r>
              <a:rPr sz="1300" b="0" i="1" dirty="0">
                <a:solidFill>
                  <a:srgbClr val="7A8AA8"/>
                </a:solidFill>
              </a:rPr>
              <a:t> — feed social</a:t>
            </a:r>
          </a:p>
        </p:txBody>
      </p:sp>
      <p:pic>
        <p:nvPicPr>
          <p:cNvPr id="21" name="Picture 20" descr="admin_pan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0" y="3794760"/>
            <a:ext cx="3657600" cy="17624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13816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6355080"/>
            <a:ext cx="3474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 dirty="0">
                <a:solidFill>
                  <a:srgbClr val="7A8AA8"/>
                </a:solidFill>
              </a:rPr>
              <a:t>Administración — </a:t>
            </a:r>
            <a:r>
              <a:rPr sz="1300" b="0" i="1" dirty="0" err="1">
                <a:solidFill>
                  <a:srgbClr val="7A8AA8"/>
                </a:solidFill>
              </a:rPr>
              <a:t>reportes</a:t>
            </a:r>
            <a:endParaRPr sz="1300" b="0" i="1" dirty="0">
              <a:solidFill>
                <a:srgbClr val="7A8AA8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 dirty="0">
                <a:solidFill>
                  <a:srgbClr val="7A8AA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18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Todos los objetivos planteados han sido cumplidos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Plataforma funcional completa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916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Full-stack desplegable con todas las funcionalidades planificadas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04872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404872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7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Arquitectura modular y escalable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496312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Monolito en capas; preparado para evolución a microservicios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273551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Integración eficiente con TMDB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300984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Caché bajo demanda + TTL: mínima dependencia externa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14216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014216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0782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Comunicación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105656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WebSockets STOMP: notificaciones push sin polling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18888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4818888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882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Calidad demostrada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910327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340 tests unitarios automatizados · cobertura JaCoCo · 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2356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62356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687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UI responsive y accesible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71500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Desktop + tablet + mobile · Radix UI ARIA-compliant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18</a:t>
            </a:r>
            <a:endParaRPr sz="1400" b="0" i="0" dirty="0">
              <a:solidFill>
                <a:srgbClr val="7A8AA8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Vías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ES" sz="1400" b="0" i="0" dirty="0">
                <a:solidFill>
                  <a:srgbClr val="7A8AA8"/>
                </a:solidFill>
              </a:rPr>
              <a:t>19</a:t>
            </a:r>
            <a:endParaRPr sz="1400" b="0" i="0" dirty="0">
              <a:solidFill>
                <a:srgbClr val="7A8AA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Cuatro líneas de evolución identificadas en la memoria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00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000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App móvil nativa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91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React Native para iOS y Android · reutilización de la lógica del cliente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000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0000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Recomendador con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91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Filtrado colaborativo · sugerencias más precisas y personalizadas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000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000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9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Integración con 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991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Disponibilidad en plataformas · visualizaciones en grupo · exportación del historial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00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8000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Migración a microservicios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8914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Desacoplar componentes críticos y escalar de forma independiente por servicio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566160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¿Preguntas?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7A8AA8"/>
                </a:solidFill>
              </a:rPr>
              <a:t>Grado </a:t>
            </a:r>
            <a:r>
              <a:rPr sz="1600" b="0" i="0" dirty="0" err="1">
                <a:solidFill>
                  <a:srgbClr val="7A8AA8"/>
                </a:solidFill>
              </a:rPr>
              <a:t>en</a:t>
            </a:r>
            <a:r>
              <a:rPr sz="1600" b="0" i="0" dirty="0">
                <a:solidFill>
                  <a:srgbClr val="7A8AA8"/>
                </a:solidFill>
              </a:rPr>
              <a:t> Ingeniería </a:t>
            </a:r>
            <a:r>
              <a:rPr sz="1600" b="0" i="0" dirty="0" err="1">
                <a:solidFill>
                  <a:srgbClr val="7A8AA8"/>
                </a:solidFill>
              </a:rPr>
              <a:t>Informática</a:t>
            </a:r>
            <a:r>
              <a:rPr sz="1600" b="0" i="0" dirty="0">
                <a:solidFill>
                  <a:srgbClr val="7A8AA8"/>
                </a:solidFill>
              </a:rPr>
              <a:t>  ·  Universidad de Murcia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3479</Words>
  <Application>Microsoft Office PowerPoint</Application>
  <PresentationFormat>Personalizado</PresentationFormat>
  <Paragraphs>423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CHRISTIAN MATAS CONESA</cp:lastModifiedBy>
  <cp:revision>58</cp:revision>
  <dcterms:created xsi:type="dcterms:W3CDTF">2013-01-27T09:14:16Z</dcterms:created>
  <dcterms:modified xsi:type="dcterms:W3CDTF">2026-06-07T20:07:08Z</dcterms:modified>
  <cp:category/>
</cp:coreProperties>
</file>