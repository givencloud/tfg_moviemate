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4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días. Mi nombre es Christian Matas Conesa y presento mi TFG «MovieMate», tutorizado por el profesor Francisco García Sánchez.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Seguiré esta estructura en unos 20 minutos. El mayor peso estará en diseño y resolución.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Señala cada captura al nombrar la plataforma. La fragmentación es la motivación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MovieMate resuelve la fragmentación integrando todas las funcionalidades en un único entorno.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Ninguna plataforma cubre los 8 criterios. MovieMate es la única que los cumple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profundices en cada tecnología; solo nómbralas con seguridad. El tribunal quiere ver que las dominas.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fases no son estrictamente secuenciales; hubo iteraciones al descubrir nuevas necesidades.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Señala cada componente del diagrama. Justifica: monolito modular por simplicidad y escala actual; API REST para desacoplar cliente de servidor y permitir futuros clientes móviles.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Señala las entidades clave. Destaca que el campo TTL en Content es lo que gestiona la caché de TMDB.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preguntan por seguridad: JWT + BCrypt para contraseñas + CORS + roles. Sin sesiones en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TanStack Query es el diferenciador frente a Redux: diseñado para server state, no client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 getOrFetch: la primera vez se llama a TMDB, se persiste localmente y se sirve. TTL gestiona la caché.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tiempo real es un diferenciador clave respecto a Letterboxd o Serializd, que no tienen WebSockets.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Responsive: en móvil la barra lateral se reemplaza por una bottom nav, más ergonómica con una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tests se ejecutan automáticamente en el pipeline CI en cada push. Si falla un test, el build se bloquea.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 en develop: solo valida. CD en main: construye, publica en GHCR y despliega en Kubernetes. La separación desacopla validación de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EN VIVO: registro → inicio → buscar película → valorar → añadir a lista → perfil → notificación RT → admin. Si falla, usa estas capturas y explica el flujo sobre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slide puede usarse como alternativa o complemento a la demo en vivo si hay problemas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Habla con convicción. Este slide es el balance final del trabajo. No leas; sintetiza en tus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 esto concluye la presentación. Quedo a vuestra disposición para responder vuestras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73152" cy="652881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MovieMate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8D0E0"/>
                </a:solidFill>
              </a:rPr>
              <a:t>App de gestión y valoración de películas y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657600"/>
            <a:ext cx="7616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Christian Matas Conesa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8AA8"/>
                </a:solidFill>
              </a:rPr>
              <a:t>Tutor: Francisco García Sánchez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7A8AA8"/>
                </a:solidFill>
              </a:rPr>
              <a:t>Grado </a:t>
            </a:r>
            <a:r>
              <a:rPr sz="1600" b="0" i="0" dirty="0" err="1">
                <a:solidFill>
                  <a:srgbClr val="7A8AA8"/>
                </a:solidFill>
              </a:rPr>
              <a:t>en</a:t>
            </a:r>
            <a:r>
              <a:rPr sz="1600" b="0" i="0" dirty="0">
                <a:solidFill>
                  <a:srgbClr val="7A8AA8"/>
                </a:solidFill>
              </a:rPr>
              <a:t> Ingeniería </a:t>
            </a:r>
            <a:r>
              <a:rPr sz="1600" b="0" i="0" dirty="0" err="1">
                <a:solidFill>
                  <a:srgbClr val="7A8AA8"/>
                </a:solidFill>
              </a:rPr>
              <a:t>Informática</a:t>
            </a:r>
            <a:r>
              <a:rPr sz="1600" b="0" i="0" dirty="0">
                <a:solidFill>
                  <a:srgbClr val="7A8AA8"/>
                </a:solidFill>
              </a:rPr>
              <a:t>  ·  Universidad de Murcia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Índice de contenidos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62348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62348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6939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263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829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Contexto, problema y solución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7019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967019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1612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3102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8764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Plataformas existentes y stack tecnológico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71692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771692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936284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357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Objetivos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metodología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1923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Qué construimos y cómo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76364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576364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74095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640372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Diseño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lang="es-ES" sz="2000" b="1" i="0" dirty="0">
                <a:solidFill>
                  <a:srgbClr val="FFFFFF"/>
                </a:solidFill>
              </a:rPr>
              <a:t>e implementación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99698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7A8AA8"/>
                </a:solidFill>
              </a:rPr>
              <a:t>Arquitectura</a:t>
            </a:r>
            <a:r>
              <a:rPr sz="1400" b="0" i="0" dirty="0">
                <a:solidFill>
                  <a:srgbClr val="7A8AA8"/>
                </a:solidFill>
              </a:rPr>
              <a:t> · Back-end · Front-end · </a:t>
            </a:r>
            <a:r>
              <a:rPr lang="es-ES" sz="1400" b="0" i="0" dirty="0">
                <a:solidFill>
                  <a:srgbClr val="7A8AA8"/>
                </a:solidFill>
              </a:rPr>
              <a:t>U</a:t>
            </a:r>
            <a:r>
              <a:rPr sz="1400" b="0" i="0" dirty="0">
                <a:solidFill>
                  <a:srgbClr val="7A8AA8"/>
                </a:solidFill>
              </a:rPr>
              <a:t>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1036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381036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545628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4450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Pruebas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despliegue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48016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b="0" i="0" dirty="0">
                <a:solidFill>
                  <a:srgbClr val="7A8AA8"/>
                </a:solidFill>
              </a:rPr>
              <a:t>Calidad</a:t>
            </a:r>
            <a:r>
              <a:rPr sz="1400" b="0" i="0" dirty="0">
                <a:solidFill>
                  <a:srgbClr val="7A8AA8"/>
                </a:solidFill>
              </a:rPr>
              <a:t>· Docker · 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85708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185708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35030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2497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Conclusiones y futuro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60633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Logros y líneas de evolución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</a:rPr>
              <a:t>Introducción</a:t>
            </a:r>
            <a:r>
              <a:rPr sz="3000" b="1" i="0" dirty="0">
                <a:solidFill>
                  <a:srgbClr val="FFFFFF"/>
                </a:solidFill>
              </a:rPr>
              <a:t> — El </a:t>
            </a:r>
            <a:r>
              <a:rPr sz="3000" b="1" i="0" dirty="0" err="1">
                <a:solidFill>
                  <a:srgbClr val="FFFFFF"/>
                </a:solidFill>
              </a:rPr>
              <a:t>problema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Introducción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1051560"/>
            <a:ext cx="109728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5C518"/>
                </a:solidFill>
              </a:rPr>
              <a:t>Los </a:t>
            </a:r>
            <a:r>
              <a:rPr sz="2200" b="1" i="0" dirty="0" err="1">
                <a:solidFill>
                  <a:srgbClr val="F5C518"/>
                </a:solidFill>
              </a:rPr>
              <a:t>usuarios</a:t>
            </a:r>
            <a:r>
              <a:rPr sz="2200" b="1" i="0" dirty="0">
                <a:solidFill>
                  <a:srgbClr val="F5C518"/>
                </a:solidFill>
              </a:rPr>
              <a:t> </a:t>
            </a:r>
            <a:r>
              <a:rPr sz="2200" b="1" i="0" dirty="0" err="1">
                <a:solidFill>
                  <a:srgbClr val="F5C518"/>
                </a:solidFill>
              </a:rPr>
              <a:t>necesitan</a:t>
            </a:r>
            <a:r>
              <a:rPr sz="2200" b="1" i="0" dirty="0">
                <a:solidFill>
                  <a:srgbClr val="F5C518"/>
                </a:solidFill>
              </a:rPr>
              <a:t> usar </a:t>
            </a:r>
            <a:r>
              <a:rPr sz="2200" b="1" i="0" dirty="0" err="1">
                <a:solidFill>
                  <a:srgbClr val="F5C518"/>
                </a:solidFill>
              </a:rPr>
              <a:t>múltiples</a:t>
            </a:r>
            <a:r>
              <a:rPr sz="2200" b="1" i="0" dirty="0">
                <a:solidFill>
                  <a:srgbClr val="F5C518"/>
                </a:solidFill>
              </a:rPr>
              <a:t> </a:t>
            </a:r>
            <a:r>
              <a:rPr sz="2200" b="1" i="0" dirty="0" err="1">
                <a:solidFill>
                  <a:srgbClr val="F5C518"/>
                </a:solidFill>
              </a:rPr>
              <a:t>plataformas</a:t>
            </a:r>
            <a:r>
              <a:rPr sz="2200" b="1" i="0" dirty="0">
                <a:solidFill>
                  <a:srgbClr val="F5C518"/>
                </a:solidFill>
              </a:rPr>
              <a:t>…</a:t>
            </a:r>
          </a:p>
        </p:txBody>
      </p:sp>
      <p:pic>
        <p:nvPicPr>
          <p:cNvPr id="9" name="Picture 8" descr="letterbox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474720" cy="3058093"/>
          </a:xfrm>
          <a:prstGeom prst="rect">
            <a:avLst/>
          </a:prstGeom>
        </p:spPr>
      </p:pic>
      <p:pic>
        <p:nvPicPr>
          <p:cNvPr id="10" name="Picture 9" descr="imd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55331"/>
            <a:ext cx="3520440" cy="27478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5465" y="1755331"/>
            <a:ext cx="3355975" cy="27478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38" y="4956048"/>
            <a:ext cx="3474721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4992624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Letterboxd — solo cine, sin series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956048"/>
            <a:ext cx="35204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4992624"/>
            <a:ext cx="3337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IMDb — </a:t>
            </a:r>
            <a:r>
              <a:rPr sz="1300" b="0" i="1" dirty="0" err="1">
                <a:solidFill>
                  <a:srgbClr val="7A8AA8"/>
                </a:solidFill>
              </a:rPr>
              <a:t>metadatos</a:t>
            </a:r>
            <a:r>
              <a:rPr sz="1300" b="0" i="1" dirty="0">
                <a:solidFill>
                  <a:srgbClr val="7A8AA8"/>
                </a:solidFill>
              </a:rPr>
              <a:t>, sin red social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4956048"/>
            <a:ext cx="3337561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4992624"/>
            <a:ext cx="324612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Serializd</a:t>
            </a:r>
            <a:r>
              <a:rPr sz="1300" b="0" i="1" dirty="0">
                <a:solidFill>
                  <a:srgbClr val="7A8AA8"/>
                </a:solidFill>
              </a:rPr>
              <a:t> — solo series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39" y="5394960"/>
            <a:ext cx="10972801" cy="73152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68112"/>
            <a:ext cx="109270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C518"/>
                </a:solidFill>
              </a:rPr>
              <a:t>⟶  </a:t>
            </a:r>
            <a:r>
              <a:rPr sz="2000" b="1" i="0" dirty="0" err="1">
                <a:solidFill>
                  <a:srgbClr val="F5C518"/>
                </a:solidFill>
              </a:rPr>
              <a:t>Fragmentación</a:t>
            </a:r>
            <a:r>
              <a:rPr sz="2000" b="1" i="0" dirty="0">
                <a:solidFill>
                  <a:srgbClr val="F5C518"/>
                </a:solidFill>
              </a:rPr>
              <a:t>: </a:t>
            </a:r>
            <a:r>
              <a:rPr sz="2000" b="1" i="0" dirty="0" err="1">
                <a:solidFill>
                  <a:srgbClr val="F5C518"/>
                </a:solidFill>
              </a:rPr>
              <a:t>historial</a:t>
            </a:r>
            <a:r>
              <a:rPr sz="2000" b="1" i="0" dirty="0">
                <a:solidFill>
                  <a:srgbClr val="F5C518"/>
                </a:solidFill>
              </a:rPr>
              <a:t> </a:t>
            </a:r>
            <a:r>
              <a:rPr sz="2000" b="1" i="0" dirty="0" err="1">
                <a:solidFill>
                  <a:srgbClr val="F5C518"/>
                </a:solidFill>
              </a:rPr>
              <a:t>disperso</a:t>
            </a:r>
            <a:r>
              <a:rPr sz="2000" b="1" i="0" dirty="0">
                <a:solidFill>
                  <a:srgbClr val="F5C518"/>
                </a:solidFill>
              </a:rPr>
              <a:t> · </a:t>
            </a:r>
            <a:r>
              <a:rPr sz="2000" b="1" i="0" dirty="0" err="1">
                <a:solidFill>
                  <a:srgbClr val="F5C518"/>
                </a:solidFill>
              </a:rPr>
              <a:t>valoraciones</a:t>
            </a:r>
            <a:r>
              <a:rPr sz="2000" b="1" i="0" dirty="0">
                <a:solidFill>
                  <a:srgbClr val="F5C518"/>
                </a:solidFill>
              </a:rPr>
              <a:t> </a:t>
            </a:r>
            <a:r>
              <a:rPr sz="2000" b="1" i="0" dirty="0" err="1">
                <a:solidFill>
                  <a:srgbClr val="F5C518"/>
                </a:solidFill>
              </a:rPr>
              <a:t>separadas</a:t>
            </a:r>
            <a:r>
              <a:rPr sz="2000" b="1" i="0" dirty="0">
                <a:solidFill>
                  <a:srgbClr val="F5C518"/>
                </a:solidFill>
              </a:rPr>
              <a:t> · sin red social </a:t>
            </a:r>
            <a:r>
              <a:rPr sz="2000" b="1" i="0" dirty="0" err="1">
                <a:solidFill>
                  <a:srgbClr val="F5C518"/>
                </a:solidFill>
              </a:rPr>
              <a:t>unificada</a:t>
            </a:r>
            <a:endParaRPr sz="2000" b="1" i="0" dirty="0">
              <a:solidFill>
                <a:srgbClr val="F5C51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Introducción — MovieMate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Introducción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4245"/>
            <a:ext cx="76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8D0E0"/>
                </a:solidFill>
              </a:rPr>
              <a:t>Una </a:t>
            </a:r>
            <a:r>
              <a:rPr b="0" i="1" dirty="0" err="1">
                <a:solidFill>
                  <a:srgbClr val="C8D0E0"/>
                </a:solidFill>
              </a:rPr>
              <a:t>plataforma</a:t>
            </a:r>
            <a:r>
              <a:rPr b="0" i="1" dirty="0">
                <a:solidFill>
                  <a:srgbClr val="C8D0E0"/>
                </a:solidFill>
              </a:rPr>
              <a:t> </a:t>
            </a:r>
            <a:r>
              <a:rPr b="0" i="1" dirty="0" err="1">
                <a:solidFill>
                  <a:srgbClr val="C8D0E0"/>
                </a:solidFill>
              </a:rPr>
              <a:t>unificada</a:t>
            </a:r>
            <a:r>
              <a:rPr b="0" i="1" dirty="0">
                <a:solidFill>
                  <a:srgbClr val="C8D0E0"/>
                </a:solidFill>
              </a:rPr>
              <a:t> para </a:t>
            </a:r>
            <a:r>
              <a:rPr b="0" i="1" dirty="0" err="1">
                <a:solidFill>
                  <a:srgbClr val="C8D0E0"/>
                </a:solidFill>
              </a:rPr>
              <a:t>gestión</a:t>
            </a:r>
            <a:r>
              <a:rPr b="0" i="1" dirty="0">
                <a:solidFill>
                  <a:srgbClr val="C8D0E0"/>
                </a:solidFill>
              </a:rPr>
              <a:t>, </a:t>
            </a:r>
            <a:r>
              <a:rPr b="0" i="1" dirty="0" err="1">
                <a:solidFill>
                  <a:srgbClr val="C8D0E0"/>
                </a:solidFill>
              </a:rPr>
              <a:t>valoración</a:t>
            </a:r>
            <a:r>
              <a:rPr b="0" i="1" dirty="0">
                <a:solidFill>
                  <a:srgbClr val="C8D0E0"/>
                </a:solidFill>
              </a:rPr>
              <a:t> y </a:t>
            </a:r>
            <a:r>
              <a:rPr b="0" i="1" dirty="0" err="1">
                <a:solidFill>
                  <a:srgbClr val="C8D0E0"/>
                </a:solidFill>
              </a:rPr>
              <a:t>descubrimiento</a:t>
            </a:r>
            <a:r>
              <a:rPr b="0" i="1" dirty="0">
                <a:solidFill>
                  <a:srgbClr val="C8D0E0"/>
                </a:solidFill>
              </a:rPr>
              <a:t> audiovisual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36384"/>
            <a:ext cx="7623810" cy="33709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66760" y="135490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135490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1524180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🎬 </a:t>
            </a:r>
            <a:r>
              <a:rPr sz="1600" b="1" i="0" dirty="0" err="1">
                <a:solidFill>
                  <a:srgbClr val="FFFFFF"/>
                </a:solidFill>
              </a:rPr>
              <a:t>Películas</a:t>
            </a:r>
            <a:r>
              <a:rPr sz="1600" b="1" i="0" dirty="0">
                <a:solidFill>
                  <a:srgbClr val="FFFFFF"/>
                </a:solidFill>
              </a:rPr>
              <a:t> + series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66760" y="213214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213214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230894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⭐ </a:t>
            </a:r>
            <a:r>
              <a:rPr sz="1600" b="1" i="0" dirty="0" err="1">
                <a:solidFill>
                  <a:srgbClr val="FFFFFF"/>
                </a:solidFill>
              </a:rPr>
              <a:t>Valoraciones</a:t>
            </a:r>
            <a:r>
              <a:rPr sz="1600" b="1" i="0" dirty="0">
                <a:solidFill>
                  <a:srgbClr val="FFFFFF"/>
                </a:solidFill>
              </a:rPr>
              <a:t> / </a:t>
            </a:r>
            <a:r>
              <a:rPr sz="1600" b="1" i="0" dirty="0" err="1">
                <a:solidFill>
                  <a:srgbClr val="FFFFFF"/>
                </a:solidFill>
              </a:rPr>
              <a:t>reseñas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66760" y="290938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290938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308300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📋 </a:t>
            </a:r>
            <a:r>
              <a:rPr sz="1600" b="1" i="0" dirty="0" err="1">
                <a:solidFill>
                  <a:srgbClr val="FFFFFF"/>
                </a:solidFill>
              </a:rPr>
              <a:t>Listas</a:t>
            </a:r>
            <a:r>
              <a:rPr sz="1600" b="1" i="0" dirty="0">
                <a:solidFill>
                  <a:srgbClr val="FFFFFF"/>
                </a:solidFill>
              </a:rPr>
              <a:t> </a:t>
            </a:r>
            <a:r>
              <a:rPr sz="1600" b="1" i="0" dirty="0" err="1">
                <a:solidFill>
                  <a:srgbClr val="FFFFFF"/>
                </a:solidFill>
              </a:rPr>
              <a:t>personalizadas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66760" y="368662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368662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8" y="386024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👥 Red social + feed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66760" y="446386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446386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463748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🔔 </a:t>
            </a:r>
            <a:r>
              <a:rPr lang="es-ES" sz="1600" b="1" i="0" dirty="0">
                <a:solidFill>
                  <a:srgbClr val="FFFFFF"/>
                </a:solidFill>
              </a:rPr>
              <a:t>Notificaciones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66760" y="524110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760" y="524110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5410373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🏆 </a:t>
            </a:r>
            <a:r>
              <a:rPr sz="1600" b="1" i="0" dirty="0" err="1">
                <a:solidFill>
                  <a:srgbClr val="FFFFFF"/>
                </a:solidFill>
              </a:rPr>
              <a:t>Gamificación</a:t>
            </a:r>
            <a:endParaRPr sz="16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Estado del arte —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Estado del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6526" y="1998164"/>
            <a:ext cx="2798064" cy="42062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19678" y="2062171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21F"/>
                </a:solidFill>
              </a:rPr>
              <a:t>Característica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1166" y="1998164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4318" y="206217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81366" y="1998164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54518" y="206217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Letterboxd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1566" y="1998164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4718" y="206217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Serializd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1766" y="1998164"/>
            <a:ext cx="1655064" cy="420624"/>
          </a:xfrm>
          <a:prstGeom prst="rect">
            <a:avLst/>
          </a:prstGeom>
          <a:solidFill>
            <a:srgbClr val="0E2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4918" y="2062171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E76E"/>
                </a:solidFill>
              </a:rPr>
              <a:t>MovieMate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6526" y="2418788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19678" y="24919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Películas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166" y="24187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54318" y="24919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1366" y="24187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54518" y="24919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1566" y="24187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54718" y="24919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81766" y="2418788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54918" y="24919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6526" y="2839412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19678" y="29125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1166" y="28394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54318" y="29125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1366" y="28394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54518" y="29125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81566" y="28394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54718" y="29125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81766" y="2839412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54918" y="291256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6526" y="3260035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19678" y="33331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FFFFF"/>
                </a:solidFill>
              </a:rPr>
              <a:t>Valoraciones</a:t>
            </a:r>
            <a:r>
              <a:rPr sz="1300" b="0" i="0" dirty="0">
                <a:solidFill>
                  <a:srgbClr val="FFFFFF"/>
                </a:solidFill>
              </a:rPr>
              <a:t>/</a:t>
            </a:r>
            <a:r>
              <a:rPr sz="1300" b="0" i="0" dirty="0" err="1">
                <a:solidFill>
                  <a:srgbClr val="FFFFFF"/>
                </a:solidFill>
              </a:rPr>
              <a:t>reseñas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81166" y="3260035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54318" y="33331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81366" y="3260035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54518" y="33331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81566" y="3260035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54718" y="33331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81766" y="3260035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54918" y="333318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46526" y="3680660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19678" y="37538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Listas personalizadas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1166" y="3680660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54318" y="37538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1366" y="3680660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54518" y="37538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81566" y="3680660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54718" y="37538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81766" y="3680660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54918" y="375381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46526" y="4101284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519678" y="417443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81166" y="410128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54318" y="41744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81366" y="410128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54518" y="41744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81566" y="410128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54718" y="41744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Básica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81766" y="4101284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54918" y="417443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46526" y="4521908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519678" y="45950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0" i="0" dirty="0">
                <a:solidFill>
                  <a:srgbClr val="FFFFFF"/>
                </a:solidFill>
              </a:rPr>
              <a:t>Notificaciones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81166" y="452190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54318" y="45950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81366" y="452190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954518" y="45950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81566" y="452190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554718" y="45950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81766" y="4521908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154918" y="459506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46526" y="4942532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519678" y="50156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Gamificación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81166" y="4942532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54318" y="501568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81366" y="4942532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54518" y="501568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81566" y="4942532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54718" y="501568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81766" y="4942532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54918" y="501568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46526" y="5363156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519678" y="54363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Seg. de episodios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81166" y="536315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354318" y="54363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81366" y="536315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54518" y="54363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81566" y="536315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554718" y="54363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81766" y="5363156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154918" y="543630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Estado del </a:t>
            </a:r>
            <a:r>
              <a:rPr sz="3000" b="1" i="0" dirty="0" err="1">
                <a:solidFill>
                  <a:srgbClr val="FFFFFF"/>
                </a:solidFill>
              </a:rPr>
              <a:t>arte</a:t>
            </a:r>
            <a:r>
              <a:rPr sz="3000" b="1" i="0" dirty="0">
                <a:solidFill>
                  <a:srgbClr val="FFFFFF"/>
                </a:solidFill>
              </a:rPr>
              <a:t> — Stack </a:t>
            </a:r>
            <a:r>
              <a:rPr sz="3000" b="1" i="0" dirty="0" err="1">
                <a:solidFill>
                  <a:srgbClr val="FFFFFF"/>
                </a:solidFill>
              </a:rPr>
              <a:t>tecnológico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Estado del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9889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8890" y="1097280"/>
            <a:ext cx="361188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033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Back-end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48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3482" y="169164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893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D0E0"/>
                </a:solidFill>
              </a:rPr>
              <a:t>Java 21 + Spring Boot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48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3482" y="242316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93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D0E0"/>
                </a:solidFill>
              </a:rPr>
              <a:t>Spring Security + 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48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3482" y="315468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893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Spring Data JPA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48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3482" y="388620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893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348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3482" y="461772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893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WebSockets (STOMP)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48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3482" y="534924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893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OpenAPI / Swagger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509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85090" y="1097280"/>
            <a:ext cx="3611880" cy="475488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653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Front-end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968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49682" y="169164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13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React 19 + TypeScript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968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49682" y="242316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0513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TanStack Query v5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4968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49682" y="315468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0513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Zustand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968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449682" y="388620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0513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Tailwind CSS 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4968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49682" y="461772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0513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Radix UI / shadcn/ui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968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449682" y="534924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0513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React Router v6 + Axios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129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71290" y="1097280"/>
            <a:ext cx="3611880" cy="475488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6273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Infraestructura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588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335882" y="169164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9133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TMDB API (metadatos)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588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335882" y="242316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9133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Docker + Docker Compose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3588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5882" y="315468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9133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GitHub Actions CI/CD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3588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335882" y="388620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9133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Kubernetes / Minikube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588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35882" y="461772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9133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JUnit 5 + Mockito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588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335882" y="534924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9133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JaCoCo (cobertura)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Objetivos y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Objetivos y metodología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 err="1">
                <a:solidFill>
                  <a:srgbClr val="C8D0E0"/>
                </a:solidFill>
              </a:rPr>
              <a:t>Objetivo</a:t>
            </a:r>
            <a:r>
              <a:rPr sz="1800" b="0" i="1" dirty="0">
                <a:solidFill>
                  <a:srgbClr val="C8D0E0"/>
                </a:solidFill>
              </a:rPr>
              <a:t> principal: </a:t>
            </a:r>
            <a:r>
              <a:rPr sz="1800" b="0" i="1" dirty="0" err="1">
                <a:solidFill>
                  <a:srgbClr val="C8D0E0"/>
                </a:solidFill>
              </a:rPr>
              <a:t>diseño</a:t>
            </a:r>
            <a:r>
              <a:rPr sz="1800" b="0" i="1" dirty="0">
                <a:solidFill>
                  <a:srgbClr val="C8D0E0"/>
                </a:solidFill>
              </a:rPr>
              <a:t> y </a:t>
            </a:r>
            <a:r>
              <a:rPr sz="1800" b="0" i="1" dirty="0" err="1">
                <a:solidFill>
                  <a:srgbClr val="C8D0E0"/>
                </a:solidFill>
              </a:rPr>
              <a:t>desarrollo</a:t>
            </a:r>
            <a:r>
              <a:rPr sz="1800" b="0" i="1" dirty="0">
                <a:solidFill>
                  <a:srgbClr val="C8D0E0"/>
                </a:solidFill>
              </a:rPr>
              <a:t> de </a:t>
            </a:r>
            <a:r>
              <a:rPr sz="1800" b="0" i="1" dirty="0" err="1">
                <a:solidFill>
                  <a:srgbClr val="C8D0E0"/>
                </a:solidFill>
              </a:rPr>
              <a:t>una</a:t>
            </a:r>
            <a:r>
              <a:rPr sz="1800" b="0" i="1" dirty="0">
                <a:solidFill>
                  <a:srgbClr val="C8D0E0"/>
                </a:solidFill>
              </a:rPr>
              <a:t> app web </a:t>
            </a:r>
            <a:r>
              <a:rPr lang="es-ES" sz="1800" b="0" i="1" dirty="0">
                <a:solidFill>
                  <a:srgbClr val="C8D0E0"/>
                </a:solidFill>
              </a:rPr>
              <a:t>la </a:t>
            </a:r>
            <a:r>
              <a:rPr sz="1800" b="0" i="1" dirty="0">
                <a:solidFill>
                  <a:srgbClr val="C8D0E0"/>
                </a:solidFill>
              </a:rPr>
              <a:t>para </a:t>
            </a:r>
            <a:r>
              <a:rPr sz="1800" b="0" i="1" dirty="0" err="1">
                <a:solidFill>
                  <a:srgbClr val="C8D0E0"/>
                </a:solidFill>
              </a:rPr>
              <a:t>gestión</a:t>
            </a:r>
            <a:r>
              <a:rPr sz="1800" b="0" i="1" dirty="0">
                <a:solidFill>
                  <a:srgbClr val="C8D0E0"/>
                </a:solidFill>
              </a:rPr>
              <a:t> y </a:t>
            </a:r>
            <a:r>
              <a:rPr sz="1800" b="0" i="1" dirty="0" err="1">
                <a:solidFill>
                  <a:srgbClr val="C8D0E0"/>
                </a:solidFill>
              </a:rPr>
              <a:t>valoración</a:t>
            </a:r>
            <a:r>
              <a:rPr sz="1800" b="0" i="1" dirty="0">
                <a:solidFill>
                  <a:srgbClr val="C8D0E0"/>
                </a:solidFill>
              </a:rPr>
              <a:t> de </a:t>
            </a:r>
            <a:r>
              <a:rPr sz="1800" b="0" i="1" dirty="0" err="1">
                <a:solidFill>
                  <a:srgbClr val="C8D0E0"/>
                </a:solidFill>
              </a:rPr>
              <a:t>contenido</a:t>
            </a:r>
            <a:r>
              <a:rPr sz="1800" b="0" i="1" dirty="0">
                <a:solidFill>
                  <a:srgbClr val="C8D0E0"/>
                </a:solidFill>
              </a:rPr>
              <a:t> audiovisual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Subobjetivos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Analizar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plataformas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existentes</a:t>
            </a:r>
            <a:r>
              <a:rPr sz="1500" b="0" i="0" dirty="0">
                <a:solidFill>
                  <a:srgbClr val="C8D0E0"/>
                </a:solidFill>
              </a:rPr>
              <a:t> y </a:t>
            </a:r>
            <a:r>
              <a:rPr sz="1500" b="0" i="0" dirty="0" err="1">
                <a:solidFill>
                  <a:srgbClr val="C8D0E0"/>
                </a:solidFill>
              </a:rPr>
              <a:t>limitaciones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449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Seleccionar</a:t>
            </a:r>
            <a:r>
              <a:rPr sz="1500" b="0" i="0" dirty="0">
                <a:solidFill>
                  <a:srgbClr val="C8D0E0"/>
                </a:solidFill>
              </a:rPr>
              <a:t> e </a:t>
            </a:r>
            <a:r>
              <a:rPr sz="1500" b="0" i="0" dirty="0" err="1">
                <a:solidFill>
                  <a:srgbClr val="C8D0E0"/>
                </a:solidFill>
              </a:rPr>
              <a:t>integrar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tecnologías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modernas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602736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941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Diseñar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arquitectura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escalable</a:t>
            </a:r>
            <a:r>
              <a:rPr sz="1500" b="0" i="0" dirty="0">
                <a:solidFill>
                  <a:srgbClr val="C8D0E0"/>
                </a:solidFill>
              </a:rPr>
              <a:t> y modular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Implementar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prototipo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funcional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completo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4901183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01183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99262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Desplegar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en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entorno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contenerizado</a:t>
            </a:r>
            <a:r>
              <a:rPr sz="1500" b="0" i="0" dirty="0">
                <a:solidFill>
                  <a:srgbClr val="C8D0E0"/>
                </a:solidFill>
              </a:rPr>
              <a:t> con CI/CD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50408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50408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6418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C8D0E0"/>
                </a:solidFill>
              </a:rPr>
              <a:t>Validar </a:t>
            </a:r>
            <a:r>
              <a:rPr sz="1500" b="0" i="0" dirty="0" err="1">
                <a:solidFill>
                  <a:srgbClr val="C8D0E0"/>
                </a:solidFill>
              </a:rPr>
              <a:t>mediante</a:t>
            </a:r>
            <a:r>
              <a:rPr sz="1500" b="0" i="0" dirty="0">
                <a:solidFill>
                  <a:srgbClr val="C8D0E0"/>
                </a:solidFill>
              </a:rPr>
              <a:t> 340 tests </a:t>
            </a:r>
            <a:r>
              <a:rPr sz="1500" b="0" i="0" dirty="0" err="1">
                <a:solidFill>
                  <a:srgbClr val="C8D0E0"/>
                </a:solidFill>
              </a:rPr>
              <a:t>automatizados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Metodología iterativa e incremental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30428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230428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36829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Análisis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706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Requisitos y tecnologías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12724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312724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4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1912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529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BD, API, mockups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95020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395020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11480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0142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352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Back-end + Front-end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7316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477316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93776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83717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1755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JUnit + CI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59612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559612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576072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66013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Documentación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9984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Memoria y despliegue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Diseño —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0E0"/>
                </a:solidFill>
              </a:rPr>
              <a:t>Monolito modular · API RESTful · JWT stateless · Caché bajo demanda</a:t>
            </a:r>
          </a:p>
        </p:txBody>
      </p:sp>
      <p:pic>
        <p:nvPicPr>
          <p:cNvPr id="9" name="Picture 8" descr="arquitectur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715" y="1728249"/>
            <a:ext cx="6739393" cy="43981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Diseño — 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>
                <a:solidFill>
                  <a:srgbClr val="C8D0E0"/>
                </a:solidFill>
              </a:rPr>
              <a:t>8 </a:t>
            </a:r>
            <a:r>
              <a:rPr sz="1800" b="0" i="1" dirty="0" err="1">
                <a:solidFill>
                  <a:srgbClr val="C8D0E0"/>
                </a:solidFill>
              </a:rPr>
              <a:t>entidades</a:t>
            </a:r>
            <a:r>
              <a:rPr sz="1800" b="0" i="1" dirty="0">
                <a:solidFill>
                  <a:srgbClr val="C8D0E0"/>
                </a:solidFill>
              </a:rPr>
              <a:t> </a:t>
            </a:r>
            <a:r>
              <a:rPr sz="1800" b="0" i="1" dirty="0" err="1">
                <a:solidFill>
                  <a:srgbClr val="C8D0E0"/>
                </a:solidFill>
              </a:rPr>
              <a:t>principales</a:t>
            </a:r>
            <a:r>
              <a:rPr sz="1800" b="0" i="1" dirty="0">
                <a:solidFill>
                  <a:srgbClr val="C8D0E0"/>
                </a:solidFill>
              </a:rPr>
              <a:t> · </a:t>
            </a:r>
            <a:r>
              <a:rPr sz="1800" b="0" i="1" dirty="0" err="1">
                <a:solidFill>
                  <a:srgbClr val="C8D0E0"/>
                </a:solidFill>
              </a:rPr>
              <a:t>relaciones</a:t>
            </a:r>
            <a:r>
              <a:rPr sz="1800" b="0" i="1" dirty="0">
                <a:solidFill>
                  <a:srgbClr val="C8D0E0"/>
                </a:solidFill>
              </a:rPr>
              <a:t> </a:t>
            </a:r>
            <a:r>
              <a:rPr sz="1800" b="0" i="1" dirty="0" err="1">
                <a:solidFill>
                  <a:srgbClr val="C8D0E0"/>
                </a:solidFill>
              </a:rPr>
              <a:t>complejas</a:t>
            </a:r>
            <a:r>
              <a:rPr sz="1800" b="0" i="1" dirty="0">
                <a:solidFill>
                  <a:srgbClr val="C8D0E0"/>
                </a:solidFill>
              </a:rPr>
              <a:t> entre </a:t>
            </a:r>
            <a:r>
              <a:rPr sz="1800" b="0" i="1" dirty="0" err="1">
                <a:solidFill>
                  <a:srgbClr val="C8D0E0"/>
                </a:solidFill>
              </a:rPr>
              <a:t>usuarios</a:t>
            </a:r>
            <a:r>
              <a:rPr sz="1800" b="0" i="1" dirty="0">
                <a:solidFill>
                  <a:srgbClr val="C8D0E0"/>
                </a:solidFill>
              </a:rPr>
              <a:t>, </a:t>
            </a:r>
            <a:r>
              <a:rPr sz="1800" b="0" i="1" dirty="0" err="1">
                <a:solidFill>
                  <a:srgbClr val="C8D0E0"/>
                </a:solidFill>
              </a:rPr>
              <a:t>contenido</a:t>
            </a:r>
            <a:r>
              <a:rPr sz="1800" b="0" i="1" dirty="0">
                <a:solidFill>
                  <a:srgbClr val="C8D0E0"/>
                </a:solidFill>
              </a:rPr>
              <a:t> e </a:t>
            </a:r>
            <a:r>
              <a:rPr sz="1800" b="0" i="1" dirty="0" err="1">
                <a:solidFill>
                  <a:srgbClr val="C8D0E0"/>
                </a:solidFill>
              </a:rPr>
              <a:t>interacciones</a:t>
            </a:r>
            <a:r>
              <a:rPr sz="1800" b="0" i="1" dirty="0">
                <a:solidFill>
                  <a:srgbClr val="C8D0E0"/>
                </a:solidFill>
              </a:rPr>
              <a:t> </a:t>
            </a:r>
            <a:r>
              <a:rPr sz="1800" b="0" i="1" dirty="0" err="1">
                <a:solidFill>
                  <a:srgbClr val="C8D0E0"/>
                </a:solidFill>
              </a:rPr>
              <a:t>sociales</a:t>
            </a:r>
            <a:endParaRPr sz="1800" b="0" i="1" dirty="0">
              <a:solidFill>
                <a:srgbClr val="C8D0E0"/>
              </a:solidFill>
            </a:endParaRPr>
          </a:p>
        </p:txBody>
      </p:sp>
      <p:pic>
        <p:nvPicPr>
          <p:cNvPr id="9" name="Picture 8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064" y="1625777"/>
            <a:ext cx="5046696" cy="46557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Implementación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208" y="1078992"/>
            <a:ext cx="1600200" cy="960120"/>
          </a:xfrm>
          <a:prstGeom prst="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1648" y="1282053"/>
            <a:ext cx="14173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HTTP
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7839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03016" y="1078992"/>
            <a:ext cx="1600200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4456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0D121F"/>
                </a:solidFill>
              </a:rPr>
              <a:t>JWT Filter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0648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5824" y="1078992"/>
            <a:ext cx="1600200" cy="96012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7263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3456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8631" y="1078992"/>
            <a:ext cx="1600200" cy="9601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0071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6263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1439" y="1078992"/>
            <a:ext cx="1600200" cy="960120"/>
          </a:xfrm>
          <a:prstGeom prst="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2879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9071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74248" y="1078992"/>
            <a:ext cx="1600200" cy="9601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65688" y="1282053"/>
            <a:ext cx="14173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PostgreSQL</a:t>
            </a:r>
            <a:endParaRPr lang="es-ES" sz="1500" b="1" i="0" dirty="0">
              <a:solidFill>
                <a:srgbClr val="FFFFFF"/>
              </a:solidFill>
            </a:endParaRPr>
          </a:p>
          <a:p>
            <a:pPr algn="ctr"/>
            <a:r>
              <a:rPr lang="es-ES" sz="1500" b="1" dirty="0">
                <a:solidFill>
                  <a:srgbClr val="FFFFFF"/>
                </a:solidFill>
              </a:rPr>
              <a:t>DB</a:t>
            </a:r>
            <a:endParaRPr lang="es-ES" sz="15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22128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</a:rPr>
              <a:t>Decisiones clave de implementación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97480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277063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</a:rPr>
              <a:t>Controladores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ligeros</a:t>
            </a:r>
            <a:r>
              <a:rPr sz="1500" b="1" i="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78892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Sin lógica de negocio; solo validación y delegación al servicio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47288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44728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5204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DTOs en todas las capas: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53872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Entidades JPA nunca expuestas directamente al cliente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19709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2702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Autenticación stateless: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28853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JWT firmado; sin sesiones en servidor; control por roles USER/ADMIN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46904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946904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02005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Lazy loading JPA: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03834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Carga diferida en relaciones; evita recuperaciones innecesarias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696712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5696712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7698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Caché bajo demanda TMDB: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78815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Sincronización solo cuando hay interacción real + TTL configurable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Implementación —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SPA modular (feature-based) · React 19 + TypeScript</a:t>
            </a:r>
          </a:p>
        </p:txBody>
      </p:sp>
      <p:pic>
        <p:nvPicPr>
          <p:cNvPr id="9" name="Picture 8" descr="home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019630"/>
            <a:ext cx="6225197" cy="30150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324459"/>
            <a:ext cx="6225196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352001"/>
            <a:ext cx="62251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Página de </a:t>
            </a:r>
            <a:r>
              <a:rPr sz="1300" b="0" i="1" dirty="0" err="1">
                <a:solidFill>
                  <a:srgbClr val="7A8AA8"/>
                </a:solidFill>
              </a:rPr>
              <a:t>inicio</a:t>
            </a:r>
            <a:r>
              <a:rPr sz="1300" b="0" i="1" dirty="0">
                <a:solidFill>
                  <a:srgbClr val="7A8AA8"/>
                </a:solidFill>
              </a:rPr>
              <a:t> de MovieMate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3286" y="1831182"/>
            <a:ext cx="4438154" cy="16916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83286" y="1831182"/>
            <a:ext cx="4438154" cy="384048"/>
          </a:xfrm>
          <a:prstGeom prst="rect">
            <a:avLst/>
          </a:prstGeom>
          <a:solidFill>
            <a:srgbClr val="5A2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3286" y="1849470"/>
            <a:ext cx="452959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</a:rPr>
              <a:t>Zustand</a:t>
            </a:r>
            <a:r>
              <a:rPr sz="1500" b="1" i="0" dirty="0">
                <a:solidFill>
                  <a:srgbClr val="FFFFFF"/>
                </a:solidFill>
              </a:rPr>
              <a:t> — Estado </a:t>
            </a:r>
            <a:r>
              <a:rPr sz="1500" b="1" i="0" dirty="0" err="1">
                <a:solidFill>
                  <a:srgbClr val="FFFFFF"/>
                </a:solidFill>
              </a:rPr>
              <a:t>sincrónico</a:t>
            </a:r>
            <a:r>
              <a:rPr sz="1500" b="1" i="0" dirty="0">
                <a:solidFill>
                  <a:srgbClr val="FFFFFF"/>
                </a:solidFill>
              </a:rPr>
              <a:t>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3286" y="2288382"/>
            <a:ext cx="45295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· Usuario autenticado + JWT
· Reactivo y ligero (sin boilerplate)
· Persistido en localStorage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3286" y="3659982"/>
            <a:ext cx="4438154" cy="2084835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3286" y="3659982"/>
            <a:ext cx="4438154" cy="384048"/>
          </a:xfrm>
          <a:prstGeom prst="rect">
            <a:avLst/>
          </a:prstGeom>
          <a:solidFill>
            <a:srgbClr val="0E6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3286" y="3678270"/>
            <a:ext cx="452959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</a:rPr>
              <a:t>TanStack</a:t>
            </a:r>
            <a:r>
              <a:rPr sz="1500" b="1" i="0" dirty="0">
                <a:solidFill>
                  <a:srgbClr val="FFFFFF"/>
                </a:solidFill>
              </a:rPr>
              <a:t> Query v5 — Estado </a:t>
            </a:r>
            <a:r>
              <a:rPr sz="1500" b="1" i="0" dirty="0" err="1">
                <a:solidFill>
                  <a:srgbClr val="FFFFFF"/>
                </a:solidFill>
              </a:rPr>
              <a:t>asíncrono</a:t>
            </a:r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3286" y="4117182"/>
            <a:ext cx="45295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C8D0E0"/>
                </a:solidFill>
              </a:rPr>
              <a:t>· Caché </a:t>
            </a:r>
            <a:r>
              <a:rPr sz="1400" b="0" i="0" dirty="0" err="1">
                <a:solidFill>
                  <a:srgbClr val="C8D0E0"/>
                </a:solidFill>
              </a:rPr>
              <a:t>por</a:t>
            </a:r>
            <a:r>
              <a:rPr sz="1400" b="0" i="0" dirty="0">
                <a:solidFill>
                  <a:srgbClr val="C8D0E0"/>
                </a:solidFill>
              </a:rPr>
              <a:t> claves </a:t>
            </a:r>
            <a:r>
              <a:rPr sz="1400" b="0" i="0" dirty="0" err="1">
                <a:solidFill>
                  <a:srgbClr val="C8D0E0"/>
                </a:solidFill>
              </a:rPr>
              <a:t>estructuradas</a:t>
            </a:r>
            <a:r>
              <a:rPr sz="1400" b="0" i="0" dirty="0">
                <a:solidFill>
                  <a:srgbClr val="C8D0E0"/>
                </a:solidFill>
              </a:rPr>
              <a:t>
· </a:t>
            </a:r>
            <a:r>
              <a:rPr sz="1400" b="0" i="0" dirty="0" err="1">
                <a:solidFill>
                  <a:srgbClr val="C8D0E0"/>
                </a:solidFill>
              </a:rPr>
              <a:t>Revalidación</a:t>
            </a:r>
            <a:r>
              <a:rPr sz="1400" b="0" i="0" dirty="0">
                <a:solidFill>
                  <a:srgbClr val="C8D0E0"/>
                </a:solidFill>
              </a:rPr>
              <a:t> </a:t>
            </a:r>
            <a:r>
              <a:rPr sz="1400" b="0" i="0" dirty="0" err="1">
                <a:solidFill>
                  <a:srgbClr val="C8D0E0"/>
                </a:solidFill>
              </a:rPr>
              <a:t>automática</a:t>
            </a:r>
            <a:r>
              <a:rPr sz="1400" b="0" i="0" dirty="0">
                <a:solidFill>
                  <a:srgbClr val="C8D0E0"/>
                </a:solidFill>
              </a:rPr>
              <a:t> (stale/</a:t>
            </a:r>
            <a:r>
              <a:rPr sz="1400" b="0" i="0" dirty="0" err="1">
                <a:solidFill>
                  <a:srgbClr val="C8D0E0"/>
                </a:solidFill>
              </a:rPr>
              <a:t>refetch</a:t>
            </a:r>
            <a:r>
              <a:rPr sz="1400" b="0" i="0" dirty="0">
                <a:solidFill>
                  <a:srgbClr val="C8D0E0"/>
                </a:solidFill>
              </a:rPr>
              <a:t>)
· </a:t>
            </a:r>
            <a:r>
              <a:rPr sz="1400" b="0" i="0" dirty="0" err="1">
                <a:solidFill>
                  <a:srgbClr val="C8D0E0"/>
                </a:solidFill>
              </a:rPr>
              <a:t>Mutaciones</a:t>
            </a:r>
            <a:r>
              <a:rPr sz="1400" b="0" i="0" dirty="0">
                <a:solidFill>
                  <a:srgbClr val="C8D0E0"/>
                </a:solidFill>
              </a:rPr>
              <a:t> con </a:t>
            </a:r>
            <a:r>
              <a:rPr sz="1400" b="0" i="0" dirty="0" err="1">
                <a:solidFill>
                  <a:srgbClr val="C8D0E0"/>
                </a:solidFill>
              </a:rPr>
              <a:t>invalidación</a:t>
            </a:r>
            <a:r>
              <a:rPr sz="1400" b="0" i="0" dirty="0">
                <a:solidFill>
                  <a:srgbClr val="C8D0E0"/>
                </a:solidFill>
              </a:rPr>
              <a:t> </a:t>
            </a:r>
            <a:r>
              <a:rPr sz="1400" b="0" i="0" dirty="0" err="1">
                <a:solidFill>
                  <a:srgbClr val="C8D0E0"/>
                </a:solidFill>
              </a:rPr>
              <a:t>selectiva</a:t>
            </a:r>
            <a:r>
              <a:rPr sz="1400" b="0" i="0" dirty="0">
                <a:solidFill>
                  <a:srgbClr val="C8D0E0"/>
                </a:solidFill>
              </a:rPr>
              <a:t>
· Reduce </a:t>
            </a:r>
            <a:r>
              <a:rPr sz="1400" b="0" i="0" dirty="0" err="1">
                <a:solidFill>
                  <a:srgbClr val="C8D0E0"/>
                </a:solidFill>
              </a:rPr>
              <a:t>peticiones</a:t>
            </a:r>
            <a:r>
              <a:rPr sz="1400" b="0" i="0" dirty="0">
                <a:solidFill>
                  <a:srgbClr val="C8D0E0"/>
                </a:solidFill>
              </a:rPr>
              <a:t> </a:t>
            </a:r>
            <a:r>
              <a:rPr sz="1400" b="0" i="0" dirty="0" err="1">
                <a:solidFill>
                  <a:srgbClr val="C8D0E0"/>
                </a:solidFill>
              </a:rPr>
              <a:t>redundantes</a:t>
            </a:r>
            <a:r>
              <a:rPr sz="1400" b="0" i="0" dirty="0">
                <a:solidFill>
                  <a:srgbClr val="C8D0E0"/>
                </a:solidFill>
              </a:rPr>
              <a:t> al </a:t>
            </a:r>
            <a:r>
              <a:rPr sz="1400" b="0" i="0" dirty="0" err="1">
                <a:solidFill>
                  <a:srgbClr val="C8D0E0"/>
                </a:solidFill>
              </a:rPr>
              <a:t>servidor</a:t>
            </a:r>
            <a:endParaRPr sz="1400" b="0" i="0" dirty="0">
              <a:solidFill>
                <a:srgbClr val="C8D0E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— Ficha de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C518"/>
                </a:solidFill>
              </a:rPr>
              <a:t>La </a:t>
            </a:r>
            <a:r>
              <a:rPr sz="2000" b="1" i="0" dirty="0" err="1">
                <a:solidFill>
                  <a:srgbClr val="F5C518"/>
                </a:solidFill>
              </a:rPr>
              <a:t>página</a:t>
            </a:r>
            <a:r>
              <a:rPr sz="2000" b="1" i="0" dirty="0">
                <a:solidFill>
                  <a:srgbClr val="F5C518"/>
                </a:solidFill>
              </a:rPr>
              <a:t> </a:t>
            </a:r>
            <a:r>
              <a:rPr sz="2000" b="1" i="0" dirty="0" err="1">
                <a:solidFill>
                  <a:srgbClr val="F5C518"/>
                </a:solidFill>
              </a:rPr>
              <a:t>más</a:t>
            </a:r>
            <a:r>
              <a:rPr sz="2000" b="1" i="0" dirty="0">
                <a:solidFill>
                  <a:srgbClr val="F5C518"/>
                </a:solidFill>
              </a:rPr>
              <a:t> </a:t>
            </a:r>
            <a:r>
              <a:rPr sz="2000" b="1" i="0" dirty="0" err="1">
                <a:solidFill>
                  <a:srgbClr val="F5C518"/>
                </a:solidFill>
              </a:rPr>
              <a:t>compleja</a:t>
            </a:r>
            <a:r>
              <a:rPr sz="2000" b="1" i="0" dirty="0">
                <a:solidFill>
                  <a:srgbClr val="F5C518"/>
                </a:solidFill>
              </a:rPr>
              <a:t> de la </a:t>
            </a:r>
            <a:r>
              <a:rPr sz="2000" b="1" i="0" dirty="0" err="1">
                <a:solidFill>
                  <a:srgbClr val="F5C518"/>
                </a:solidFill>
              </a:rPr>
              <a:t>aplicación</a:t>
            </a:r>
            <a:endParaRPr sz="2000" b="1" i="0" dirty="0">
              <a:solidFill>
                <a:srgbClr val="F5C518"/>
              </a:solidFill>
            </a:endParaRPr>
          </a:p>
        </p:txBody>
      </p:sp>
      <p:pic>
        <p:nvPicPr>
          <p:cNvPr id="9" name="Picture 8" descr="content_detai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1843"/>
            <a:ext cx="7040880" cy="3386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632703"/>
            <a:ext cx="70408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669279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Ficha</a:t>
            </a:r>
            <a:r>
              <a:rPr sz="1300" b="0" i="1" dirty="0">
                <a:solidFill>
                  <a:srgbClr val="7A8AA8"/>
                </a:solidFill>
              </a:rPr>
              <a:t> de </a:t>
            </a:r>
            <a:r>
              <a:rPr sz="1300" b="0" i="1" dirty="0" err="1">
                <a:solidFill>
                  <a:srgbClr val="7A8AA8"/>
                </a:solidFill>
              </a:rPr>
              <a:t>detalle</a:t>
            </a:r>
            <a:r>
              <a:rPr sz="1300" b="0" i="1" dirty="0">
                <a:solidFill>
                  <a:srgbClr val="7A8AA8"/>
                </a:solidFill>
              </a:rPr>
              <a:t> con </a:t>
            </a:r>
            <a:r>
              <a:rPr sz="1300" b="0" i="1" dirty="0" err="1">
                <a:solidFill>
                  <a:srgbClr val="7A8AA8"/>
                </a:solidFill>
              </a:rPr>
              <a:t>valoración</a:t>
            </a:r>
            <a:r>
              <a:rPr sz="1300" b="0" i="1" dirty="0">
                <a:solidFill>
                  <a:srgbClr val="7A8AA8"/>
                </a:solidFill>
              </a:rPr>
              <a:t>, </a:t>
            </a:r>
            <a:r>
              <a:rPr sz="1300" b="0" i="1" dirty="0" err="1">
                <a:solidFill>
                  <a:srgbClr val="7A8AA8"/>
                </a:solidFill>
              </a:rPr>
              <a:t>reparto</a:t>
            </a:r>
            <a:r>
              <a:rPr sz="1300" b="0" i="1" dirty="0">
                <a:solidFill>
                  <a:srgbClr val="7A8AA8"/>
                </a:solidFill>
              </a:rPr>
              <a:t> y </a:t>
            </a:r>
            <a:r>
              <a:rPr lang="es-ES" sz="1300" b="0" i="1" dirty="0">
                <a:solidFill>
                  <a:srgbClr val="7A8AA8"/>
                </a:solidFill>
              </a:rPr>
              <a:t>seguimiento</a:t>
            </a:r>
            <a:r>
              <a:rPr sz="1300" b="0" i="1" dirty="0">
                <a:solidFill>
                  <a:srgbClr val="7A8AA8"/>
                </a:solidFill>
              </a:rPr>
              <a:t> de </a:t>
            </a:r>
            <a:r>
              <a:rPr sz="1300" b="0" i="1" dirty="0" err="1">
                <a:solidFill>
                  <a:srgbClr val="7A8AA8"/>
                </a:solidFill>
              </a:rPr>
              <a:t>episodios</a:t>
            </a:r>
            <a:endParaRPr sz="1300" b="0" i="1" dirty="0">
              <a:solidFill>
                <a:srgbClr val="7A8AA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1572768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57276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168249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Poster + Backdrop + Metadatos completos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322576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232257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24323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Widget valoración ⭐×5 (crear y editar)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072384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3072384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318211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Añadir a lista personalizada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3822191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3822191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393192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Tracking de episodios (series)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572000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457200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Valoraciones de la comunidad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5321807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5321807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543153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Recomendaciones «Para Ti»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— Perfil y red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13</a:t>
            </a:r>
          </a:p>
        </p:txBody>
      </p:sp>
      <p:pic>
        <p:nvPicPr>
          <p:cNvPr id="8" name="Picture 7" descr="profile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6" y="1852449"/>
            <a:ext cx="6758183" cy="3256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37" y="5446086"/>
            <a:ext cx="6758183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48639" y="5501170"/>
            <a:ext cx="67581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Perfil</a:t>
            </a:r>
            <a:r>
              <a:rPr sz="1300" b="0" i="1" dirty="0">
                <a:solidFill>
                  <a:srgbClr val="7A8AA8"/>
                </a:solidFill>
              </a:rPr>
              <a:t>: </a:t>
            </a:r>
            <a:r>
              <a:rPr sz="1300" b="0" i="1" dirty="0" err="1">
                <a:solidFill>
                  <a:srgbClr val="7A8AA8"/>
                </a:solidFill>
              </a:rPr>
              <a:t>actividad</a:t>
            </a:r>
            <a:r>
              <a:rPr sz="1300" b="0" i="1" dirty="0">
                <a:solidFill>
                  <a:srgbClr val="7A8AA8"/>
                </a:solidFill>
              </a:rPr>
              <a:t> · </a:t>
            </a:r>
            <a:r>
              <a:rPr sz="1300" b="0" i="1" dirty="0" err="1">
                <a:solidFill>
                  <a:srgbClr val="7A8AA8"/>
                </a:solidFill>
              </a:rPr>
              <a:t>listas</a:t>
            </a:r>
            <a:r>
              <a:rPr sz="1300" b="0" i="1" dirty="0">
                <a:solidFill>
                  <a:srgbClr val="7A8AA8"/>
                </a:solidFill>
              </a:rPr>
              <a:t> · </a:t>
            </a:r>
            <a:r>
              <a:rPr sz="1300" b="0" i="1" dirty="0" err="1">
                <a:solidFill>
                  <a:srgbClr val="7A8AA8"/>
                </a:solidFill>
              </a:rPr>
              <a:t>estadísticas</a:t>
            </a:r>
            <a:r>
              <a:rPr sz="1300" b="0" i="1" dirty="0">
                <a:solidFill>
                  <a:srgbClr val="7A8AA8"/>
                </a:solidFill>
              </a:rPr>
              <a:t> · insignias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5554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Red 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5554" y="1554480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75554" y="1554480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8434" y="1645920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Seguir usuarios (solicitud si perfil privado)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5554" y="2157984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75554" y="2157984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8434" y="2249424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Feed de actividad de seguidos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5554" y="2761488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75554" y="2761488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58434" y="2852928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Likes y comentarios en valoraciones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5554" y="3364991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75554" y="3364991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8434" y="3456432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Comentarios en listas públicas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5554" y="3968496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75554" y="3968496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58434" y="4059936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Reporte de contenido inapropiado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5554" y="4691135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F5C518"/>
                </a:solidFill>
              </a:rPr>
              <a:t>Notificaciones</a:t>
            </a:r>
            <a:r>
              <a:rPr sz="1800" b="1" i="0" dirty="0">
                <a:solidFill>
                  <a:srgbClr val="F5C518"/>
                </a:solidFill>
              </a:rPr>
              <a:t> </a:t>
            </a:r>
            <a:r>
              <a:rPr sz="1800" b="1" i="0" dirty="0" err="1">
                <a:solidFill>
                  <a:srgbClr val="F5C518"/>
                </a:solidFill>
              </a:rPr>
              <a:t>en</a:t>
            </a:r>
            <a:r>
              <a:rPr sz="1800" b="1" i="0" dirty="0">
                <a:solidFill>
                  <a:srgbClr val="F5C518"/>
                </a:solidFill>
              </a:rPr>
              <a:t> </a:t>
            </a:r>
            <a:r>
              <a:rPr sz="1800" b="1" i="0" dirty="0" err="1">
                <a:solidFill>
                  <a:srgbClr val="F5C518"/>
                </a:solidFill>
              </a:rPr>
              <a:t>tiempo</a:t>
            </a:r>
            <a:r>
              <a:rPr sz="1800" b="1" i="0" dirty="0">
                <a:solidFill>
                  <a:srgbClr val="F5C518"/>
                </a:solidFill>
              </a:rPr>
              <a:t> real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5554" y="5144554"/>
            <a:ext cx="4016734" cy="144839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75554" y="5135410"/>
            <a:ext cx="4016734" cy="365760"/>
          </a:xfrm>
          <a:prstGeom prst="rect">
            <a:avLst/>
          </a:prstGeom>
          <a:solidFill>
            <a:srgbClr val="1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66994" y="516284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E7"/>
                </a:solidFill>
              </a:rPr>
              <a:t>WebSockets (STOMP + SockJS)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6994" y="5583466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· Notificación push sin polling
· Eventos: follow · like · comentario
· Badge en navbar actualizado al instante
· Gamificación: insignias automáticas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Interfaz — Sistema de diseño y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14</a:t>
            </a:r>
          </a:p>
        </p:txBody>
      </p:sp>
      <p:pic>
        <p:nvPicPr>
          <p:cNvPr id="8" name="Picture 7" descr="discover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833" y="1152906"/>
            <a:ext cx="6035040" cy="29127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96833" y="4221879"/>
            <a:ext cx="60350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8273" y="4258455"/>
            <a:ext cx="58521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Página de </a:t>
            </a:r>
            <a:r>
              <a:rPr sz="1300" b="0" i="1" dirty="0" err="1">
                <a:solidFill>
                  <a:srgbClr val="7A8AA8"/>
                </a:solidFill>
              </a:rPr>
              <a:t>descubrimiento</a:t>
            </a:r>
            <a:r>
              <a:rPr sz="1300" b="0" i="1" dirty="0">
                <a:solidFill>
                  <a:srgbClr val="7A8AA8"/>
                </a:solidFill>
              </a:rPr>
              <a:t> — Desktop (sidebar </a:t>
            </a:r>
            <a:r>
              <a:rPr sz="1300" b="0" i="1" dirty="0" err="1">
                <a:solidFill>
                  <a:srgbClr val="7A8AA8"/>
                </a:solidFill>
              </a:rPr>
              <a:t>fija</a:t>
            </a:r>
            <a:r>
              <a:rPr sz="1300" b="0" i="1" dirty="0">
                <a:solidFill>
                  <a:srgbClr val="7A8AA8"/>
                </a:solidFill>
              </a:rPr>
              <a:t> + grid </a:t>
            </a:r>
            <a:r>
              <a:rPr sz="1300" b="0" i="1" dirty="0" err="1">
                <a:solidFill>
                  <a:srgbClr val="7A8AA8"/>
                </a:solidFill>
              </a:rPr>
              <a:t>fluido</a:t>
            </a:r>
            <a:r>
              <a:rPr sz="1300" b="0" i="1" dirty="0">
                <a:solidFill>
                  <a:srgbClr val="7A8AA8"/>
                </a:solidFill>
              </a:rPr>
              <a:t>)</a:t>
            </a:r>
          </a:p>
        </p:txBody>
      </p:sp>
      <p:pic>
        <p:nvPicPr>
          <p:cNvPr id="11" name="Picture 10" descr="responsive_ipa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517" y="1571496"/>
            <a:ext cx="2348683" cy="33817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14517" y="1116430"/>
            <a:ext cx="2348684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7068" y="1143522"/>
            <a:ext cx="1843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iPad Air + iPhone 12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358" y="4872029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C518"/>
                </a:solidFill>
              </a:rPr>
              <a:t>Sistema de </a:t>
            </a:r>
            <a:r>
              <a:rPr sz="1600" b="1" i="0" dirty="0" err="1">
                <a:solidFill>
                  <a:srgbClr val="F5C518"/>
                </a:solidFill>
              </a:rPr>
              <a:t>diseño</a:t>
            </a:r>
            <a:endParaRPr sz="1600" b="1" i="0" dirty="0">
              <a:solidFill>
                <a:srgbClr val="F5C51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27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958" y="54206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5C518"/>
                </a:solidFill>
              </a:rPr>
              <a:t>Fondo: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78" y="542066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#0D121F navy → charcoal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59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3158" y="5420669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Acento: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3278" y="542066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8D0E0"/>
                </a:solidFill>
              </a:rPr>
              <a:t>#F5C518 dorado (UI </a:t>
            </a:r>
            <a:r>
              <a:rPr sz="1200" b="0" i="0" dirty="0" err="1">
                <a:solidFill>
                  <a:srgbClr val="C8D0E0"/>
                </a:solidFill>
              </a:rPr>
              <a:t>interactiva</a:t>
            </a:r>
            <a:r>
              <a:rPr sz="1200" b="0" i="0" dirty="0">
                <a:solidFill>
                  <a:srgbClr val="C8D0E0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91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6358" y="5420669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Títulos: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6478" y="542066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Playfair Display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23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9558" y="5420669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Cuerpo: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9678" y="542066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DM Sans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5998" y="6013835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65998" y="6077844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5C518"/>
                </a:solidFill>
              </a:rPr>
              <a:t>Componentes</a:t>
            </a:r>
            <a:r>
              <a:rPr sz="1300" b="1" i="0" dirty="0">
                <a:solidFill>
                  <a:srgbClr val="F5C518"/>
                </a:solidFill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1878" y="60778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8D0E0"/>
                </a:solidFill>
              </a:rPr>
              <a:t>Radix UI + </a:t>
            </a:r>
            <a:r>
              <a:rPr sz="1200" b="0" i="0" dirty="0" err="1">
                <a:solidFill>
                  <a:srgbClr val="C8D0E0"/>
                </a:solidFill>
              </a:rPr>
              <a:t>shadcn</a:t>
            </a:r>
            <a:r>
              <a:rPr sz="1200" b="0" i="0" dirty="0">
                <a:solidFill>
                  <a:srgbClr val="C8D0E0"/>
                </a:solidFill>
              </a:rPr>
              <a:t>/</a:t>
            </a:r>
            <a:r>
              <a:rPr sz="1200" b="0" i="0" dirty="0" err="1">
                <a:solidFill>
                  <a:srgbClr val="C8D0E0"/>
                </a:solidFill>
              </a:rPr>
              <a:t>ui</a:t>
            </a:r>
            <a:endParaRPr sz="1200" b="0" i="0" dirty="0">
              <a:solidFill>
                <a:srgbClr val="C8D0E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09198" y="6013835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0639" y="6077843"/>
            <a:ext cx="1188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5C518"/>
                </a:solidFill>
              </a:rPr>
              <a:t>Accesibilidad</a:t>
            </a:r>
            <a:r>
              <a:rPr sz="1300" b="1" i="0" dirty="0">
                <a:solidFill>
                  <a:srgbClr val="F5C518"/>
                </a:solidFill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0752" y="6077843"/>
            <a:ext cx="1541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ARIA-compliant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Pruebas y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340 tests unitarios automatizados · JUnit 5 + Mockito · Cobertura JaCoCo</a:t>
            </a:r>
          </a:p>
        </p:txBody>
      </p:sp>
      <p:pic>
        <p:nvPicPr>
          <p:cNvPr id="9" name="Picture 8" descr="test_suit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7085"/>
            <a:ext cx="3840480" cy="4383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233094"/>
            <a:ext cx="38404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249306"/>
            <a:ext cx="3794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b="0" i="1" dirty="0">
                <a:solidFill>
                  <a:srgbClr val="7A8AA8"/>
                </a:solidFill>
              </a:rPr>
              <a:t>E</a:t>
            </a:r>
            <a:r>
              <a:rPr sz="1300" b="0" i="1" dirty="0" err="1">
                <a:solidFill>
                  <a:srgbClr val="7A8AA8"/>
                </a:solidFill>
              </a:rPr>
              <a:t>structura</a:t>
            </a:r>
            <a:r>
              <a:rPr sz="1300" b="0" i="1" dirty="0">
                <a:solidFill>
                  <a:srgbClr val="7A8AA8"/>
                </a:solidFill>
              </a:rPr>
              <a:t> de la suite de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72768"/>
            <a:ext cx="2286000" cy="1508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C518"/>
                </a:solidFill>
              </a:rPr>
              <a:t>340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33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0E0"/>
                </a:solidFill>
              </a:rPr>
              <a:t>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572768"/>
            <a:ext cx="4754880" cy="1508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1572768"/>
            <a:ext cx="47548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910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6E"/>
                </a:solidFill>
              </a:rPr>
              <a:t>Patrón Arrange-Act-Assert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29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Arrange: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029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Preparar mocks y datos de 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682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3682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Ejecutar la operación del servicio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066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Assert: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06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Verificar resultado e interacciones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246120"/>
            <a:ext cx="7269480" cy="272491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3310128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Cobertura por capa: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703320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Validación HTTP y mapeo de DTOs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4142231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4187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8795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Lógica de negocio — capa más crítica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4581144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4626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Repositories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2686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Consultas JPA personalizadas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5020056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37760" y="50657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065775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JWT, filtros y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5458968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0" y="5504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5046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Flujos end-to-end del back-end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Despliegue — Docker +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Pipeline de integración y entrega continua automatizado</a:t>
            </a:r>
          </a:p>
        </p:txBody>
      </p:sp>
      <p:pic>
        <p:nvPicPr>
          <p:cNvPr id="9" name="Picture 8" descr="ci_pipeline.png"/>
          <p:cNvPicPr>
            <a:picLocks noChangeAspect="1"/>
          </p:cNvPicPr>
          <p:nvPr/>
        </p:nvPicPr>
        <p:blipFill>
          <a:blip r:embed="rId3"/>
          <a:srcRect r="34955"/>
          <a:stretch>
            <a:fillRect/>
          </a:stretch>
        </p:blipFill>
        <p:spPr>
          <a:xfrm>
            <a:off x="575944" y="1563633"/>
            <a:ext cx="5333337" cy="39226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687788"/>
            <a:ext cx="5360641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1977" y="5742872"/>
            <a:ext cx="53012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Pipeline CI: tests · build JAR · build FE · verify Docker</a:t>
            </a:r>
          </a:p>
        </p:txBody>
      </p:sp>
      <p:pic>
        <p:nvPicPr>
          <p:cNvPr id="12" name="Picture 11" descr="cd_pipeline.png"/>
          <p:cNvPicPr>
            <a:picLocks noChangeAspect="1"/>
          </p:cNvPicPr>
          <p:nvPr/>
        </p:nvPicPr>
        <p:blipFill>
          <a:blip r:embed="rId4"/>
          <a:srcRect r="34955"/>
          <a:stretch>
            <a:fillRect/>
          </a:stretch>
        </p:blipFill>
        <p:spPr>
          <a:xfrm>
            <a:off x="6094412" y="1563632"/>
            <a:ext cx="5381033" cy="392267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4412" y="5687788"/>
            <a:ext cx="5381308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4412" y="5742872"/>
            <a:ext cx="54727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Pipeline CD: tests · build images → GHCR · deploy Kubernetes (</a:t>
            </a:r>
            <a:r>
              <a:rPr sz="1300" b="0" i="1" dirty="0" err="1">
                <a:solidFill>
                  <a:srgbClr val="7A8AA8"/>
                </a:solidFill>
              </a:rPr>
              <a:t>Minikube</a:t>
            </a:r>
            <a:r>
              <a:rPr sz="1300" b="0" i="1" dirty="0">
                <a:solidFill>
                  <a:srgbClr val="7A8AA8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C518"/>
                </a:solidFill>
              </a:rPr>
              <a:t>DEMO — MovieMate en funcionamiento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ome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657600" cy="17715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Inicio</a:t>
            </a:r>
            <a:r>
              <a:rPr sz="1300" b="0" i="1" dirty="0">
                <a:solidFill>
                  <a:srgbClr val="7A8AA8"/>
                </a:solidFill>
              </a:rPr>
              <a:t> — </a:t>
            </a:r>
            <a:r>
              <a:rPr sz="1300" b="0" i="1" dirty="0" err="1">
                <a:solidFill>
                  <a:srgbClr val="7A8AA8"/>
                </a:solidFill>
              </a:rPr>
              <a:t>tendencias</a:t>
            </a:r>
            <a:r>
              <a:rPr sz="1300" b="0" i="1" dirty="0">
                <a:solidFill>
                  <a:srgbClr val="7A8AA8"/>
                </a:solidFill>
              </a:rPr>
              <a:t> + </a:t>
            </a:r>
            <a:r>
              <a:rPr sz="1300" b="0" i="1" dirty="0" err="1">
                <a:solidFill>
                  <a:srgbClr val="7A8AA8"/>
                </a:solidFill>
              </a:rPr>
              <a:t>recomendaciones</a:t>
            </a:r>
            <a:endParaRPr sz="1300" b="0" i="1" dirty="0">
              <a:solidFill>
                <a:srgbClr val="7A8AA8"/>
              </a:solidFill>
            </a:endParaRPr>
          </a:p>
        </p:txBody>
      </p:sp>
      <p:pic>
        <p:nvPicPr>
          <p:cNvPr id="9" name="Picture 8" descr="discover_p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05840"/>
            <a:ext cx="3657600" cy="17653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9768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Descubrimiento</a:t>
            </a:r>
            <a:r>
              <a:rPr sz="1300" b="0" i="1" dirty="0">
                <a:solidFill>
                  <a:srgbClr val="7A8AA8"/>
                </a:solidFill>
              </a:rPr>
              <a:t> — </a:t>
            </a:r>
            <a:r>
              <a:rPr sz="1300" b="0" i="1" dirty="0" err="1">
                <a:solidFill>
                  <a:srgbClr val="7A8AA8"/>
                </a:solidFill>
              </a:rPr>
              <a:t>búsqueda</a:t>
            </a:r>
            <a:r>
              <a:rPr sz="1300" b="0" i="1" dirty="0">
                <a:solidFill>
                  <a:srgbClr val="7A8AA8"/>
                </a:solidFill>
              </a:rPr>
              <a:t> global</a:t>
            </a:r>
          </a:p>
        </p:txBody>
      </p:sp>
      <p:pic>
        <p:nvPicPr>
          <p:cNvPr id="12" name="Picture 11" descr="content_detail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005840"/>
            <a:ext cx="3657600" cy="175911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3816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Ficha</a:t>
            </a:r>
            <a:r>
              <a:rPr sz="1300" b="0" i="1" dirty="0">
                <a:solidFill>
                  <a:srgbClr val="7A8AA8"/>
                </a:solidFill>
              </a:rPr>
              <a:t> — </a:t>
            </a:r>
            <a:r>
              <a:rPr sz="1300" b="0" i="1" dirty="0" err="1">
                <a:solidFill>
                  <a:srgbClr val="7A8AA8"/>
                </a:solidFill>
              </a:rPr>
              <a:t>valoración</a:t>
            </a:r>
            <a:r>
              <a:rPr sz="1300" b="0" i="1" dirty="0">
                <a:solidFill>
                  <a:srgbClr val="7A8AA8"/>
                </a:solidFill>
              </a:rPr>
              <a:t> + tracking</a:t>
            </a:r>
          </a:p>
        </p:txBody>
      </p:sp>
      <p:pic>
        <p:nvPicPr>
          <p:cNvPr id="15" name="Picture 14" descr="profile_p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4760"/>
            <a:ext cx="3657600" cy="176221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A8AA8"/>
                </a:solidFill>
              </a:rPr>
              <a:t>Perfil — stats + insignias + listas</a:t>
            </a:r>
          </a:p>
        </p:txBody>
      </p:sp>
      <p:pic>
        <p:nvPicPr>
          <p:cNvPr id="18" name="Picture 17" descr="activity_p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794760"/>
            <a:ext cx="3657600" cy="17622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29768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635508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Actividad</a:t>
            </a:r>
            <a:r>
              <a:rPr sz="1300" b="0" i="1" dirty="0">
                <a:solidFill>
                  <a:srgbClr val="7A8AA8"/>
                </a:solidFill>
              </a:rPr>
              <a:t> — feed social</a:t>
            </a:r>
          </a:p>
        </p:txBody>
      </p:sp>
      <p:pic>
        <p:nvPicPr>
          <p:cNvPr id="21" name="Picture 20" descr="admin_pan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794760"/>
            <a:ext cx="3657600" cy="17624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3816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635508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Administración — </a:t>
            </a:r>
            <a:r>
              <a:rPr sz="1300" b="0" i="1" dirty="0" err="1">
                <a:solidFill>
                  <a:srgbClr val="7A8AA8"/>
                </a:solidFill>
              </a:rPr>
              <a:t>reportes</a:t>
            </a:r>
            <a:endParaRPr sz="1300" b="0" i="1" dirty="0">
              <a:solidFill>
                <a:srgbClr val="7A8AA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Funcionalidades — Notificaciones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18</a:t>
            </a:r>
          </a:p>
        </p:txBody>
      </p:sp>
      <p:pic>
        <p:nvPicPr>
          <p:cNvPr id="8" name="Picture 7" descr="notifications.png"/>
          <p:cNvPicPr>
            <a:picLocks noChangeAspect="1"/>
          </p:cNvPicPr>
          <p:nvPr/>
        </p:nvPicPr>
        <p:blipFill>
          <a:blip r:embed="rId3"/>
          <a:srcRect b="16841"/>
          <a:stretch>
            <a:fillRect/>
          </a:stretch>
        </p:blipFill>
        <p:spPr>
          <a:xfrm>
            <a:off x="1561837" y="1122864"/>
            <a:ext cx="9065150" cy="247665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00352" y="3777278"/>
            <a:ext cx="498812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8900" y="3813973"/>
            <a:ext cx="497102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Bandeja</a:t>
            </a:r>
            <a:r>
              <a:rPr sz="1300" b="0" i="1" dirty="0">
                <a:solidFill>
                  <a:srgbClr val="7A8AA8"/>
                </a:solidFill>
              </a:rPr>
              <a:t> de </a:t>
            </a:r>
            <a:r>
              <a:rPr sz="1300" b="0" i="1" dirty="0" err="1">
                <a:solidFill>
                  <a:srgbClr val="7A8AA8"/>
                </a:solidFill>
              </a:rPr>
              <a:t>notificaciones</a:t>
            </a:r>
            <a:r>
              <a:rPr sz="1300" b="0" i="1" dirty="0">
                <a:solidFill>
                  <a:srgbClr val="7A8AA8"/>
                </a:solidFill>
              </a:rPr>
              <a:t> </a:t>
            </a:r>
            <a:r>
              <a:rPr sz="1300" b="0" i="1" dirty="0" err="1">
                <a:solidFill>
                  <a:srgbClr val="7A8AA8"/>
                </a:solidFill>
              </a:rPr>
              <a:t>en</a:t>
            </a:r>
            <a:r>
              <a:rPr sz="1300" b="0" i="1" dirty="0">
                <a:solidFill>
                  <a:srgbClr val="7A8AA8"/>
                </a:solidFill>
              </a:rPr>
              <a:t> </a:t>
            </a:r>
            <a:r>
              <a:rPr sz="1300" b="0" i="1" dirty="0" err="1">
                <a:solidFill>
                  <a:srgbClr val="7A8AA8"/>
                </a:solidFill>
              </a:rPr>
              <a:t>tiempo</a:t>
            </a:r>
            <a:r>
              <a:rPr sz="1300" b="0" i="1" dirty="0">
                <a:solidFill>
                  <a:srgbClr val="7A8AA8"/>
                </a:solidFill>
              </a:rPr>
              <a:t> real (WebSocket STOMP)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085" y="440364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5C518"/>
                </a:solidFill>
              </a:rPr>
              <a:t>¿</a:t>
            </a:r>
            <a:r>
              <a:rPr sz="1800" b="1" i="0" dirty="0" err="1">
                <a:solidFill>
                  <a:srgbClr val="F5C518"/>
                </a:solidFill>
              </a:rPr>
              <a:t>Cómo</a:t>
            </a:r>
            <a:r>
              <a:rPr sz="1800" b="1" i="0" dirty="0">
                <a:solidFill>
                  <a:srgbClr val="F5C518"/>
                </a:solidFill>
              </a:rPr>
              <a:t> </a:t>
            </a:r>
            <a:r>
              <a:rPr sz="1800" b="1" i="0" dirty="0" err="1">
                <a:solidFill>
                  <a:srgbClr val="F5C518"/>
                </a:solidFill>
              </a:rPr>
              <a:t>funciona</a:t>
            </a:r>
            <a:r>
              <a:rPr sz="1800" b="1" i="0" dirty="0">
                <a:solidFill>
                  <a:srgbClr val="F5C518"/>
                </a:solidFill>
              </a:rPr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95005"/>
            <a:ext cx="3624468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1" y="4895005"/>
            <a:ext cx="380743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1" y="5013877"/>
            <a:ext cx="380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5" y="4959013"/>
            <a:ext cx="27762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8D0E0"/>
                </a:solidFill>
              </a:rPr>
              <a:t>El root layout </a:t>
            </a:r>
            <a:r>
              <a:rPr sz="1300" b="0" i="0" dirty="0" err="1">
                <a:solidFill>
                  <a:srgbClr val="C8D0E0"/>
                </a:solidFill>
              </a:rPr>
              <a:t>establece</a:t>
            </a:r>
            <a:r>
              <a:rPr sz="1300" b="0" i="0" dirty="0">
                <a:solidFill>
                  <a:srgbClr val="C8D0E0"/>
                </a:solidFill>
              </a:rPr>
              <a:t> la </a:t>
            </a:r>
            <a:r>
              <a:rPr sz="1300" b="0" i="0" dirty="0" err="1">
                <a:solidFill>
                  <a:srgbClr val="C8D0E0"/>
                </a:solidFill>
              </a:rPr>
              <a:t>conexión</a:t>
            </a:r>
            <a:r>
              <a:rPr sz="1300" b="0" i="0" dirty="0">
                <a:solidFill>
                  <a:srgbClr val="C8D0E0"/>
                </a:solidFill>
              </a:rPr>
              <a:t> WebSocket al </a:t>
            </a:r>
            <a:r>
              <a:rPr sz="1300" b="0" i="0" dirty="0" err="1">
                <a:solidFill>
                  <a:srgbClr val="C8D0E0"/>
                </a:solidFill>
              </a:rPr>
              <a:t>autenticarse</a:t>
            </a:r>
            <a:endParaRPr sz="1300" b="0" i="0" dirty="0">
              <a:solidFill>
                <a:srgbClr val="C8D0E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5828372"/>
            <a:ext cx="3624468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828372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947244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58923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8D0E0"/>
                </a:solidFill>
              </a:rPr>
              <a:t>El </a:t>
            </a:r>
            <a:r>
              <a:rPr sz="1300" b="0" i="0" dirty="0" err="1">
                <a:solidFill>
                  <a:srgbClr val="C8D0E0"/>
                </a:solidFill>
              </a:rPr>
              <a:t>servidor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detecta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el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evento</a:t>
            </a:r>
            <a:r>
              <a:rPr sz="1300" b="0" i="0" dirty="0">
                <a:solidFill>
                  <a:srgbClr val="C8D0E0"/>
                </a:solidFill>
              </a:rPr>
              <a:t> (follow, like, </a:t>
            </a:r>
            <a:r>
              <a:rPr sz="1300" b="0" i="0" dirty="0" err="1">
                <a:solidFill>
                  <a:srgbClr val="C8D0E0"/>
                </a:solidFill>
              </a:rPr>
              <a:t>comentario</a:t>
            </a:r>
            <a:r>
              <a:rPr sz="1300" b="0" i="0" dirty="0">
                <a:solidFill>
                  <a:srgbClr val="C8D0E0"/>
                </a:solidFill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4429" y="4895005"/>
            <a:ext cx="3624469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4430" y="4895005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04430" y="5013877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494" y="495901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C8D0E0"/>
                </a:solidFill>
              </a:rPr>
              <a:t>Envía</a:t>
            </a:r>
            <a:r>
              <a:rPr sz="1300" b="0" i="0" dirty="0">
                <a:solidFill>
                  <a:srgbClr val="C8D0E0"/>
                </a:solidFill>
              </a:rPr>
              <a:t> un </a:t>
            </a:r>
            <a:r>
              <a:rPr sz="1300" b="0" i="0" dirty="0" err="1">
                <a:solidFill>
                  <a:srgbClr val="C8D0E0"/>
                </a:solidFill>
              </a:rPr>
              <a:t>mensaje</a:t>
            </a:r>
            <a:r>
              <a:rPr sz="1300" b="0" i="0" dirty="0">
                <a:solidFill>
                  <a:srgbClr val="C8D0E0"/>
                </a:solidFill>
              </a:rPr>
              <a:t> STOMP al canal del </a:t>
            </a:r>
            <a:r>
              <a:rPr sz="1300" b="0" i="0" dirty="0" err="1">
                <a:solidFill>
                  <a:srgbClr val="C8D0E0"/>
                </a:solidFill>
              </a:rPr>
              <a:t>usuario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destino</a:t>
            </a:r>
            <a:endParaRPr sz="1300" b="0" i="0" dirty="0">
              <a:solidFill>
                <a:srgbClr val="C8D0E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1124" y="5828372"/>
            <a:ext cx="362447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01124" y="5828372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1124" y="5947244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3188" y="58923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8D0E0"/>
                </a:solidFill>
              </a:rPr>
              <a:t>El </a:t>
            </a:r>
            <a:r>
              <a:rPr sz="1300" b="0" i="0" dirty="0" err="1">
                <a:solidFill>
                  <a:srgbClr val="C8D0E0"/>
                </a:solidFill>
              </a:rPr>
              <a:t>cliente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recibe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el</a:t>
            </a:r>
            <a:r>
              <a:rPr sz="1300" b="0" i="0" dirty="0">
                <a:solidFill>
                  <a:srgbClr val="C8D0E0"/>
                </a:solidFill>
              </a:rPr>
              <a:t> push y </a:t>
            </a:r>
            <a:r>
              <a:rPr sz="1300" b="0" i="0" dirty="0" err="1">
                <a:solidFill>
                  <a:srgbClr val="C8D0E0"/>
                </a:solidFill>
              </a:rPr>
              <a:t>actualiza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el</a:t>
            </a:r>
            <a:r>
              <a:rPr sz="1300" b="0" i="0" dirty="0">
                <a:solidFill>
                  <a:srgbClr val="C8D0E0"/>
                </a:solidFill>
              </a:rPr>
              <a:t> badge de la navbar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3610" y="5375065"/>
            <a:ext cx="3624467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3610" y="5375065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53610" y="5493937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5674" y="543907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Sin polling · respuesta inmediata · experiencia fluida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Todos los objetivos planteados han sido cumplidos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Plataforma funcional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Full-stack desplegable con todas las funcionalidades planificadas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04872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404872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46887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Arquitectura modular y escalable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96312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Monolito en capas; preparado para evolución a microservicios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9544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27355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Integración eficiente con TMDB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300984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Caché bajo demanda + TTL: mínima dependencia externa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14216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14216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Comunicación en tiempo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05656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WebSockets STOMP: notificaciones push sin polling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18888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818888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82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Calidad demostrada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91032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340 tests unitarios automatizados · cobertura JaCoCo · 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2356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62356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687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UI responsive y accesible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71500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Desktop + tablet + mobile · Radix UI ARIA-compliant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73152" cy="652881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MovieMate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8D0E0"/>
                </a:solidFill>
              </a:rPr>
              <a:t>App de gestión y valoración de películas y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566160"/>
            <a:ext cx="7616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Christian Matas Conesa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8AA8"/>
                </a:solidFill>
              </a:rPr>
              <a:t>Tutor: Francisco García Sánchez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8AA8"/>
                </a:solidFill>
              </a:rPr>
              <a:t>Grado en Ingeniería Informática  ·  Universidad de Murcia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1615</Words>
  <Application>Microsoft Office PowerPoint</Application>
  <PresentationFormat>Personalizado</PresentationFormat>
  <Paragraphs>332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MATAS CONESA</cp:lastModifiedBy>
  <cp:revision>39</cp:revision>
  <dcterms:created xsi:type="dcterms:W3CDTF">2013-01-27T09:14:16Z</dcterms:created>
  <dcterms:modified xsi:type="dcterms:W3CDTF">2026-06-05T23:16:51Z</dcterms:modified>
  <cp:category/>
</cp:coreProperties>
</file>