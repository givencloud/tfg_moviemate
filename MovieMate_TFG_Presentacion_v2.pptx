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Buenos días. Mi nombre es Christian Matas Conesa y presento mi TFG «MovieMate», tutorizado por el profesor Francisco García Sánchez.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Seguiré esta estructura en unos 20 minutos. El mayor peso estará en diseño y resolución.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Señala cada captura al nombrar la plataforma. La fragmentación es la motivación del proyecto.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MovieMate resuelve la fragmentación integrando todas las funcionalidades en un único entorno.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Ninguna plataforma cubre los 8 criterios. MovieMate es la única que los cumple todos.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profundices en cada tecnología; solo nómbralas con seguridad. El tribunal quiere ver que las dominas.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fases no son estrictamente secuenciales; hubo iteraciones al descubrir nuevas necesidades.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Señala cada componente del diagrama. Justifica: monolito modular por simplicidad y escala actual; API REST para desacoplar cliente de servidor y permitir futuros clientes móviles.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Señala las entidades clave. Destaca que el campo TTL en Content es lo que gestiona la caché de TMDB.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preguntan por seguridad: JWT + BCrypt para contraseñas + CORS + roles. Sin sesiones en servidor.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TanStack Query es el diferenciador frente a Redux: diseñado para server state, no client state.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Destaca getOrFetch: la primera vez se llama a TMDB, se persiste localmente y se sirve. TTL gestiona la caché.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tiempo real es un diferenciador clave respecto a Letterboxd o Serializd, que no tienen WebSockets.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Responsive: en móvil la barra lateral se reemplaza por una bottom nav, más ergonómica con una mano.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tests se ejecutan automáticamente en el pipeline CI en cada push. Si falla un test, el build se bloquea.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 en develop: solo valida. CD en main: construye, publica en GHCR y despliega en Kubernetes. La separación desacopla validación de despliegue.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EN VIVO: registro → inicio → buscar película → valorar → añadir a lista → perfil → notificación RT → admin. Si falla, usa estas capturas y explica el flujo sobre ellas.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slide puede usarse como alternativa o complemento a la demo en vivo si hay problemas técnicos.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Habla con convicción. Este slide es el balance final del trabajo. No leas; sintetiza en tus palabras.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esto concluye la presentación. Quedo a vuestra disposición para responder vuestras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10.jpg"/><Relationship Id="rId4" Type="http://schemas.openxmlformats.org/officeDocument/2006/relationships/image" Target="../media/image8.jpg"/><Relationship Id="rId5" Type="http://schemas.openxmlformats.org/officeDocument/2006/relationships/image" Target="../media/image9.jpg"/><Relationship Id="rId6" Type="http://schemas.openxmlformats.org/officeDocument/2006/relationships/image" Target="../media/image15.jpg"/><Relationship Id="rId7" Type="http://schemas.openxmlformats.org/officeDocument/2006/relationships/image" Target="../media/image16.png"/><Relationship Id="rId8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64592"/>
            <a:ext cx="73152" cy="652881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5C518"/>
                </a:solidFill>
              </a:rPr>
              <a:t>MovieMate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1">
                <a:solidFill>
                  <a:srgbClr val="C8D0E0"/>
                </a:solidFill>
              </a:rPr>
              <a:t>App de gestión y valoración de películas y series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3657600"/>
            <a:ext cx="7616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8862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Christian Matas Conesa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348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7A8AA8"/>
                </a:solidFill>
              </a:rPr>
              <a:t>Tutor: Francisco García Sánchez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89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7A8AA8"/>
                </a:solidFill>
              </a:rPr>
              <a:t>Grado en Ingeniería Informática  ·  Universidad de Murcia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Índice de contenidos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789920" cy="73152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640080" cy="7315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16151"/>
            <a:ext cx="640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21F"/>
                </a:solidFill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115568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Introducción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47218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8AA8"/>
                </a:solidFill>
              </a:rPr>
              <a:t>Contexto, problema y solución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856231"/>
            <a:ext cx="10789920" cy="73152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856231"/>
            <a:ext cx="640080" cy="7315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020824"/>
            <a:ext cx="640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21F"/>
                </a:solidFill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1920239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Estado del arte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276856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8AA8"/>
                </a:solidFill>
              </a:rPr>
              <a:t>Plataformas existentes y stack tecnológico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660904"/>
            <a:ext cx="10789920" cy="73152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660904"/>
            <a:ext cx="640080" cy="7315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825496"/>
            <a:ext cx="640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21F"/>
                </a:solidFill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2724912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Objetivos y metodología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3081528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8AA8"/>
                </a:solidFill>
              </a:rPr>
              <a:t>Qué construimos y cómo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465576"/>
            <a:ext cx="10789920" cy="73152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465576"/>
            <a:ext cx="640080" cy="7315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630168"/>
            <a:ext cx="640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21F"/>
                </a:solidFill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3529584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Diseño y resolución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3886200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8AA8"/>
                </a:solidFill>
              </a:rPr>
              <a:t>Arquitectura · Back-end · Front-end · UI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270248"/>
            <a:ext cx="10789920" cy="73152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270248"/>
            <a:ext cx="640080" cy="7315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434840"/>
            <a:ext cx="640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21F"/>
                </a:solidFill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4334256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Pruebas y despliegue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4690872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8AA8"/>
                </a:solidFill>
              </a:rPr>
              <a:t>340 tests · Docker · CI/CD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074920"/>
            <a:ext cx="10789920" cy="73152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074920"/>
            <a:ext cx="640080" cy="7315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5239512"/>
            <a:ext cx="640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21F"/>
                </a:solidFill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4440" y="5138928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Conclusiones y futuro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4440" y="549554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8AA8"/>
                </a:solidFill>
              </a:rPr>
              <a:t>Logros y líneas de evolución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446520"/>
            <a:ext cx="594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Introducción — El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20116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1">
                <a:solidFill>
                  <a:srgbClr val="7A8AA8"/>
                </a:solidFill>
              </a:rPr>
              <a:t>Introducción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594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C518"/>
                </a:solidFill>
              </a:rPr>
              <a:t>Los usuarios necesitan usar múltiples plataformas…</a:t>
            </a:r>
          </a:p>
        </p:txBody>
      </p:sp>
      <p:pic>
        <p:nvPicPr>
          <p:cNvPr id="9" name="Picture 8" descr="letterboxd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00200"/>
            <a:ext cx="3520440" cy="3058093"/>
          </a:xfrm>
          <a:prstGeom prst="rect">
            <a:avLst/>
          </a:prstGeom>
        </p:spPr>
      </p:pic>
      <p:pic>
        <p:nvPicPr>
          <p:cNvPr id="10" name="Picture 9" descr="imdb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600200"/>
            <a:ext cx="3520440" cy="2622404"/>
          </a:xfrm>
          <a:prstGeom prst="rect">
            <a:avLst/>
          </a:prstGeom>
        </p:spPr>
      </p:pic>
      <p:pic>
        <p:nvPicPr>
          <p:cNvPr id="11" name="Picture 10" descr="serializd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9" y="1600200"/>
            <a:ext cx="3520440" cy="3040223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502920" y="4956048"/>
            <a:ext cx="3520440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4992624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A8AA8"/>
                </a:solidFill>
              </a:rPr>
              <a:t>Letterboxd — solo cine, sin series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4956048"/>
            <a:ext cx="3520440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4992624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A8AA8"/>
                </a:solidFill>
              </a:rPr>
              <a:t>IMDb — metadatos, sin red social real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3879" y="4956048"/>
            <a:ext cx="3520440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19" y="4992624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A8AA8"/>
                </a:solidFill>
              </a:rPr>
              <a:t>Serializd — solo series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394960"/>
            <a:ext cx="11274552" cy="731520"/>
          </a:xfrm>
          <a:prstGeom prst="rect">
            <a:avLst/>
          </a:prstGeom>
          <a:solidFill>
            <a:srgbClr val="14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46811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C518"/>
                </a:solidFill>
              </a:rPr>
              <a:t>⟶  Fragmentación: historial disperso · valoraciones separadas · sin red social unificada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Introducción — MovieMate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20116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1">
                <a:solidFill>
                  <a:srgbClr val="7A8AA8"/>
                </a:solidFill>
              </a:rPr>
              <a:t>Introducción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594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C8D0E0"/>
                </a:solidFill>
              </a:rPr>
              <a:t>Una plataforma unificada para gestión, valoración y descubrimiento audiovisual</a:t>
            </a:r>
          </a:p>
        </p:txBody>
      </p:sp>
      <p:pic>
        <p:nvPicPr>
          <p:cNvPr id="9" name="Picture 8" descr="mockup_desktop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00200"/>
            <a:ext cx="7680960" cy="368764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366760" y="1600200"/>
            <a:ext cx="3657600" cy="6858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66760" y="1600200"/>
            <a:ext cx="64008" cy="6858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170992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🎬 Películas + series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66760" y="2377440"/>
            <a:ext cx="3657600" cy="6858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66760" y="2377440"/>
            <a:ext cx="64008" cy="6858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0" y="248716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⭐ Valoraciones / reseñas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66760" y="3154680"/>
            <a:ext cx="3657600" cy="6858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66760" y="3154680"/>
            <a:ext cx="64008" cy="6858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0" y="326440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📋 Listas personalizadas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66760" y="3931920"/>
            <a:ext cx="3657600" cy="6858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66760" y="3931920"/>
            <a:ext cx="64008" cy="6858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0" y="404164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👥 Red social + feed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66760" y="4709160"/>
            <a:ext cx="3657600" cy="6858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66760" y="4709160"/>
            <a:ext cx="64008" cy="6858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03920" y="481888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🔔 Tiempo real (WS)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66760" y="5486400"/>
            <a:ext cx="3657600" cy="6858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366760" y="5486400"/>
            <a:ext cx="64008" cy="6858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03920" y="559612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🏆 Gamificación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Estado del arte — Comparativa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20116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1">
                <a:solidFill>
                  <a:srgbClr val="7A8AA8"/>
                </a:solidFill>
              </a:rPr>
              <a:t>Estado del arte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594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5</a:t>
            </a:r>
          </a:p>
        </p:txBody>
      </p:sp>
      <p:pic>
        <p:nvPicPr>
          <p:cNvPr id="8" name="Picture 7" descr="letterboxd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51560"/>
            <a:ext cx="1920240" cy="1668051"/>
          </a:xfrm>
          <a:prstGeom prst="rect">
            <a:avLst/>
          </a:prstGeom>
        </p:spPr>
      </p:pic>
      <p:pic>
        <p:nvPicPr>
          <p:cNvPr id="9" name="Picture 8" descr="imdb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1051560"/>
            <a:ext cx="1920240" cy="1430402"/>
          </a:xfrm>
          <a:prstGeom prst="rect">
            <a:avLst/>
          </a:prstGeom>
        </p:spPr>
      </p:pic>
      <p:pic>
        <p:nvPicPr>
          <p:cNvPr id="10" name="Picture 9" descr="serializd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1051560"/>
            <a:ext cx="1920240" cy="165830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02920" y="2560320"/>
            <a:ext cx="2798064" cy="420624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2624327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21F"/>
                </a:solidFill>
              </a:rPr>
              <a:t>Característica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560320"/>
            <a:ext cx="1563624" cy="420624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10712" y="2624327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IMDb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0" y="2560320"/>
            <a:ext cx="1563624" cy="420624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10912" y="2624327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Letterboxd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37960" y="2560320"/>
            <a:ext cx="1563624" cy="420624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1112" y="2624327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Serializd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2560320"/>
            <a:ext cx="1655064" cy="420624"/>
          </a:xfrm>
          <a:prstGeom prst="rect">
            <a:avLst/>
          </a:prstGeom>
          <a:solidFill>
            <a:srgbClr val="0E2A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11312" y="2624327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EE76E"/>
                </a:solidFill>
              </a:rPr>
              <a:t>MovieMate 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980944"/>
            <a:ext cx="2798064" cy="402336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3054096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Películas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37560" y="2980944"/>
            <a:ext cx="1563624" cy="402336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10712" y="3054096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37760" y="2980944"/>
            <a:ext cx="1563624" cy="402336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10912" y="3054096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37960" y="2980944"/>
            <a:ext cx="1563624" cy="402336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1112" y="3054096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38160" y="2980944"/>
            <a:ext cx="1655064" cy="402336"/>
          </a:xfrm>
          <a:prstGeom prst="rect">
            <a:avLst/>
          </a:prstGeom>
          <a:solidFill>
            <a:srgbClr val="0A1E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1312" y="3054096"/>
            <a:ext cx="1508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EE76E"/>
                </a:solidFill>
              </a:rPr>
              <a:t>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3401568"/>
            <a:ext cx="2798064" cy="402336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6072" y="347472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Series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37560" y="3401568"/>
            <a:ext cx="1563624" cy="402336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10712" y="3474720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0" y="3401568"/>
            <a:ext cx="1563624" cy="402336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10912" y="3474720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✗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7960" y="3401568"/>
            <a:ext cx="1563624" cy="402336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11112" y="3474720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38160" y="3401568"/>
            <a:ext cx="1655064" cy="402336"/>
          </a:xfrm>
          <a:prstGeom prst="rect">
            <a:avLst/>
          </a:prstGeom>
          <a:solidFill>
            <a:srgbClr val="0A1E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11312" y="3474720"/>
            <a:ext cx="1508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EE76E"/>
                </a:solidFill>
              </a:rPr>
              <a:t>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822191"/>
            <a:ext cx="2798064" cy="402336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6072" y="3895344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Valoraciones/reseñas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337560" y="3822191"/>
            <a:ext cx="1563624" cy="402336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410712" y="3895344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✓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937760" y="3822191"/>
            <a:ext cx="1563624" cy="402336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10912" y="3895344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✓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3822191"/>
            <a:ext cx="1563624" cy="402336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11112" y="3895344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✓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138160" y="3822191"/>
            <a:ext cx="1655064" cy="402336"/>
          </a:xfrm>
          <a:prstGeom prst="rect">
            <a:avLst/>
          </a:prstGeom>
          <a:solidFill>
            <a:srgbClr val="0A1E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11312" y="3895344"/>
            <a:ext cx="1508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EE76E"/>
                </a:solidFill>
              </a:rPr>
              <a:t>✓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4242816"/>
            <a:ext cx="2798064" cy="402336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6072" y="4315968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Listas personalizadas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37560" y="4242816"/>
            <a:ext cx="1563624" cy="402336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410712" y="4315968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✗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937760" y="4242816"/>
            <a:ext cx="1563624" cy="402336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10912" y="4315968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✓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37960" y="4242816"/>
            <a:ext cx="1563624" cy="402336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611112" y="4315968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✓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138160" y="4242816"/>
            <a:ext cx="1655064" cy="402336"/>
          </a:xfrm>
          <a:prstGeom prst="rect">
            <a:avLst/>
          </a:prstGeom>
          <a:solidFill>
            <a:srgbClr val="0A1E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11312" y="4315968"/>
            <a:ext cx="1508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EE76E"/>
                </a:solidFill>
              </a:rPr>
              <a:t>✓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4663440"/>
            <a:ext cx="2798064" cy="402336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76072" y="4736592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Red social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337560" y="4663440"/>
            <a:ext cx="1563624" cy="402336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410712" y="4736592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✗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937760" y="4663440"/>
            <a:ext cx="1563624" cy="402336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010912" y="4736592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✓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537960" y="4663440"/>
            <a:ext cx="1563624" cy="402336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611112" y="4736592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Básica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138160" y="4663440"/>
            <a:ext cx="1655064" cy="402336"/>
          </a:xfrm>
          <a:prstGeom prst="rect">
            <a:avLst/>
          </a:prstGeom>
          <a:solidFill>
            <a:srgbClr val="0A1E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211312" y="4736592"/>
            <a:ext cx="1508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EE76E"/>
                </a:solidFill>
              </a:rPr>
              <a:t>✓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02920" y="5084064"/>
            <a:ext cx="2798064" cy="402336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76072" y="5157216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Notificaciones RT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337560" y="5084064"/>
            <a:ext cx="1563624" cy="402336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410712" y="5157216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✗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937760" y="5084064"/>
            <a:ext cx="1563624" cy="402336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010912" y="5157216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✗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537960" y="5084064"/>
            <a:ext cx="1563624" cy="402336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611112" y="5157216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✗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138160" y="5084064"/>
            <a:ext cx="1655064" cy="402336"/>
          </a:xfrm>
          <a:prstGeom prst="rect">
            <a:avLst/>
          </a:prstGeom>
          <a:solidFill>
            <a:srgbClr val="0A1E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11312" y="5157216"/>
            <a:ext cx="1508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EE76E"/>
                </a:solidFill>
              </a:rPr>
              <a:t>✓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02920" y="5504688"/>
            <a:ext cx="2798064" cy="402336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76072" y="557784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Gamificación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337560" y="5504688"/>
            <a:ext cx="1563624" cy="402336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410712" y="5577840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✗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937760" y="5504688"/>
            <a:ext cx="1563624" cy="402336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010912" y="5577840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✗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537960" y="5504688"/>
            <a:ext cx="1563624" cy="402336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611112" y="5577840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✗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138160" y="5504688"/>
            <a:ext cx="1655064" cy="402336"/>
          </a:xfrm>
          <a:prstGeom prst="rect">
            <a:avLst/>
          </a:prstGeom>
          <a:solidFill>
            <a:srgbClr val="0A1E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11312" y="5577840"/>
            <a:ext cx="1508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EE76E"/>
                </a:solidFill>
              </a:rPr>
              <a:t>✓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02920" y="5925312"/>
            <a:ext cx="2798064" cy="402336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6072" y="5998464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Seg. de episodios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337560" y="5925312"/>
            <a:ext cx="1563624" cy="402336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10712" y="5998464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✗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937760" y="5925312"/>
            <a:ext cx="1563624" cy="402336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010912" y="5998464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✗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537960" y="5925312"/>
            <a:ext cx="1563624" cy="402336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611112" y="5998464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8D0E0"/>
                </a:solidFill>
              </a:rPr>
              <a:t>✓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138160" y="5925312"/>
            <a:ext cx="1655064" cy="402336"/>
          </a:xfrm>
          <a:prstGeom prst="rect">
            <a:avLst/>
          </a:prstGeom>
          <a:solidFill>
            <a:srgbClr val="0A1E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211312" y="5998464"/>
            <a:ext cx="1508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EE76E"/>
                </a:solidFill>
              </a:rPr>
              <a:t>✓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1475720" y="6446520"/>
            <a:ext cx="594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Estado del arte — Stack tecnológico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20116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1">
                <a:solidFill>
                  <a:srgbClr val="7A8AA8"/>
                </a:solidFill>
              </a:rPr>
              <a:t>Estado del arte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594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3611880" cy="539496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3611880" cy="47548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133856"/>
            <a:ext cx="3429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21F"/>
                </a:solidFill>
              </a:rPr>
              <a:t>Back-end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1691640"/>
            <a:ext cx="3273552" cy="621792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" y="1691640"/>
            <a:ext cx="54864" cy="62179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801368"/>
            <a:ext cx="2834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Java 21 + Spring Boot 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23160"/>
            <a:ext cx="3273552" cy="621792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" y="2423160"/>
            <a:ext cx="54864" cy="62179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532888"/>
            <a:ext cx="2834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Spring Security + JWT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" y="3154680"/>
            <a:ext cx="3273552" cy="621792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" y="3154680"/>
            <a:ext cx="54864" cy="62179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264408"/>
            <a:ext cx="2834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Spring Data JPA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" y="3886200"/>
            <a:ext cx="3273552" cy="621792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" y="3886200"/>
            <a:ext cx="54864" cy="62179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995928"/>
            <a:ext cx="2834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PostgreSQL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4617720"/>
            <a:ext cx="3273552" cy="621792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" y="4617720"/>
            <a:ext cx="54864" cy="62179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727448"/>
            <a:ext cx="2834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WebSockets (STOMP)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" y="5349240"/>
            <a:ext cx="3273552" cy="621792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" y="5349240"/>
            <a:ext cx="54864" cy="62179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458968"/>
            <a:ext cx="2834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OpenAPI / Swagger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43400" y="1097280"/>
            <a:ext cx="3611880" cy="539496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43400" y="1097280"/>
            <a:ext cx="3611880" cy="475488"/>
          </a:xfrm>
          <a:prstGeom prst="rect">
            <a:avLst/>
          </a:prstGeom>
          <a:solidFill>
            <a:srgbClr val="61DB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34840" y="1133856"/>
            <a:ext cx="3429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21F"/>
                </a:solidFill>
              </a:rPr>
              <a:t>Front-end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07992" y="1691640"/>
            <a:ext cx="3273552" cy="621792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07992" y="1691640"/>
            <a:ext cx="54864" cy="621792"/>
          </a:xfrm>
          <a:prstGeom prst="rect">
            <a:avLst/>
          </a:prstGeom>
          <a:solidFill>
            <a:srgbClr val="61DB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63440" y="1801368"/>
            <a:ext cx="2834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React 19 + TypeScript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07992" y="2423160"/>
            <a:ext cx="3273552" cy="621792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07992" y="2423160"/>
            <a:ext cx="54864" cy="621792"/>
          </a:xfrm>
          <a:prstGeom prst="rect">
            <a:avLst/>
          </a:prstGeom>
          <a:solidFill>
            <a:srgbClr val="61DB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63440" y="2532888"/>
            <a:ext cx="2834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TanStack Query v5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07992" y="3154680"/>
            <a:ext cx="3273552" cy="621792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07992" y="3154680"/>
            <a:ext cx="54864" cy="621792"/>
          </a:xfrm>
          <a:prstGeom prst="rect">
            <a:avLst/>
          </a:prstGeom>
          <a:solidFill>
            <a:srgbClr val="61DB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63440" y="3264408"/>
            <a:ext cx="2834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Zustand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07992" y="3886200"/>
            <a:ext cx="3273552" cy="621792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07992" y="3886200"/>
            <a:ext cx="54864" cy="621792"/>
          </a:xfrm>
          <a:prstGeom prst="rect">
            <a:avLst/>
          </a:prstGeom>
          <a:solidFill>
            <a:srgbClr val="61DB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63440" y="3995928"/>
            <a:ext cx="2834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Tailwind CSS 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07992" y="4617720"/>
            <a:ext cx="3273552" cy="621792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07992" y="4617720"/>
            <a:ext cx="54864" cy="621792"/>
          </a:xfrm>
          <a:prstGeom prst="rect">
            <a:avLst/>
          </a:prstGeom>
          <a:solidFill>
            <a:srgbClr val="61DB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63440" y="4727448"/>
            <a:ext cx="2834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Radix UI / shadcn/ui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07992" y="5349240"/>
            <a:ext cx="3273552" cy="621792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507992" y="5349240"/>
            <a:ext cx="54864" cy="621792"/>
          </a:xfrm>
          <a:prstGeom prst="rect">
            <a:avLst/>
          </a:prstGeom>
          <a:solidFill>
            <a:srgbClr val="61DB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663440" y="5458968"/>
            <a:ext cx="2834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React Router v6 + Axios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29600" y="1097280"/>
            <a:ext cx="3611880" cy="539496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229600" y="1097280"/>
            <a:ext cx="3611880" cy="475488"/>
          </a:xfrm>
          <a:prstGeom prst="rect">
            <a:avLst/>
          </a:prstGeom>
          <a:solidFill>
            <a:srgbClr val="6EE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21040" y="1133856"/>
            <a:ext cx="3429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21F"/>
                </a:solidFill>
              </a:rPr>
              <a:t>Infraestructura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394192" y="1691640"/>
            <a:ext cx="3273552" cy="621792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394192" y="1691640"/>
            <a:ext cx="54864" cy="621792"/>
          </a:xfrm>
          <a:prstGeom prst="rect">
            <a:avLst/>
          </a:prstGeom>
          <a:solidFill>
            <a:srgbClr val="6EE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49640" y="1801368"/>
            <a:ext cx="2834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TMDB API (metadatos)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394192" y="2423160"/>
            <a:ext cx="3273552" cy="621792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394192" y="2423160"/>
            <a:ext cx="54864" cy="621792"/>
          </a:xfrm>
          <a:prstGeom prst="rect">
            <a:avLst/>
          </a:prstGeom>
          <a:solidFill>
            <a:srgbClr val="6EE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549640" y="2532888"/>
            <a:ext cx="2834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Docker + Docker Compose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94192" y="3154680"/>
            <a:ext cx="3273552" cy="621792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394192" y="3154680"/>
            <a:ext cx="54864" cy="621792"/>
          </a:xfrm>
          <a:prstGeom prst="rect">
            <a:avLst/>
          </a:prstGeom>
          <a:solidFill>
            <a:srgbClr val="6EE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549640" y="3264408"/>
            <a:ext cx="2834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GitHub Actions CI/CD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394192" y="3886200"/>
            <a:ext cx="3273552" cy="621792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394192" y="3886200"/>
            <a:ext cx="54864" cy="621792"/>
          </a:xfrm>
          <a:prstGeom prst="rect">
            <a:avLst/>
          </a:prstGeom>
          <a:solidFill>
            <a:srgbClr val="6EE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549640" y="3995928"/>
            <a:ext cx="2834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Kubernetes / Minikube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94192" y="4617720"/>
            <a:ext cx="3273552" cy="621792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394192" y="4617720"/>
            <a:ext cx="54864" cy="621792"/>
          </a:xfrm>
          <a:prstGeom prst="rect">
            <a:avLst/>
          </a:prstGeom>
          <a:solidFill>
            <a:srgbClr val="6EE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549640" y="4727448"/>
            <a:ext cx="2834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JUnit 5 + Mockito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394192" y="5349240"/>
            <a:ext cx="3273552" cy="621792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394192" y="5349240"/>
            <a:ext cx="54864" cy="621792"/>
          </a:xfrm>
          <a:prstGeom prst="rect">
            <a:avLst/>
          </a:prstGeom>
          <a:solidFill>
            <a:srgbClr val="6EE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549640" y="5458968"/>
            <a:ext cx="2834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JaCoCo (cobertura)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475720" y="6446520"/>
            <a:ext cx="594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Objetivos y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20116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1">
                <a:solidFill>
                  <a:srgbClr val="7A8AA8"/>
                </a:solidFill>
              </a:rPr>
              <a:t>Objetivos y metodología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594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8D0E0"/>
                </a:solidFill>
              </a:rPr>
              <a:t>Objetivo principal: diseño y desarrollo de una app web full-stack para gestión y valoración de contenido audiovisual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C518"/>
                </a:solidFill>
              </a:rPr>
              <a:t>Subobjetivos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04288"/>
            <a:ext cx="5120640" cy="56692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304288"/>
            <a:ext cx="64008" cy="5669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395728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8D0E0"/>
                </a:solidFill>
              </a:rPr>
              <a:t>Analizar plataformas existentes y limitaciones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53512"/>
            <a:ext cx="5120640" cy="56692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953512"/>
            <a:ext cx="64008" cy="5669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044952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8D0E0"/>
                </a:solidFill>
              </a:rPr>
              <a:t>Seleccionar e integrar tecnologías modernas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602736"/>
            <a:ext cx="5120640" cy="56692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602736"/>
            <a:ext cx="64008" cy="5669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694176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8D0E0"/>
                </a:solidFill>
              </a:rPr>
              <a:t>Diseñar arquitectura escalable y modular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251960"/>
            <a:ext cx="5120640" cy="56692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251960"/>
            <a:ext cx="64008" cy="5669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343400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8D0E0"/>
                </a:solidFill>
              </a:rPr>
              <a:t>Implementar prototipo funcional completo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901183"/>
            <a:ext cx="5120640" cy="56692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4901183"/>
            <a:ext cx="64008" cy="5669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992623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8D0E0"/>
                </a:solidFill>
              </a:rPr>
              <a:t>Desplegar en entorno contenerizado con CI/CD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50408"/>
            <a:ext cx="5120640" cy="56692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5550408"/>
            <a:ext cx="64008" cy="5669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641848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8D0E0"/>
                </a:solidFill>
              </a:rPr>
              <a:t>Validar mediante 340 tests automatizados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1828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C518"/>
                </a:solidFill>
              </a:rPr>
              <a:t>Metodología iterativa e incremental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2304288"/>
            <a:ext cx="5303520" cy="73152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0" y="2304288"/>
            <a:ext cx="502920" cy="7315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2468880"/>
            <a:ext cx="502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21F"/>
                </a:solidFill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2368296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Análisis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5160" y="270662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8AA8"/>
                </a:solidFill>
              </a:rPr>
              <a:t>Requisitos y tecnologías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3127248"/>
            <a:ext cx="5303520" cy="73152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00800" y="3127248"/>
            <a:ext cx="502920" cy="7315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3291840"/>
            <a:ext cx="502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21F"/>
                </a:solidFill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95160" y="3191256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Diseño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5160" y="352958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8AA8"/>
                </a:solidFill>
              </a:rPr>
              <a:t>BD, API, mockups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3950208"/>
            <a:ext cx="5303520" cy="73152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0" y="3950208"/>
            <a:ext cx="502920" cy="7315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0" y="4114800"/>
            <a:ext cx="502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21F"/>
                </a:solidFill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95160" y="4014216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Implementación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95160" y="435254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8AA8"/>
                </a:solidFill>
              </a:rPr>
              <a:t>Back-end + Front-end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0" y="4773168"/>
            <a:ext cx="5303520" cy="73152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400800" y="4773168"/>
            <a:ext cx="502920" cy="7315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4937760"/>
            <a:ext cx="502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21F"/>
                </a:solidFill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95160" y="4837176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Pruebas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95160" y="517550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8AA8"/>
                </a:solidFill>
              </a:rPr>
              <a:t>JUnit + CI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0" y="5596128"/>
            <a:ext cx="5303520" cy="73152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00800" y="5596128"/>
            <a:ext cx="502920" cy="7315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0" y="5760720"/>
            <a:ext cx="502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21F"/>
                </a:solidFill>
              </a:rP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95160" y="5660136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Documentación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95160" y="599846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A8AA8"/>
                </a:solidFill>
              </a:rPr>
              <a:t>Memoria y despliegue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446520"/>
            <a:ext cx="594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Diseño — Arquitectura del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20116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1">
                <a:solidFill>
                  <a:srgbClr val="7A8AA8"/>
                </a:solidFill>
              </a:rPr>
              <a:t>Diseño y resolución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594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8D0E0"/>
                </a:solidFill>
              </a:rPr>
              <a:t>Monolito modular · API RESTful · JWT stateless · Caché bajo demanda</a:t>
            </a:r>
          </a:p>
        </p:txBody>
      </p:sp>
      <p:pic>
        <p:nvPicPr>
          <p:cNvPr id="9" name="Picture 8" descr="arquitectura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72768"/>
            <a:ext cx="11155680" cy="728031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6144768"/>
            <a:ext cx="11155680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618134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A8AA8"/>
                </a:solidFill>
              </a:rPr>
              <a:t>Fig. 12 — Arquitectura de MovieMate: cliente React · servidor Spring Boot · PostgreSQL · TMDB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446520"/>
            <a:ext cx="594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Diseño — Modelo de datos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20116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1">
                <a:solidFill>
                  <a:srgbClr val="7A8AA8"/>
                </a:solidFill>
              </a:rPr>
              <a:t>Diseño y resolución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594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8D0E0"/>
                </a:solidFill>
              </a:rPr>
              <a:t>8 entidades principales · relaciones complejas entre usuarios, contenido e interacciones sociales</a:t>
            </a:r>
          </a:p>
        </p:txBody>
      </p:sp>
      <p:pic>
        <p:nvPicPr>
          <p:cNvPr id="9" name="Picture 8" descr="er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572768"/>
            <a:ext cx="8138160" cy="750773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6144768"/>
            <a:ext cx="11155680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618134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A8AA8"/>
                </a:solidFill>
              </a:rPr>
              <a:t>Fig. 9 — Diagrama E-R de MovieMate: User · Content · Rating · CustomList · Follower · Notification · UserBadge · ContentReport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446520"/>
            <a:ext cx="594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Implementación — Back-end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20116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1">
                <a:solidFill>
                  <a:srgbClr val="7A8AA8"/>
                </a:solidFill>
              </a:rPr>
              <a:t>Diseño y resolución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594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78992"/>
            <a:ext cx="1600200" cy="960120"/>
          </a:xfrm>
          <a:prstGeom prst="rect">
            <a:avLst/>
          </a:prstGeom>
          <a:solidFill>
            <a:srgbClr val="30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70432"/>
            <a:ext cx="1417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HTTP
Request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84831" y="1508760"/>
            <a:ext cx="237744" cy="54864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50008" y="1078992"/>
            <a:ext cx="1600200" cy="9601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41448" y="1170432"/>
            <a:ext cx="1417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21F"/>
                </a:solidFill>
              </a:rPr>
              <a:t>JWT Filter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77640" y="1508760"/>
            <a:ext cx="237744" cy="54864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42816" y="1078992"/>
            <a:ext cx="1600200" cy="960120"/>
          </a:xfrm>
          <a:prstGeom prst="rect">
            <a:avLst/>
          </a:prstGeom>
          <a:solidFill>
            <a:srgbClr val="1A3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34255" y="1170432"/>
            <a:ext cx="1417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Controller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70448" y="1508760"/>
            <a:ext cx="237744" cy="54864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35623" y="1078992"/>
            <a:ext cx="1600200" cy="96012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27063" y="1170432"/>
            <a:ext cx="1417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Service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63255" y="1508760"/>
            <a:ext cx="237744" cy="54864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28431" y="1078992"/>
            <a:ext cx="1600200" cy="960120"/>
          </a:xfrm>
          <a:prstGeom prst="rect">
            <a:avLst/>
          </a:prstGeom>
          <a:solidFill>
            <a:srgbClr val="2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19871" y="1170432"/>
            <a:ext cx="1417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Repository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56063" y="1508760"/>
            <a:ext cx="237744" cy="54864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921240" y="1078992"/>
            <a:ext cx="1600200" cy="960120"/>
          </a:xfrm>
          <a:prstGeom prst="rect">
            <a:avLst/>
          </a:prstGeom>
          <a:solidFill>
            <a:srgbClr val="1E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12680" y="1170432"/>
            <a:ext cx="1417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PostgreSQL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21284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5C518"/>
                </a:solidFill>
              </a:rPr>
              <a:t>Decisiones clave de implementación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697480"/>
            <a:ext cx="11064240" cy="65836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2697480"/>
            <a:ext cx="64008" cy="65836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2770632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Controladores ligeros: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2788920"/>
            <a:ext cx="8046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8D0E0"/>
                </a:solidFill>
              </a:rPr>
              <a:t>Sin lógica de negocio; solo validación y delegación al servicio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447288"/>
            <a:ext cx="11064240" cy="65836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3447288"/>
            <a:ext cx="64008" cy="65836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3520440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DTOs en todas las capas: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3538728"/>
            <a:ext cx="8046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8D0E0"/>
                </a:solidFill>
              </a:rPr>
              <a:t>Entidades JPA nunca expuestas directamente al cliente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197096"/>
            <a:ext cx="11064240" cy="65836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4197096"/>
            <a:ext cx="64008" cy="65836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4270248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Autenticación stateless: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29000" y="4288536"/>
            <a:ext cx="8046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8D0E0"/>
                </a:solidFill>
              </a:rPr>
              <a:t>JWT firmado; sin sesiones en servidor; control por roles USER/ADMIN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4946904"/>
            <a:ext cx="11064240" cy="65836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48640" y="4946904"/>
            <a:ext cx="64008" cy="65836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5020056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Lazy loading JPA: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29000" y="5038344"/>
            <a:ext cx="8046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8D0E0"/>
                </a:solidFill>
              </a:rPr>
              <a:t>Carga diferida en relaciones; evita recuperaciones innecesarias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5696712"/>
            <a:ext cx="11064240" cy="65836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40" y="5696712"/>
            <a:ext cx="64008" cy="65836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5769864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Caché bajo demanda TMDB: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29000" y="5788152"/>
            <a:ext cx="8046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8D0E0"/>
                </a:solidFill>
              </a:rPr>
              <a:t>Sincronización solo cuando hay interacción real + TTL configurable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446520"/>
            <a:ext cx="594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Implementación — Front-end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20116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1">
                <a:solidFill>
                  <a:srgbClr val="7A8AA8"/>
                </a:solidFill>
              </a:rPr>
              <a:t>Diseño y resolución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594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C518"/>
                </a:solidFill>
              </a:rPr>
              <a:t>SPA modular (feature-based) · React 19 + TypeScript</a:t>
            </a:r>
          </a:p>
        </p:txBody>
      </p:sp>
      <p:pic>
        <p:nvPicPr>
          <p:cNvPr id="9" name="Picture 8" descr="homepag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72768"/>
            <a:ext cx="5577840" cy="27015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5047488"/>
            <a:ext cx="5577840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5084064"/>
            <a:ext cx="539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A8AA8"/>
                </a:solidFill>
              </a:rPr>
              <a:t>Fig. 21 — Página de inicio de MovieMate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572768"/>
            <a:ext cx="5303520" cy="169164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572768"/>
            <a:ext cx="5303520" cy="384048"/>
          </a:xfrm>
          <a:prstGeom prst="rect">
            <a:avLst/>
          </a:prstGeom>
          <a:solidFill>
            <a:srgbClr val="5A2E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591056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Zustand — Estado sincrónico global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029968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· Usuario autenticado + JWT
· Reactivo y ligero (sin boilerplate)
· Persistido en localStorage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401568"/>
            <a:ext cx="5303520" cy="233172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3401568"/>
            <a:ext cx="5303520" cy="384048"/>
          </a:xfrm>
          <a:prstGeom prst="rect">
            <a:avLst/>
          </a:prstGeom>
          <a:solidFill>
            <a:srgbClr val="0E65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3419856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TanStack Query v5 — Estado asíncrono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858768"/>
            <a:ext cx="5120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· Caché por claves estructuradas
· Revalidación automática (stale/refetch)
· Mutaciones con invalidación selectiva
· Reduce peticiones redundantes al servidor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5720" y="6446520"/>
            <a:ext cx="594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Funcionalidades — Ficha de 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20116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1">
                <a:solidFill>
                  <a:srgbClr val="7A8AA8"/>
                </a:solidFill>
              </a:rPr>
              <a:t>Diseño y resolución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594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C518"/>
                </a:solidFill>
              </a:rPr>
              <a:t>La página más compleja de la aplicación</a:t>
            </a:r>
          </a:p>
        </p:txBody>
      </p:sp>
      <p:pic>
        <p:nvPicPr>
          <p:cNvPr id="9" name="Picture 8" descr="content_detail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72768"/>
            <a:ext cx="7040880" cy="33863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6035040"/>
            <a:ext cx="7040880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6071616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A8AA8"/>
                </a:solidFill>
              </a:rPr>
              <a:t>Fig. — Ficha de detalle con valoración, reparto y tracking de episodios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18120" y="1572768"/>
            <a:ext cx="4251960" cy="65836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18120" y="1572768"/>
            <a:ext cx="64008" cy="65836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0" y="1682496"/>
            <a:ext cx="3931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Poster + Backdrop + Metadatos completos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18120" y="2322576"/>
            <a:ext cx="4251960" cy="65836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818120" y="2322576"/>
            <a:ext cx="64008" cy="65836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2432304"/>
            <a:ext cx="3931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Widget valoración ⭐×5 (crear y editar)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3072384"/>
            <a:ext cx="4251960" cy="65836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818120" y="3072384"/>
            <a:ext cx="64008" cy="65836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3182112"/>
            <a:ext cx="3931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Añadir a lista personalizada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18120" y="3822191"/>
            <a:ext cx="4251960" cy="65836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818120" y="3822191"/>
            <a:ext cx="64008" cy="65836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01000" y="3931920"/>
            <a:ext cx="3931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Tracking de episodios (series)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18120" y="4572000"/>
            <a:ext cx="4251960" cy="65836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18120" y="4572000"/>
            <a:ext cx="64008" cy="65836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01000" y="4681728"/>
            <a:ext cx="3931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Valoraciones de la comunidad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18120" y="5321807"/>
            <a:ext cx="4251960" cy="65836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818120" y="5321807"/>
            <a:ext cx="64008" cy="65836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01000" y="5431536"/>
            <a:ext cx="3931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Recomendaciones «Para Ti»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446520"/>
            <a:ext cx="594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Funcionalidades — Perfil y red social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20116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1">
                <a:solidFill>
                  <a:srgbClr val="7A8AA8"/>
                </a:solidFill>
              </a:rPr>
              <a:t>Diseño y resolución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594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13</a:t>
            </a:r>
          </a:p>
        </p:txBody>
      </p:sp>
      <p:pic>
        <p:nvPicPr>
          <p:cNvPr id="8" name="Picture 7" descr="profile_pag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97280"/>
            <a:ext cx="5669280" cy="2731431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5559552"/>
            <a:ext cx="5669280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55961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A8AA8"/>
                </a:solidFill>
              </a:rPr>
              <a:t>Perfil: actividad · listas · estadísticas · insignias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0972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C518"/>
                </a:solidFill>
              </a:rPr>
              <a:t>Red social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1554480"/>
            <a:ext cx="5212080" cy="521207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92240" y="1554480"/>
            <a:ext cx="64008" cy="521207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1645920"/>
            <a:ext cx="48463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Seguir usuarios (solicitud si perfil privado)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2157984"/>
            <a:ext cx="5212080" cy="521207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40" y="2157984"/>
            <a:ext cx="64008" cy="521207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2249424"/>
            <a:ext cx="48463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Feed de actividad de seguidos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2761488"/>
            <a:ext cx="5212080" cy="521207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92240" y="2761488"/>
            <a:ext cx="64008" cy="521207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2852928"/>
            <a:ext cx="48463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Likes y comentarios en valoraciones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364991"/>
            <a:ext cx="5212080" cy="521207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92240" y="3364991"/>
            <a:ext cx="64008" cy="521207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0" y="3456432"/>
            <a:ext cx="48463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Comentarios en listas públicas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0" y="3968496"/>
            <a:ext cx="5212080" cy="521207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92240" y="3968496"/>
            <a:ext cx="64008" cy="521207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0" y="4059936"/>
            <a:ext cx="48463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Reporte de contenido inapropiado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74903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C518"/>
                </a:solidFill>
              </a:rPr>
              <a:t>Notificaciones en tiempo real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4206240"/>
            <a:ext cx="5212080" cy="182880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92240" y="4206240"/>
            <a:ext cx="5212080" cy="365760"/>
          </a:xfrm>
          <a:prstGeom prst="rect">
            <a:avLst/>
          </a:prstGeom>
          <a:solidFill>
            <a:srgbClr val="1A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224528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EE7E7"/>
                </a:solidFill>
              </a:rPr>
              <a:t>WebSockets (STOMP + SockJS)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4645152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· Notificación push sin polling
· Eventos: follow · like · comentario
· Badge en navbar actualizado al instante
· Gamificación: insignias automáticas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446520"/>
            <a:ext cx="594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Interfaz — Sistema de diseño y responsive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20116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1">
                <a:solidFill>
                  <a:srgbClr val="7A8AA8"/>
                </a:solidFill>
              </a:rPr>
              <a:t>Diseño y resolución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594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14</a:t>
            </a:r>
          </a:p>
        </p:txBody>
      </p:sp>
      <p:pic>
        <p:nvPicPr>
          <p:cNvPr id="8" name="Picture 7" descr="discover_pag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97280"/>
            <a:ext cx="6035040" cy="291276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5440680"/>
            <a:ext cx="6035040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5477256"/>
            <a:ext cx="58521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A8AA8"/>
                </a:solidFill>
              </a:rPr>
              <a:t>Página de descubrimiento — Desktop (sidebar fija + grid fluido)</a:t>
            </a:r>
          </a:p>
        </p:txBody>
      </p:sp>
      <p:pic>
        <p:nvPicPr>
          <p:cNvPr id="11" name="Picture 10" descr="responsive_ipad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97280"/>
            <a:ext cx="2468880" cy="355481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858000" y="5440680"/>
            <a:ext cx="4846320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0" y="5477256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A8AA8"/>
                </a:solidFill>
              </a:rPr>
              <a:t>iPad Air + iPhone 12 Pro — bottom nav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1097280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C518"/>
                </a:solidFill>
              </a:rPr>
              <a:t>Sistema de diseño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64040" y="1536192"/>
            <a:ext cx="2606040" cy="56692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0" y="1600200"/>
            <a:ext cx="914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518"/>
                </a:solidFill>
              </a:rPr>
              <a:t>Fondo: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1320" y="1600200"/>
            <a:ext cx="1417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0E0"/>
                </a:solidFill>
              </a:rPr>
              <a:t>#0D121F navy → charcoal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64040" y="2185415"/>
            <a:ext cx="2606040" cy="56692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0" y="2249424"/>
            <a:ext cx="914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518"/>
                </a:solidFill>
              </a:rPr>
              <a:t>Acento: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61320" y="2249424"/>
            <a:ext cx="1417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0E0"/>
                </a:solidFill>
              </a:rPr>
              <a:t>#F5C518 dorado (UI interactiva)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64040" y="2834639"/>
            <a:ext cx="2606040" cy="56692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0" y="2898648"/>
            <a:ext cx="914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518"/>
                </a:solidFill>
              </a:rPr>
              <a:t>Títulos: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61320" y="2898648"/>
            <a:ext cx="1417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0E0"/>
                </a:solidFill>
              </a:rPr>
              <a:t>Playfair Display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464040" y="3483863"/>
            <a:ext cx="2606040" cy="56692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0" y="3547872"/>
            <a:ext cx="914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518"/>
                </a:solidFill>
              </a:rPr>
              <a:t>Cuerpo: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61320" y="3547872"/>
            <a:ext cx="1417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0E0"/>
                </a:solidFill>
              </a:rPr>
              <a:t>DM Sans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64040" y="4133087"/>
            <a:ext cx="2606040" cy="56692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0" y="4197096"/>
            <a:ext cx="914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518"/>
                </a:solidFill>
              </a:rPr>
              <a:t>Componentes: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61320" y="4197096"/>
            <a:ext cx="1417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0E0"/>
                </a:solidFill>
              </a:rPr>
              <a:t>Radix UI + shadcn/ui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464040" y="4782312"/>
            <a:ext cx="2606040" cy="566928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0" y="4846320"/>
            <a:ext cx="914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518"/>
                </a:solidFill>
              </a:rPr>
              <a:t>Accesibilidad: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61320" y="4846320"/>
            <a:ext cx="1417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0E0"/>
                </a:solidFill>
              </a:rPr>
              <a:t>ARIA-compliant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446520"/>
            <a:ext cx="594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Pruebas y calidad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20116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1">
                <a:solidFill>
                  <a:srgbClr val="7A8AA8"/>
                </a:solidFill>
              </a:rPr>
              <a:t>Diseño y resolución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594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C518"/>
                </a:solidFill>
              </a:rPr>
              <a:t>340 tests unitarios automatizados · JUnit 5 + Mockito · Cobertura JaCoCo</a:t>
            </a:r>
          </a:p>
        </p:txBody>
      </p:sp>
      <p:pic>
        <p:nvPicPr>
          <p:cNvPr id="9" name="Picture 8" descr="test_suit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72768"/>
            <a:ext cx="4023360" cy="510457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5577840"/>
            <a:ext cx="4023360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5614416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A8AA8"/>
                </a:solidFill>
              </a:rPr>
              <a:t>Fig. 31 — Estructura de la suite de tests (6 carpetas por capa)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00600" y="1572768"/>
            <a:ext cx="2286000" cy="150876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1664208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i="0">
                <a:solidFill>
                  <a:srgbClr val="F5C518"/>
                </a:solidFill>
              </a:rPr>
              <a:t>340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33472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8D0E0"/>
                </a:solidFill>
              </a:rPr>
              <a:t>tests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60920" y="1572768"/>
            <a:ext cx="4754880" cy="150876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60920" y="1572768"/>
            <a:ext cx="4754880" cy="36576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52360" y="1591056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EE76E"/>
                </a:solidFill>
              </a:rPr>
              <a:t>Patrón Arrange-Act-Assert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202996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518"/>
                </a:solidFill>
              </a:rPr>
              <a:t>Arrange: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20" y="20299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Preparar mocks y datos de prueba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236829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518"/>
                </a:solidFill>
              </a:rPr>
              <a:t>Act: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236829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Ejecutar la operación del servicio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270662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518"/>
                </a:solidFill>
              </a:rPr>
              <a:t>Assert: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2706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0E0"/>
                </a:solidFill>
              </a:rPr>
              <a:t>Verificar resultado e interacciones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00600" y="3246120"/>
            <a:ext cx="7269480" cy="2724912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7760" y="3310128"/>
            <a:ext cx="6949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Cobertura por capa: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00600" y="3703320"/>
            <a:ext cx="7269480" cy="384048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37760" y="374903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Controllers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3749039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D0E0"/>
                </a:solidFill>
              </a:rPr>
              <a:t>Validación HTTP y mapeo de DTOs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00600" y="4142231"/>
            <a:ext cx="7269480" cy="384048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37760" y="418795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Services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4187952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D0E0"/>
                </a:solidFill>
              </a:rPr>
              <a:t>Lógica de negocio — capa más crítica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00600" y="4581144"/>
            <a:ext cx="7269480" cy="384048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37760" y="462686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Repositories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4626864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D0E0"/>
                </a:solidFill>
              </a:rPr>
              <a:t>Consultas JPA personalizadas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800600" y="5020056"/>
            <a:ext cx="7269480" cy="384048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37760" y="5065775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Security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5065775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D0E0"/>
                </a:solidFill>
              </a:rPr>
              <a:t>JWT, filtros y roles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800600" y="5458968"/>
            <a:ext cx="7269480" cy="384048"/>
          </a:xfrm>
          <a:prstGeom prst="rect">
            <a:avLst/>
          </a:prstGeom>
          <a:solidFill>
            <a:srgbClr val="10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37760" y="55046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Integration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0" y="5504688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D0E0"/>
                </a:solidFill>
              </a:rPr>
              <a:t>Flujos end-to-end del back-end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446520"/>
            <a:ext cx="594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Despliegue — Docker + CI/CD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20116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1">
                <a:solidFill>
                  <a:srgbClr val="7A8AA8"/>
                </a:solidFill>
              </a:rPr>
              <a:t>Diseño y resolución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594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C518"/>
                </a:solidFill>
              </a:rPr>
              <a:t>Pipeline de integración y entrega continua automatizado</a:t>
            </a:r>
          </a:p>
        </p:txBody>
      </p:sp>
      <p:pic>
        <p:nvPicPr>
          <p:cNvPr id="9" name="Picture 8" descr="ci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72768"/>
            <a:ext cx="11155680" cy="533696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4526280"/>
            <a:ext cx="11155680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456285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A8AA8"/>
                </a:solidFill>
              </a:rPr>
              <a:t>Fig. 34 — Pipeline CI: tests · build JAR · build FE · verify Docker</a:t>
            </a:r>
          </a:p>
        </p:txBody>
      </p:sp>
      <p:pic>
        <p:nvPicPr>
          <p:cNvPr id="12" name="Picture 11" descr="cd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828032"/>
            <a:ext cx="11155680" cy="4883562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02920" y="6080760"/>
            <a:ext cx="11155680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611733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A8AA8"/>
                </a:solidFill>
              </a:rPr>
              <a:t>Fig. 35 — Pipeline CD: tests · build images → GHCR · deploy Kubernetes (Minikube)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46520"/>
            <a:ext cx="594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5C518"/>
                </a:solidFill>
              </a:rPr>
              <a:t>DEMO — MovieMate en funcionamiento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12745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homepag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3657600" cy="177150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3529584"/>
            <a:ext cx="3657600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566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A8AA8"/>
                </a:solidFill>
              </a:rPr>
              <a:t>Inicio — tendencias + recomendaciones</a:t>
            </a:r>
          </a:p>
        </p:txBody>
      </p:sp>
      <p:pic>
        <p:nvPicPr>
          <p:cNvPr id="9" name="Picture 8" descr="discover_p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005840"/>
            <a:ext cx="3657600" cy="176531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297680" y="3529584"/>
            <a:ext cx="3657600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3566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A8AA8"/>
                </a:solidFill>
              </a:rPr>
              <a:t>Descubrimiento — búsqueda global</a:t>
            </a:r>
          </a:p>
        </p:txBody>
      </p:sp>
      <p:pic>
        <p:nvPicPr>
          <p:cNvPr id="12" name="Picture 11" descr="content_detail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1005840"/>
            <a:ext cx="3657600" cy="1759117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8138160" y="3529584"/>
            <a:ext cx="3657600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3566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A8AA8"/>
                </a:solidFill>
              </a:rPr>
              <a:t>Ficha — valoración + tracking</a:t>
            </a:r>
          </a:p>
        </p:txBody>
      </p:sp>
      <p:pic>
        <p:nvPicPr>
          <p:cNvPr id="15" name="Picture 14" descr="profile_p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794760"/>
            <a:ext cx="3657600" cy="1762214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57200" y="6318504"/>
            <a:ext cx="3657600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3550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A8AA8"/>
                </a:solidFill>
              </a:rPr>
              <a:t>Perfil — stats + insignias + listas</a:t>
            </a:r>
          </a:p>
        </p:txBody>
      </p:sp>
      <p:pic>
        <p:nvPicPr>
          <p:cNvPr id="18" name="Picture 17" descr="activity_p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7680" y="3794760"/>
            <a:ext cx="3657600" cy="1762214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297680" y="6318504"/>
            <a:ext cx="3657600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0" y="63550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A8AA8"/>
                </a:solidFill>
              </a:rPr>
              <a:t>Actividad — feed social</a:t>
            </a:r>
          </a:p>
        </p:txBody>
      </p:sp>
      <p:pic>
        <p:nvPicPr>
          <p:cNvPr id="21" name="Picture 20" descr="admin_pane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8160" y="3794760"/>
            <a:ext cx="3657600" cy="1762408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8138160" y="6318504"/>
            <a:ext cx="3657600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63550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A8AA8"/>
                </a:solidFill>
              </a:rPr>
              <a:t>Administración — reportes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446520"/>
            <a:ext cx="594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Funcionalidades — Notificaciones en tiempo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20116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1">
                <a:solidFill>
                  <a:srgbClr val="7A8AA8"/>
                </a:solidFill>
              </a:rPr>
              <a:t>Diseño y resolución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594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18</a:t>
            </a:r>
          </a:p>
        </p:txBody>
      </p:sp>
      <p:pic>
        <p:nvPicPr>
          <p:cNvPr id="8" name="Picture 7" descr="notific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15568"/>
            <a:ext cx="7315200" cy="24033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2926080"/>
            <a:ext cx="7315200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962656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A8AA8"/>
                </a:solidFill>
              </a:rPr>
              <a:t>Fig. 42 — Bandeja de notificaciones en tiempo real (WebSocket STOMP)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111556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C518"/>
                </a:solidFill>
              </a:rPr>
              <a:t>¿Cómo funciona?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600200"/>
            <a:ext cx="3794760" cy="77724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600200"/>
            <a:ext cx="438912" cy="77724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719072"/>
            <a:ext cx="4389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21F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41664" y="1664208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D0E0"/>
                </a:solidFill>
              </a:rPr>
              <a:t>El root layout establece la conexión WebSocket al autenticarse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2514600"/>
            <a:ext cx="3794760" cy="77724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2514600"/>
            <a:ext cx="438912" cy="77724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2633472"/>
            <a:ext cx="4389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21F"/>
                </a:solidFill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41664" y="2578608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D0E0"/>
                </a:solidFill>
              </a:rPr>
              <a:t>El servidor detecta el evento (follow, like, comentario)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3429000"/>
            <a:ext cx="3794760" cy="77724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0" y="3429000"/>
            <a:ext cx="438912" cy="77724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3547872"/>
            <a:ext cx="4389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21F"/>
                </a:solidFill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41664" y="3493008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D0E0"/>
                </a:solidFill>
              </a:rPr>
              <a:t>Envía un mensaje STOMP al canal del usuario destino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0" y="4343400"/>
            <a:ext cx="3794760" cy="77724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0" y="4343400"/>
            <a:ext cx="438912" cy="77724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4462272"/>
            <a:ext cx="4389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21F"/>
                </a:solidFill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41664" y="4407408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D0E0"/>
                </a:solidFill>
              </a:rPr>
              <a:t>El cliente recibe el push y actualiza el badge de la navbar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5257800"/>
            <a:ext cx="3794760" cy="777240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0" y="5257800"/>
            <a:ext cx="438912" cy="77724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0" y="5376672"/>
            <a:ext cx="4389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21F"/>
                </a:solidFill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41664" y="5321808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D0E0"/>
                </a:solidFill>
              </a:rPr>
              <a:t>Sin polling · respuesta inmediata · experiencia fluida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446520"/>
            <a:ext cx="594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Conclusiones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20116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1">
                <a:solidFill>
                  <a:srgbClr val="7A8AA8"/>
                </a:solidFill>
              </a:rPr>
              <a:t>Conclusiones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0972800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594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C518"/>
                </a:solidFill>
              </a:rPr>
              <a:t>Todos los objetivos planteados han sido cumplidos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11064240" cy="713232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00200"/>
            <a:ext cx="73152" cy="71323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642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C518"/>
                </a:solidFill>
              </a:rPr>
              <a:t>✓ Plataforma funcional completa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169164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Full-stack desplegable con todas las funcionalidades planificadas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404872"/>
            <a:ext cx="11064240" cy="713232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404872"/>
            <a:ext cx="73152" cy="71323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468879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C518"/>
                </a:solidFill>
              </a:rPr>
              <a:t>✓ Arquitectura modular y escalable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2496312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Monolito en capas; preparado para evolución a microservicios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209544"/>
            <a:ext cx="11064240" cy="713232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209544"/>
            <a:ext cx="73152" cy="71323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73551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C518"/>
                </a:solidFill>
              </a:rPr>
              <a:t>✓ Integración eficiente con TMDB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3300984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Caché bajo demanda + TTL: mínima dependencia externa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014216"/>
            <a:ext cx="11064240" cy="713232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014216"/>
            <a:ext cx="73152" cy="71323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07822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C518"/>
                </a:solidFill>
              </a:rPr>
              <a:t>✓ Comunicación en tiempo real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4105656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WebSockets STOMP: notificaciones push sin polling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818888"/>
            <a:ext cx="11064240" cy="713232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818888"/>
            <a:ext cx="73152" cy="71323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88289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C518"/>
                </a:solidFill>
              </a:rPr>
              <a:t>✓ Calidad demostrada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0" y="4910327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340 tests unitarios automatizados · cobertura JaCoCo · CI/CD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623560"/>
            <a:ext cx="11064240" cy="713232"/>
          </a:xfrm>
          <a:prstGeom prst="rect">
            <a:avLst/>
          </a:prstGeom>
          <a:solidFill>
            <a:srgbClr val="1A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5623560"/>
            <a:ext cx="73152" cy="71323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68756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C518"/>
                </a:solidFill>
              </a:rPr>
              <a:t>✓ UI responsive y accesible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37760" y="5715000"/>
            <a:ext cx="6492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0E0"/>
                </a:solidFill>
              </a:rPr>
              <a:t>Desktop + tablet + mobile · Radix UI ARIA-compliant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446520"/>
            <a:ext cx="594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A8AA8"/>
                </a:solidFill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64592"/>
            <a:ext cx="73152" cy="652881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5C518"/>
                </a:solidFill>
              </a:rPr>
              <a:t>MovieMate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51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1">
                <a:solidFill>
                  <a:srgbClr val="C8D0E0"/>
                </a:solidFill>
              </a:rPr>
              <a:t>App de gestión y valoración de películas y series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3566160"/>
            <a:ext cx="7616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749039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</a:rPr>
              <a:t>¿Preguntas?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663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Christian Matas Conesa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166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7A8AA8"/>
                </a:solidFill>
              </a:rPr>
              <a:t>Tutor: Francisco García Sánchez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7A8AA8"/>
                </a:solidFill>
              </a:rPr>
              <a:t>Grado en Ingeniería Informática  ·  Universidad de Murcia  ·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