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4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días. Mi nombre es Christian Matas Conesa y presento mi TFG «MovieMate», tutorizado por el profesor Francisco García Sánchez.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Seguiré esta estructura en unos 20 minutos. El mayor peso estará en diseño y resolución.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Señala cada captura al nombrar la plataforma. La fragmentación es la motivación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MovieMate resuelve la fragmentación integrando todas las funcionalidades en un único entorno.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Ninguna plataforma cubre los 8 criterios. MovieMate es la única que los cumple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profundices en cada tecnología; solo nómbralas con seguridad. El tribunal quiere ver que las dominas.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fases no son estrictamente secuenciales; hubo iteraciones al descubrir nuevas necesidades.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Señala cada componente del diagrama. Justifica: monolito modular por simplicidad y escala actual; API REST para desacoplar cliente de servidor y permitir futuros clientes móviles.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Señala las entidades clave. Destaca que el campo TTL en Content es lo que gestiona la caché de TMDB.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preguntan por seguridad: JWT + BCrypt para contraseñas + CORS + roles. Sin sesiones en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TanStack Query es el diferenciador frente a Redux: diseñado para server state, no client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 getOrFetch: la primera vez se llama a TMDB, se persiste localmente y se sirve. TTL gestiona la caché.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tiempo real es un diferenciador clave respecto a Letterboxd o Serializd, que no tienen WebSockets.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Responsive: en móvil la barra lateral se reemplaza por una bottom nav, más ergonómica con una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tests se ejecutan automáticamente en el pipeline CI en cada push. Si falla un test, el build se bloquea.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 en develop: solo valida. CD en main: construye, publica en GHCR y despliega en Kubernetes. La separación desacopla validación de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EN VIVO: registro → inicio → buscar película → valorar → añadir a lista → perfil → notificación RT → admin. Si falla, usa estas capturas y explica el flujo sobre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slide puede usarse como alternativa o complemento a la demo en vivo si hay problemas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Habla con convicción. Este slide es el balance final del trabajo. No leas; sintetiza en tus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 esto concluye la presentación. Quedo a vuestra disposición para responder vuestras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73152" cy="652881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MovieMate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8D0E0"/>
                </a:solidFill>
              </a:rPr>
              <a:t>App de gestión y valoración de películas y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657600"/>
            <a:ext cx="7616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Christian Matas Conesa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8AA8"/>
                </a:solidFill>
              </a:rPr>
              <a:t>Tutor: Francisco García Sánchez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7A8AA8"/>
                </a:solidFill>
              </a:rPr>
              <a:t>Grado </a:t>
            </a:r>
            <a:r>
              <a:rPr sz="1600" b="0" i="0" dirty="0" err="1">
                <a:solidFill>
                  <a:srgbClr val="7A8AA8"/>
                </a:solidFill>
              </a:rPr>
              <a:t>en</a:t>
            </a:r>
            <a:r>
              <a:rPr sz="1600" b="0" i="0" dirty="0">
                <a:solidFill>
                  <a:srgbClr val="7A8AA8"/>
                </a:solidFill>
              </a:rPr>
              <a:t> Ingeniería </a:t>
            </a:r>
            <a:r>
              <a:rPr sz="1600" b="0" i="0" dirty="0" err="1">
                <a:solidFill>
                  <a:srgbClr val="7A8AA8"/>
                </a:solidFill>
              </a:rPr>
              <a:t>Informática</a:t>
            </a:r>
            <a:r>
              <a:rPr sz="1600" b="0" i="0" dirty="0">
                <a:solidFill>
                  <a:srgbClr val="7A8AA8"/>
                </a:solidFill>
              </a:rPr>
              <a:t>  ·  Universidad de Murcia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Índice de contenidos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7899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1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155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7218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Contexto, problema y solución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56231"/>
            <a:ext cx="107899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56231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20824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2023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7685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Plataformas existentes y stack tecnológico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60904"/>
            <a:ext cx="107899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660904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2549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249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Objetivos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metodología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308152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Qué construimos y cómo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65576"/>
            <a:ext cx="107899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465576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30168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529584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Diseño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lang="es-ES" sz="2000" b="1" i="0" dirty="0">
                <a:solidFill>
                  <a:srgbClr val="FFFFFF"/>
                </a:solidFill>
              </a:rPr>
              <a:t>e implementación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4440" y="38862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7A8AA8"/>
                </a:solidFill>
              </a:rPr>
              <a:t>Arquitectura</a:t>
            </a:r>
            <a:r>
              <a:rPr sz="1400" b="0" i="0" dirty="0">
                <a:solidFill>
                  <a:srgbClr val="7A8AA8"/>
                </a:solidFill>
              </a:rPr>
              <a:t> · Back-end · Front-end · </a:t>
            </a:r>
            <a:r>
              <a:rPr lang="es-ES" sz="1400" b="0" i="0" dirty="0">
                <a:solidFill>
                  <a:srgbClr val="7A8AA8"/>
                </a:solidFill>
              </a:rPr>
              <a:t>U</a:t>
            </a:r>
            <a:r>
              <a:rPr sz="1400" b="0" i="0" dirty="0">
                <a:solidFill>
                  <a:srgbClr val="7A8AA8"/>
                </a:solidFill>
              </a:rPr>
              <a:t>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70248"/>
            <a:ext cx="107899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270248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3342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Pruebas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despliegue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34440" y="4690872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b="0" i="0" dirty="0">
                <a:solidFill>
                  <a:srgbClr val="7A8AA8"/>
                </a:solidFill>
              </a:rPr>
              <a:t>Calidad</a:t>
            </a:r>
            <a:r>
              <a:rPr sz="1400" b="0" i="0" dirty="0">
                <a:solidFill>
                  <a:srgbClr val="7A8AA8"/>
                </a:solidFill>
              </a:rPr>
              <a:t>· Docker · 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74920"/>
            <a:ext cx="107899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074920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239512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1389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Conclusiones y futuro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49554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Logros y líneas de evolución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Introducción —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Introducción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Los usuarios necesitan usar múltiples plataformas…</a:t>
            </a:r>
          </a:p>
        </p:txBody>
      </p:sp>
      <p:pic>
        <p:nvPicPr>
          <p:cNvPr id="9" name="Picture 8" descr="letterbox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3520440" cy="3058093"/>
          </a:xfrm>
          <a:prstGeom prst="rect">
            <a:avLst/>
          </a:prstGeom>
        </p:spPr>
      </p:pic>
      <p:pic>
        <p:nvPicPr>
          <p:cNvPr id="10" name="Picture 9" descr="imd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3520440" cy="2622404"/>
          </a:xfrm>
          <a:prstGeom prst="rect">
            <a:avLst/>
          </a:prstGeom>
        </p:spPr>
      </p:pic>
      <p:pic>
        <p:nvPicPr>
          <p:cNvPr id="11" name="Picture 10" descr="serializd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1600200"/>
            <a:ext cx="3520440" cy="30402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4956048"/>
            <a:ext cx="35204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99262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Letterboxd — solo cine, sin series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956048"/>
            <a:ext cx="35204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499262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IMDb — metadatos, sin red social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4956048"/>
            <a:ext cx="35204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499262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Serializd — solo series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solidFill>
            <a:srgbClr val="14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681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⟶  Fragmentación: historial disperso · valoraciones separadas · sin red social unificada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Introducción — MovieMate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Introducción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8D0E0"/>
                </a:solidFill>
              </a:rPr>
              <a:t>Una plataforma unificada para gestión, valoración y descubrimiento audiovisual</a:t>
            </a:r>
          </a:p>
        </p:txBody>
      </p:sp>
      <p:pic>
        <p:nvPicPr>
          <p:cNvPr id="9" name="Picture 8" descr="mockup_deskto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680960" cy="368764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6760" y="1600200"/>
            <a:ext cx="365760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1600200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🎬 Películas + series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377440"/>
            <a:ext cx="365760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2377440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⭐ Valoraciones / reseñas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154680"/>
            <a:ext cx="365760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3154680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📋 Listas personalizadas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3931920"/>
            <a:ext cx="365760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3931920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👥 Red social + feed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4709160"/>
            <a:ext cx="365760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4709160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🔔 Tiempo real (WS)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5486400"/>
            <a:ext cx="365760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760" y="5486400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5596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🏆 Gamificación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Estado del arte —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Estado del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5</a:t>
            </a:r>
          </a:p>
        </p:txBody>
      </p:sp>
      <p:pic>
        <p:nvPicPr>
          <p:cNvPr id="8" name="Picture 7" descr="letterbox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1920240" cy="1668051"/>
          </a:xfrm>
          <a:prstGeom prst="rect">
            <a:avLst/>
          </a:prstGeom>
        </p:spPr>
      </p:pic>
      <p:pic>
        <p:nvPicPr>
          <p:cNvPr id="9" name="Picture 8" descr="imd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051560"/>
            <a:ext cx="1920240" cy="1430402"/>
          </a:xfrm>
          <a:prstGeom prst="rect">
            <a:avLst/>
          </a:prstGeom>
        </p:spPr>
      </p:pic>
      <p:pic>
        <p:nvPicPr>
          <p:cNvPr id="10" name="Picture 9" descr="serializd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051560"/>
            <a:ext cx="1920240" cy="16583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2560320"/>
            <a:ext cx="2798064" cy="42062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624327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21F"/>
                </a:solidFill>
              </a:rPr>
              <a:t>Característica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560320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262432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560320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262432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Letterboxd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560320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262432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Serializd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560320"/>
            <a:ext cx="1655064" cy="420624"/>
          </a:xfrm>
          <a:prstGeom prst="rect">
            <a:avLst/>
          </a:prstGeom>
          <a:solidFill>
            <a:srgbClr val="0E2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2624327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E76E"/>
                </a:solidFill>
              </a:rPr>
              <a:t>MovieMate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80944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305409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Películas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98094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10712" y="305409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98094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305409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98094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05409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980944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1312" y="305409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01568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34747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340156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10712" y="34747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40156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10912" y="34747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340156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34747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401568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2" y="347472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822191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389534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Valoraciones/reseñas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3822191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10712" y="38953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3822191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0912" y="38953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822191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38953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822191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11312" y="389534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242816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43159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Listas personalizadas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37560" y="424281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10712" y="43159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424281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10912" y="43159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424281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11112" y="43159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4242816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11312" y="431596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663440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" y="47365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7560" y="4663440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410712" y="47365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4663440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10912" y="47365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4663440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11112" y="47365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Básica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38160" y="4663440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11312" y="473659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5084064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76072" y="5157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Notificaciones RT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37560" y="5084064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410712" y="51572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0" y="5084064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10912" y="51572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5084064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11112" y="51572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084064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11312" y="515721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5504688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76072" y="55778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Gamificación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37560" y="55046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0712" y="55778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37760" y="55046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10912" y="55778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55046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611112" y="55778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5504688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11312" y="55778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5925312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76072" y="59984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Seg. de episodios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37560" y="59253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10712" y="59984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37760" y="59253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010912" y="59984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37960" y="59253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611112" y="59984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38160" y="5925312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211312" y="599846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Estado del arte — 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Estado del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61188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Back-end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" y="169164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Java 21 + Spring Boot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42316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Spring Security + 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15468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Spring Data JPA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88620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" y="461772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WebSockets (STOMP)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534924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OpenAPI / Swagger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1097280"/>
            <a:ext cx="3611880" cy="475488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Front-end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799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07992" y="169164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React 19 + TypeScript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0799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07992" y="242316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TanStack Query v5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07992" y="315468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344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Zustand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0799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07992" y="388620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Tailwind CSS 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0799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07992" y="461772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6344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Radix UI / shadcn/ui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07992" y="534924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344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React Router v6 + Axios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29600" y="1097280"/>
            <a:ext cx="3611880" cy="475488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Infraestructura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419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394192" y="169164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4964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TMDB API (metadatos)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9419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394192" y="242316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4964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Docker + Docker Compose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9419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94192" y="315468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4964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GitHub Actions CI/CD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9419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394192" y="388620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54964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Kubernetes / Minikube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9419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94192" y="461772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964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JUnit 5 + Mockito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9419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394192" y="534924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4964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JaCoCo (cobertura)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Objetivos y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Objetivos y metodología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0E0"/>
                </a:solidFill>
              </a:rPr>
              <a:t>Objetivo principal: diseño y desarrollo de una app web full-stack para gestión y valoración de contenido audiovisual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Subobjetivos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Analizar plataformas existentes y limitaciones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449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Seleccionar e integrar tecnologías modernas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2736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941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Diseñar arquitectura escalable y modular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Implementar prototipo funcional completo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01183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01183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99262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Desplegar en entorno contenerizado con CI/CD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50408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50408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6418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Validar mediante 340 tests automatizados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Metodología iterativa e incremental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304288"/>
            <a:ext cx="53035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230428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36829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Análisis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706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Requisitos y tecnologías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127248"/>
            <a:ext cx="53035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312724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4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1912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529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BD, API, mockups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950208"/>
            <a:ext cx="53035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395020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11480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0142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352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Back-end + Front-end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73168"/>
            <a:ext cx="53035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477316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93776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83717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1755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JUnit + CI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596128"/>
            <a:ext cx="530352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559612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576072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66013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Documentación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9984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Memoria y despliegue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Diseño —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0E0"/>
                </a:solidFill>
              </a:rPr>
              <a:t>Monolito modular · API RESTful · JWT stateless · Caché bajo demanda</a:t>
            </a:r>
          </a:p>
        </p:txBody>
      </p:sp>
      <p:pic>
        <p:nvPicPr>
          <p:cNvPr id="9" name="Picture 8" descr="arquitectur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11155680" cy="728031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44768"/>
            <a:ext cx="111556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1813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12 — Arquitectura de MovieMate: cliente React · servidor Spring Boot · PostgreSQL · TMDB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Diseño — 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0E0"/>
                </a:solidFill>
              </a:rPr>
              <a:t>8 entidades principales · relaciones complejas entre usuarios, contenido e interacciones sociales</a:t>
            </a:r>
          </a:p>
        </p:txBody>
      </p:sp>
      <p:pic>
        <p:nvPicPr>
          <p:cNvPr id="9" name="Picture 8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572768"/>
            <a:ext cx="8138160" cy="75077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44768"/>
            <a:ext cx="111556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1813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9 — Diagrama E-R de MovieMate: User · Content · Rating · CustomList · Follower · Notification · UserBadge · ContentReport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Implementación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1600200" cy="960120"/>
          </a:xfrm>
          <a:prstGeom prst="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HTTP
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4831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0008" y="1078992"/>
            <a:ext cx="1600200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117043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21F"/>
                </a:solidFill>
              </a:rPr>
              <a:t>JWT Filter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40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42816" y="1078992"/>
            <a:ext cx="1600200" cy="96012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34255" y="117043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5623" y="1078992"/>
            <a:ext cx="1600200" cy="9601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3" y="117043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63255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1078992"/>
            <a:ext cx="1600200" cy="960120"/>
          </a:xfrm>
          <a:prstGeom prst="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1" y="117043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56063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21240" y="1078992"/>
            <a:ext cx="1600200" cy="9601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117043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2128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</a:rPr>
              <a:t>Decisiones clave de implementación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277063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Controladores ligeros: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78892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Sin lógica de negocio; solo validación y delegación al servicio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47288"/>
            <a:ext cx="1106424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44728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5204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DTOs en todas las capas: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53872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Entidades JPA nunca expuestas directamente al cliente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1106424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19709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2702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Autenticación stateless: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28853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JWT firmado; sin sesiones en servidor; control por roles USER/ADMIN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46904"/>
            <a:ext cx="1106424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946904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02005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Lazy loading JPA: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03834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Carga diferida en relaciones; evita recuperaciones innecesarias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696712"/>
            <a:ext cx="1106424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5696712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7698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Caché bajo demanda TMDB: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78815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Sincronización solo cuando hay interacción real + TTL configurable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Implementación —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SPA modular (feature-based) · React 19 + TypeScript</a:t>
            </a:r>
          </a:p>
        </p:txBody>
      </p:sp>
      <p:pic>
        <p:nvPicPr>
          <p:cNvPr id="9" name="Picture 8" descr="home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577840" cy="27015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047488"/>
            <a:ext cx="55778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084064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21 — Página de inicio de MovieMate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72768"/>
            <a:ext cx="5303520" cy="16916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572768"/>
            <a:ext cx="5303520" cy="384048"/>
          </a:xfrm>
          <a:prstGeom prst="rect">
            <a:avLst/>
          </a:prstGeom>
          <a:solidFill>
            <a:srgbClr val="5A2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910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Zustand — Estado sincrónico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2996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· Usuario autenticado + JWT
· Reactivo y ligero (sin boilerplate)
· Persistido en localStorage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401568"/>
            <a:ext cx="5303520" cy="23317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401568"/>
            <a:ext cx="5303520" cy="384048"/>
          </a:xfrm>
          <a:prstGeom prst="rect">
            <a:avLst/>
          </a:prstGeom>
          <a:solidFill>
            <a:srgbClr val="0E6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4198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TanStack Query v5 — Estado asíncrono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· Caché por claves estructuradas
· Revalidación automática (stale/refetch)
· Mutaciones con invalidación selectiva
· Reduce peticiones redundantes al servidor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— Ficha de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La página más compleja de la aplicación</a:t>
            </a:r>
          </a:p>
        </p:txBody>
      </p:sp>
      <p:pic>
        <p:nvPicPr>
          <p:cNvPr id="9" name="Picture 8" descr="content_detai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040880" cy="338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035040"/>
            <a:ext cx="70408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— Ficha de detalle con valoración, reparto y tracking de episodios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572768"/>
            <a:ext cx="42519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57276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168249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Poster + Backdrop + Metadatos completos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322576"/>
            <a:ext cx="42519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232257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24323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Widget valoración ⭐×5 (crear y editar)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072384"/>
            <a:ext cx="42519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3072384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318211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Añadir a lista personalizada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3822191"/>
            <a:ext cx="42519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3822191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393192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Tracking de episodios (series)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572000"/>
            <a:ext cx="42519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457200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Valoraciones de la comunidad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5321807"/>
            <a:ext cx="42519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5321807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543153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Recomendaciones «Para Ti»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— Perfil y red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13</a:t>
            </a:r>
          </a:p>
        </p:txBody>
      </p:sp>
      <p:pic>
        <p:nvPicPr>
          <p:cNvPr id="8" name="Picture 7" descr="profile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5669280" cy="273143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559552"/>
            <a:ext cx="56692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596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Perfil: actividad · listas · estadísticas · insignias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Red 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5212080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554480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Seguir usuarios (solicitud si perfil privado)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157984"/>
            <a:ext cx="5212080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2157984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249424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Feed de actividad de seguidos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761488"/>
            <a:ext cx="5212080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2761488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852928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Likes y comentarios en valoraciones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64991"/>
            <a:ext cx="5212080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3364991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456432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Comentarios en listas públicas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968496"/>
            <a:ext cx="5212080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3968496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059936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Reporte de contenido inapropiado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Notificaciones en tiempo real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206240"/>
            <a:ext cx="5212080" cy="1828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2240" y="4206240"/>
            <a:ext cx="5212080" cy="365760"/>
          </a:xfrm>
          <a:prstGeom prst="rect">
            <a:avLst/>
          </a:prstGeom>
          <a:solidFill>
            <a:srgbClr val="1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2245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E7"/>
                </a:solidFill>
              </a:rPr>
              <a:t>WebSockets (STOMP + SockJS)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4515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· Notificación push sin polling
· Eventos: follow · like · comentario
· Badge en navbar actualizado al instante
· Gamificación: insignias automáticas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Interfaz — Sistema de diseño y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14</a:t>
            </a:r>
          </a:p>
        </p:txBody>
      </p:sp>
      <p:pic>
        <p:nvPicPr>
          <p:cNvPr id="8" name="Picture 7" descr="discover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6035040" cy="29127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440680"/>
            <a:ext cx="60350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477256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Página de descubrimiento — Desktop (sidebar fija + grid fluido)</a:t>
            </a:r>
          </a:p>
        </p:txBody>
      </p:sp>
      <p:pic>
        <p:nvPicPr>
          <p:cNvPr id="11" name="Picture 10" descr="responsive_ipa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97280"/>
            <a:ext cx="2468880" cy="35548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0" y="5440680"/>
            <a:ext cx="484632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54772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iPad Air + iPhone 12 Pro — bottom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0972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Sistema de diseño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536192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160020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Fondo: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1600200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#0D121F navy → charcoal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2185415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22494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Acento: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22494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#F5C518 dorado (UI interactiva)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834639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289864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Títulos: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28986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Playfair Display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3483863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0" y="354787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Cuerpo: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547872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DM Sans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4133087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4197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Componentes: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419709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Radix UI + shadcn/ui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4782312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484632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Accesibilidad: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846320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ARIA-compliant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Pruebas y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340 tests unitarios automatizados · JUnit 5 + Mockito · Cobertura JaCoCo</a:t>
            </a:r>
          </a:p>
        </p:txBody>
      </p:sp>
      <p:pic>
        <p:nvPicPr>
          <p:cNvPr id="9" name="Picture 8" descr="test_suit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4023360" cy="51045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577840"/>
            <a:ext cx="402336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6144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31 — Estructura de la suite de tests (6 carpetas por capa)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72768"/>
            <a:ext cx="2286000" cy="1508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C518"/>
                </a:solidFill>
              </a:rPr>
              <a:t>340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33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0E0"/>
                </a:solidFill>
              </a:rPr>
              <a:t>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572768"/>
            <a:ext cx="4754880" cy="1508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1572768"/>
            <a:ext cx="47548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910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6E"/>
                </a:solidFill>
              </a:rPr>
              <a:t>Patrón Arrange-Act-Assert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29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Arrange: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029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Preparar mocks y datos de 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682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3682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Ejecutar la operación del servicio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066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Assert: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06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Verificar resultado e interacciones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246120"/>
            <a:ext cx="7269480" cy="272491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3310128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Cobertura por capa: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703320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Validación HTTP y mapeo de DTOs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4142231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4187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8795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Lógica de negocio — capa más crítica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4581144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4626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Repositories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2686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Consultas JPA personalizadas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5020056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37760" y="50657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065775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JWT, filtros y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5458968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0" y="5504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5046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Flujos end-to-end del back-end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Despliegue — Docker +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Pipeline de integración y entrega continua automatizado</a:t>
            </a:r>
          </a:p>
        </p:txBody>
      </p:sp>
      <p:pic>
        <p:nvPicPr>
          <p:cNvPr id="9" name="Picture 8" descr="ci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11155680" cy="53369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526280"/>
            <a:ext cx="111556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5628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34 — Pipeline CI: tests · build JAR · build FE · verify Docker</a:t>
            </a:r>
          </a:p>
        </p:txBody>
      </p:sp>
      <p:pic>
        <p:nvPicPr>
          <p:cNvPr id="12" name="Picture 11" descr="cd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828032"/>
            <a:ext cx="11155680" cy="488356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6080760"/>
            <a:ext cx="111556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1173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35 — Pipeline CD: tests · build images → GHCR · deploy Kubernetes (Minikube)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C518"/>
                </a:solidFill>
              </a:rPr>
              <a:t>DEMO — MovieMate en funcionamiento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ome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657600" cy="17715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Inicio — tendencias + recomendaciones</a:t>
            </a:r>
          </a:p>
        </p:txBody>
      </p:sp>
      <p:pic>
        <p:nvPicPr>
          <p:cNvPr id="9" name="Picture 8" descr="discover_p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05840"/>
            <a:ext cx="3657600" cy="17653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9768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Descubrimiento — búsqueda global</a:t>
            </a:r>
          </a:p>
        </p:txBody>
      </p:sp>
      <p:pic>
        <p:nvPicPr>
          <p:cNvPr id="12" name="Picture 11" descr="content_detail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005840"/>
            <a:ext cx="3657600" cy="175911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3816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Ficha — valoración + tracking</a:t>
            </a:r>
          </a:p>
        </p:txBody>
      </p:sp>
      <p:pic>
        <p:nvPicPr>
          <p:cNvPr id="15" name="Picture 14" descr="profile_p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4760"/>
            <a:ext cx="3657600" cy="176221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Perfil — stats + insignias + listas</a:t>
            </a:r>
          </a:p>
        </p:txBody>
      </p:sp>
      <p:pic>
        <p:nvPicPr>
          <p:cNvPr id="18" name="Picture 17" descr="activity_p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794760"/>
            <a:ext cx="3657600" cy="17622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29768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6355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Actividad — feed social</a:t>
            </a:r>
          </a:p>
        </p:txBody>
      </p:sp>
      <p:pic>
        <p:nvPicPr>
          <p:cNvPr id="21" name="Picture 20" descr="admin_pan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794760"/>
            <a:ext cx="3657600" cy="17624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3816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6355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Administración — reportes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— Notificaciones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18</a:t>
            </a:r>
          </a:p>
        </p:txBody>
      </p:sp>
      <p:pic>
        <p:nvPicPr>
          <p:cNvPr id="8" name="Picture 7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7315200" cy="2403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2926080"/>
            <a:ext cx="73152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96265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8"/>
                </a:solidFill>
              </a:rPr>
              <a:t>Fig. 42 — Bandeja de notificaciones en tiempo real (WebSocket STOMP)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155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¿Cómo funciona?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00200"/>
            <a:ext cx="37947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719072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16642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El root layout establece la conexión WebSocket al autenticarse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14600"/>
            <a:ext cx="37947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633472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25786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El servidor detecta el evento (follow, like, comentario)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429000"/>
            <a:ext cx="37947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429000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3547872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34930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Envía un mensaje STOMP al canal del usuario destino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343400"/>
            <a:ext cx="37947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343400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4462272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1664" y="44074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El cliente recibe el push y actualiza el badge de la navbar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257800"/>
            <a:ext cx="37947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5257800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5376672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4" y="53218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Sin polling · respuesta inmediata · experiencia fluida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Todos los objetivos planteados han sido cumplidos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Plataforma funcional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Full-stack desplegable con todas las funcionalidades planificadas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04872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404872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46887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Arquitectura modular y escalable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96312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Monolito en capas; preparado para evolución a microservicios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9544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27355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Integración eficiente con TMDB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300984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Caché bajo demanda + TTL: mínima dependencia externa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14216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14216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Comunicación en tiempo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05656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WebSockets STOMP: notificaciones push sin polling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18888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818888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82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Calidad demostrada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91032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340 tests unitarios automatizados · cobertura JaCoCo · 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2356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62356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687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UI responsive y accesible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71500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Desktop + tablet + mobile · Radix UI ARIA-compliant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73152" cy="652881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MovieMate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8D0E0"/>
                </a:solidFill>
              </a:rPr>
              <a:t>App de gestión y valoración de películas y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566160"/>
            <a:ext cx="7616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Christian Matas Conesa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8AA8"/>
                </a:solidFill>
              </a:rPr>
              <a:t>Tutor: Francisco García Sánchez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8AA8"/>
                </a:solidFill>
              </a:rPr>
              <a:t>Grado en Ingeniería Informática  ·  Universidad de Murcia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1693</Words>
  <Application>Microsoft Office PowerPoint</Application>
  <PresentationFormat>Personalizado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MATAS CONESA</cp:lastModifiedBy>
  <cp:revision>2</cp:revision>
  <dcterms:created xsi:type="dcterms:W3CDTF">2013-01-27T09:14:16Z</dcterms:created>
  <dcterms:modified xsi:type="dcterms:W3CDTF">2026-06-04T15:20:32Z</dcterms:modified>
  <cp:category/>
</cp:coreProperties>
</file>